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8"/>
  </p:notesMasterIdLst>
  <p:sldIdLst>
    <p:sldId id="257" r:id="rId2"/>
    <p:sldId id="269" r:id="rId3"/>
    <p:sldId id="258" r:id="rId4"/>
    <p:sldId id="268" r:id="rId5"/>
    <p:sldId id="270" r:id="rId6"/>
    <p:sldId id="292" r:id="rId7"/>
    <p:sldId id="272" r:id="rId8"/>
    <p:sldId id="326" r:id="rId9"/>
    <p:sldId id="312" r:id="rId10"/>
    <p:sldId id="294" r:id="rId11"/>
    <p:sldId id="311" r:id="rId12"/>
    <p:sldId id="327" r:id="rId13"/>
    <p:sldId id="315" r:id="rId14"/>
    <p:sldId id="300" r:id="rId15"/>
    <p:sldId id="307" r:id="rId16"/>
    <p:sldId id="335" r:id="rId17"/>
    <p:sldId id="346" r:id="rId18"/>
    <p:sldId id="348" r:id="rId19"/>
    <p:sldId id="347" r:id="rId20"/>
    <p:sldId id="349" r:id="rId21"/>
    <p:sldId id="350" r:id="rId22"/>
    <p:sldId id="299" r:id="rId23"/>
    <p:sldId id="330" r:id="rId24"/>
    <p:sldId id="319" r:id="rId25"/>
    <p:sldId id="339" r:id="rId26"/>
    <p:sldId id="341" r:id="rId27"/>
    <p:sldId id="342" r:id="rId28"/>
    <p:sldId id="345" r:id="rId29"/>
    <p:sldId id="306" r:id="rId30"/>
    <p:sldId id="277" r:id="rId31"/>
    <p:sldId id="333" r:id="rId32"/>
    <p:sldId id="279" r:id="rId33"/>
    <p:sldId id="332" r:id="rId34"/>
    <p:sldId id="304" r:id="rId35"/>
    <p:sldId id="280" r:id="rId36"/>
    <p:sldId id="281" r:id="rId37"/>
    <p:sldId id="338" r:id="rId38"/>
    <p:sldId id="282" r:id="rId39"/>
    <p:sldId id="285" r:id="rId40"/>
    <p:sldId id="284" r:id="rId41"/>
    <p:sldId id="291" r:id="rId42"/>
    <p:sldId id="286" r:id="rId43"/>
    <p:sldId id="287" r:id="rId44"/>
    <p:sldId id="336" r:id="rId45"/>
    <p:sldId id="288" r:id="rId46"/>
    <p:sldId id="289" r:id="rId4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E590467-28C6-4E73-BC77-1FD2039BFBDE}">
          <p14:sldIdLst>
            <p14:sldId id="257"/>
            <p14:sldId id="269"/>
          </p14:sldIdLst>
        </p14:section>
        <p14:section name="Ⅰ프로젝트 개요" id="{136D0ACA-C966-4949-A1F1-12B441CAE616}">
          <p14:sldIdLst>
            <p14:sldId id="258"/>
            <p14:sldId id="268"/>
            <p14:sldId id="270"/>
            <p14:sldId id="292"/>
          </p14:sldIdLst>
        </p14:section>
        <p14:section name="Ⅱ 프로젝트 세부 내용" id="{EC809D96-6005-47FF-A3B4-252F98974242}">
          <p14:sldIdLst>
            <p14:sldId id="272"/>
            <p14:sldId id="326"/>
            <p14:sldId id="312"/>
            <p14:sldId id="294"/>
            <p14:sldId id="311"/>
            <p14:sldId id="327"/>
            <p14:sldId id="315"/>
            <p14:sldId id="300"/>
            <p14:sldId id="307"/>
            <p14:sldId id="335"/>
            <p14:sldId id="346"/>
            <p14:sldId id="348"/>
            <p14:sldId id="347"/>
            <p14:sldId id="349"/>
            <p14:sldId id="350"/>
            <p14:sldId id="299"/>
            <p14:sldId id="330"/>
            <p14:sldId id="319"/>
            <p14:sldId id="339"/>
            <p14:sldId id="341"/>
            <p14:sldId id="342"/>
            <p14:sldId id="345"/>
            <p14:sldId id="306"/>
          </p14:sldIdLst>
        </p14:section>
        <p14:section name="Ⅲ 웹 서비스 구현" id="{4C855248-8B62-44A2-A32B-E232B526CE51}">
          <p14:sldIdLst>
            <p14:sldId id="277"/>
            <p14:sldId id="333"/>
            <p14:sldId id="279"/>
            <p14:sldId id="332"/>
            <p14:sldId id="304"/>
            <p14:sldId id="280"/>
            <p14:sldId id="281"/>
            <p14:sldId id="338"/>
          </p14:sldIdLst>
        </p14:section>
        <p14:section name="Ⅳ.협업" id="{A02F598E-D913-437F-AEAE-300B7F24E5D2}">
          <p14:sldIdLst>
            <p14:sldId id="282"/>
            <p14:sldId id="285"/>
            <p14:sldId id="284"/>
            <p14:sldId id="291"/>
          </p14:sldIdLst>
        </p14:section>
        <p14:section name="Ⅴ 기대효과" id="{E750E274-42B5-4E4D-ACFE-1E5D93ED1AEC}">
          <p14:sldIdLst>
            <p14:sldId id="286"/>
            <p14:sldId id="287"/>
            <p14:sldId id="336"/>
            <p14:sldId id="288"/>
            <p14:sldId id="289"/>
          </p14:sldIdLst>
        </p14:section>
        <p14:section name="1차 제출용 PPT" id="{17EC4633-5A68-4170-AB91-6EE5D5A535B3}">
          <p14:sldIdLst/>
        </p14:section>
      </p14:sectionLst>
    </p:ext>
    <p:ext uri="{EFAFB233-063F-42B5-8137-9DF3F51BA10A}">
      <p15:sldGuideLst xmlns:p15="http://schemas.microsoft.com/office/powerpoint/2012/main">
        <p15:guide id="2" pos="3368" userDrawn="1">
          <p15:clr>
            <a:srgbClr val="A4A3A4"/>
          </p15:clr>
        </p15:guide>
        <p15:guide id="4" orient="horz" pos="2358" userDrawn="1">
          <p15:clr>
            <a:srgbClr val="A4A3A4"/>
          </p15:clr>
        </p15:guide>
        <p15:guide id="6" orient="horz" pos="975" userDrawn="1">
          <p15:clr>
            <a:srgbClr val="A4A3A4"/>
          </p15:clr>
        </p15:guide>
        <p15:guide id="7" pos="3209" userDrawn="1">
          <p15:clr>
            <a:srgbClr val="A4A3A4"/>
          </p15:clr>
        </p15:guide>
        <p15:guide id="8" pos="3526" userDrawn="1">
          <p15:clr>
            <a:srgbClr val="A4A3A4"/>
          </p15:clr>
        </p15:guide>
        <p15:guide id="10" orient="horz" pos="1633" userDrawn="1">
          <p15:clr>
            <a:srgbClr val="A4A3A4"/>
          </p15:clr>
        </p15:guide>
        <p15:guide id="11" orient="horz" pos="1496" userDrawn="1">
          <p15:clr>
            <a:srgbClr val="A4A3A4"/>
          </p15:clr>
        </p15:guide>
        <p15:guide id="12" orient="horz" pos="13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8F"/>
    <a:srgbClr val="F78535"/>
    <a:srgbClr val="2A2A2A"/>
    <a:srgbClr val="9A8B80"/>
    <a:srgbClr val="FAB586"/>
    <a:srgbClr val="3151F3"/>
    <a:srgbClr val="FCD2B6"/>
    <a:srgbClr val="97B9F1"/>
    <a:srgbClr val="FFFFFF"/>
    <a:srgbClr val="D4D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2" autoAdjust="0"/>
    <p:restoredTop sz="96279" autoAdjust="0"/>
  </p:normalViewPr>
  <p:slideViewPr>
    <p:cSldViewPr snapToGrid="0">
      <p:cViewPr varScale="1">
        <p:scale>
          <a:sx n="98" d="100"/>
          <a:sy n="98" d="100"/>
        </p:scale>
        <p:origin x="1446" y="90"/>
      </p:cViewPr>
      <p:guideLst>
        <p:guide pos="3368"/>
        <p:guide orient="horz" pos="2358"/>
        <p:guide orient="horz" pos="975"/>
        <p:guide pos="3209"/>
        <p:guide pos="3526"/>
        <p:guide orient="horz" pos="1633"/>
        <p:guide orient="horz" pos="1496"/>
        <p:guide orient="horz" pos="13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87397-3922-4BCA-B450-6701A06C703F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7253F-E4F0-4FE7-97C1-46EC2A7E1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91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7253F-E4F0-4FE7-97C1-46EC2A7E18C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6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01A1-AE89-8120-13AD-8B6E560CB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DF19D-9360-9D12-21ED-7F5A1235A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E581FE-10DB-8439-4226-C94F6881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5880EC-432B-1574-1731-1792A9344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7253F-E4F0-4FE7-97C1-46EC2A7E18C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20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7253F-E4F0-4FE7-97C1-46EC2A7E18C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948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D787-5301-9929-0C64-AEB702EB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9EC914-1929-6147-86CA-612047F01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ABD8F-037C-0EF1-228F-BD6EA6EC2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A2A222-7176-FC09-ACA5-9FFC9887C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7253F-E4F0-4FE7-97C1-46EC2A7E18C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04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8" y="1237201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4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05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47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46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4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95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8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8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3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3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6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87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33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7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9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7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08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7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9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7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5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5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31" y="402487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5" y="402487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6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4" y="7006704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8B20E-7489-41F6-B3EF-D69EA7A7F97B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4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4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008CB-AF0F-479C-8552-D3F1BAD5617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4A011C-F702-442E-DC70-75B01EDCC234}"/>
              </a:ext>
            </a:extLst>
          </p:cNvPr>
          <p:cNvSpPr/>
          <p:nvPr userDrawn="1"/>
        </p:nvSpPr>
        <p:spPr>
          <a:xfrm>
            <a:off x="-1398778" y="91935"/>
            <a:ext cx="1082675" cy="108267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  <a:ea typeface="+mj-ea"/>
              </a:rPr>
              <a:t>&lt;</a:t>
            </a:r>
            <a:r>
              <a:rPr lang="ko-KR" altLang="en-US" sz="1400">
                <a:latin typeface="+mj-ea"/>
                <a:ea typeface="+mj-ea"/>
              </a:rPr>
              <a:t>글자</a:t>
            </a:r>
            <a:r>
              <a:rPr lang="en-US" altLang="ko-KR" sz="1400">
                <a:latin typeface="+mj-ea"/>
                <a:ea typeface="+mj-ea"/>
              </a:rPr>
              <a:t>`</a:t>
            </a:r>
            <a:r>
              <a:rPr lang="ko-KR" altLang="en-US" sz="1400">
                <a:latin typeface="+mj-ea"/>
                <a:ea typeface="+mj-ea"/>
              </a:rPr>
              <a:t>색</a:t>
            </a:r>
            <a:r>
              <a:rPr lang="en-US" altLang="ko-KR" sz="1400">
                <a:latin typeface="+mj-ea"/>
                <a:ea typeface="+mj-ea"/>
              </a:rPr>
              <a:t>&gt;</a:t>
            </a:r>
          </a:p>
          <a:p>
            <a:pPr algn="ctr"/>
            <a:r>
              <a:rPr lang="en-US" altLang="ko-KR" sz="1400">
                <a:latin typeface="+mj-ea"/>
                <a:ea typeface="+mj-ea"/>
              </a:rPr>
              <a:t># 2A2A2A</a:t>
            </a:r>
            <a:endParaRPr lang="ko-KR" altLang="en-US" sz="1400">
              <a:latin typeface="+mj-ea"/>
              <a:ea typeface="+mj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D5A15D-1482-E51F-0841-5A336D8BBBC3}"/>
              </a:ext>
            </a:extLst>
          </p:cNvPr>
          <p:cNvSpPr/>
          <p:nvPr userDrawn="1"/>
        </p:nvSpPr>
        <p:spPr>
          <a:xfrm>
            <a:off x="-1398778" y="1500044"/>
            <a:ext cx="1082675" cy="1082675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  <a:ea typeface="+mj-ea"/>
              </a:rPr>
              <a:t>&lt;</a:t>
            </a:r>
            <a:r>
              <a:rPr lang="ko-KR" altLang="en-US" sz="1400" err="1">
                <a:latin typeface="+mj-ea"/>
                <a:ea typeface="+mj-ea"/>
              </a:rPr>
              <a:t>강조색</a:t>
            </a:r>
            <a:r>
              <a:rPr lang="en-US" altLang="ko-KR" sz="1400">
                <a:latin typeface="+mj-ea"/>
                <a:ea typeface="+mj-ea"/>
              </a:rPr>
              <a:t>1&gt;</a:t>
            </a:r>
          </a:p>
          <a:p>
            <a:pPr algn="ctr"/>
            <a:r>
              <a:rPr lang="en-US" altLang="ko-KR" sz="1400">
                <a:latin typeface="+mj-ea"/>
                <a:ea typeface="+mj-ea"/>
              </a:rPr>
              <a:t>#F78535</a:t>
            </a:r>
            <a:endParaRPr lang="ko-KR" altLang="en-US" sz="140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7F10CE-6663-9184-7F92-C64A2606802A}"/>
              </a:ext>
            </a:extLst>
          </p:cNvPr>
          <p:cNvSpPr/>
          <p:nvPr userDrawn="1"/>
        </p:nvSpPr>
        <p:spPr>
          <a:xfrm>
            <a:off x="-1398778" y="2908159"/>
            <a:ext cx="1082675" cy="1082675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</a:rPr>
              <a:t>&lt;</a:t>
            </a:r>
            <a:r>
              <a:rPr lang="ko-KR" altLang="en-US" sz="1400" err="1">
                <a:latin typeface="+mj-ea"/>
              </a:rPr>
              <a:t>강조색</a:t>
            </a:r>
            <a:r>
              <a:rPr lang="en-US" altLang="ko-KR" sz="1400">
                <a:latin typeface="+mj-ea"/>
              </a:rPr>
              <a:t>2&gt;</a:t>
            </a:r>
          </a:p>
          <a:p>
            <a:pPr algn="ctr"/>
            <a:r>
              <a:rPr lang="en-US" altLang="ko-KR" sz="1400">
                <a:latin typeface="+mj-ea"/>
              </a:rPr>
              <a:t>#9A8B80</a:t>
            </a:r>
            <a:endParaRPr lang="ko-KR" altLang="en-US" sz="1400">
              <a:latin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DAD72D-976F-9C47-D754-1B8E39B17C80}"/>
              </a:ext>
            </a:extLst>
          </p:cNvPr>
          <p:cNvSpPr/>
          <p:nvPr userDrawn="1"/>
        </p:nvSpPr>
        <p:spPr>
          <a:xfrm>
            <a:off x="-1398778" y="4316271"/>
            <a:ext cx="1082675" cy="1082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+mj-ea"/>
                <a:ea typeface="+mj-ea"/>
              </a:rPr>
              <a:t>배경색</a:t>
            </a:r>
            <a:endParaRPr lang="en-US" altLang="ko-KR" sz="140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  <a:latin typeface="+mj-ea"/>
                <a:ea typeface="+mj-ea"/>
              </a:rPr>
              <a:t>#FFFFFF</a:t>
            </a:r>
            <a:endParaRPr lang="ko-KR" altLang="en-US" sz="140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656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jpe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4B21B59-58CB-E6BC-4920-9A68550A9C88}"/>
              </a:ext>
            </a:extLst>
          </p:cNvPr>
          <p:cNvSpPr/>
          <p:nvPr/>
        </p:nvSpPr>
        <p:spPr>
          <a:xfrm>
            <a:off x="-1398780" y="91931"/>
            <a:ext cx="1082675" cy="1082675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  <a:ea typeface="+mj-ea"/>
              </a:rPr>
              <a:t>&lt;</a:t>
            </a:r>
            <a:r>
              <a:rPr lang="ko-KR" altLang="en-US" sz="1400" err="1">
                <a:latin typeface="+mj-ea"/>
                <a:ea typeface="+mj-ea"/>
              </a:rPr>
              <a:t>글자색</a:t>
            </a:r>
            <a:r>
              <a:rPr lang="en-US" altLang="ko-KR" sz="1400">
                <a:latin typeface="+mj-ea"/>
                <a:ea typeface="+mj-ea"/>
              </a:rPr>
              <a:t>&gt;</a:t>
            </a:r>
          </a:p>
          <a:p>
            <a:pPr algn="ctr"/>
            <a:r>
              <a:rPr lang="en-US" altLang="ko-KR" sz="1400">
                <a:latin typeface="+mj-ea"/>
                <a:ea typeface="+mj-ea"/>
              </a:rPr>
              <a:t># 2A2A2A</a:t>
            </a:r>
            <a:endParaRPr lang="ko-KR" altLang="en-US" sz="1400">
              <a:latin typeface="+mj-ea"/>
              <a:ea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B0737A-9AB1-A256-0018-C30AA65B67E7}"/>
              </a:ext>
            </a:extLst>
          </p:cNvPr>
          <p:cNvSpPr/>
          <p:nvPr/>
        </p:nvSpPr>
        <p:spPr>
          <a:xfrm>
            <a:off x="-1398780" y="1500043"/>
            <a:ext cx="1082675" cy="1082675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  <a:ea typeface="+mj-ea"/>
              </a:rPr>
              <a:t>&lt;</a:t>
            </a:r>
            <a:r>
              <a:rPr lang="ko-KR" altLang="en-US" sz="1400" err="1">
                <a:latin typeface="+mj-ea"/>
                <a:ea typeface="+mj-ea"/>
              </a:rPr>
              <a:t>강조색</a:t>
            </a:r>
            <a:r>
              <a:rPr lang="en-US" altLang="ko-KR" sz="1400">
                <a:latin typeface="+mj-ea"/>
                <a:ea typeface="+mj-ea"/>
              </a:rPr>
              <a:t>1&gt;</a:t>
            </a:r>
          </a:p>
          <a:p>
            <a:pPr algn="ctr"/>
            <a:r>
              <a:rPr lang="en-US" altLang="ko-KR" sz="1400">
                <a:latin typeface="+mj-ea"/>
                <a:ea typeface="+mj-ea"/>
              </a:rPr>
              <a:t>#F78535</a:t>
            </a:r>
            <a:endParaRPr lang="ko-KR" altLang="en-US" sz="140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B07898-11BD-6925-B2BE-E68F46E0D90A}"/>
              </a:ext>
            </a:extLst>
          </p:cNvPr>
          <p:cNvSpPr/>
          <p:nvPr/>
        </p:nvSpPr>
        <p:spPr>
          <a:xfrm>
            <a:off x="-1398780" y="2908155"/>
            <a:ext cx="1082675" cy="1082675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+mj-ea"/>
              </a:rPr>
              <a:t>&lt;</a:t>
            </a:r>
            <a:r>
              <a:rPr lang="ko-KR" altLang="en-US" sz="1400" err="1">
                <a:latin typeface="+mj-ea"/>
              </a:rPr>
              <a:t>강조색</a:t>
            </a:r>
            <a:r>
              <a:rPr lang="en-US" altLang="ko-KR" sz="1400">
                <a:latin typeface="+mj-ea"/>
              </a:rPr>
              <a:t>2&gt;</a:t>
            </a:r>
          </a:p>
          <a:p>
            <a:pPr algn="ctr"/>
            <a:r>
              <a:rPr lang="en-US" altLang="ko-KR" sz="1400">
                <a:latin typeface="+mj-ea"/>
              </a:rPr>
              <a:t>#9A8B80</a:t>
            </a:r>
            <a:endParaRPr lang="ko-KR" altLang="en-US" sz="1400">
              <a:latin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AFB9E1-4560-1565-8EE3-26A93A325EA1}"/>
              </a:ext>
            </a:extLst>
          </p:cNvPr>
          <p:cNvSpPr/>
          <p:nvPr/>
        </p:nvSpPr>
        <p:spPr>
          <a:xfrm>
            <a:off x="-1398780" y="4316267"/>
            <a:ext cx="1082675" cy="1082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ko-KR" altLang="en-US" sz="1400">
                <a:solidFill>
                  <a:schemeClr val="tx1"/>
                </a:solidFill>
                <a:latin typeface="+mj-ea"/>
                <a:ea typeface="+mj-ea"/>
              </a:rPr>
              <a:t>배경색</a:t>
            </a:r>
            <a:endParaRPr lang="en-US" altLang="ko-KR" sz="140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400">
                <a:solidFill>
                  <a:schemeClr val="tx1"/>
                </a:solidFill>
                <a:latin typeface="+mj-ea"/>
                <a:ea typeface="+mj-ea"/>
              </a:rPr>
              <a:t>#FFFFFF</a:t>
            </a:r>
            <a:endParaRPr lang="ko-KR" altLang="en-US" sz="140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1576FC3-ED25-2405-71D8-CC81CD6CDA4C}"/>
              </a:ext>
            </a:extLst>
          </p:cNvPr>
          <p:cNvGrpSpPr/>
          <p:nvPr/>
        </p:nvGrpSpPr>
        <p:grpSpPr>
          <a:xfrm>
            <a:off x="5564838" y="0"/>
            <a:ext cx="6903748" cy="6903748"/>
            <a:chOff x="5564838" y="0"/>
            <a:chExt cx="6903748" cy="690374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A3477D9-85AA-8EBE-159D-42D2CAF52B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94" t="2154" r="16387" b="8757"/>
            <a:stretch>
              <a:fillRect/>
            </a:stretch>
          </p:blipFill>
          <p:spPr bwMode="auto">
            <a:xfrm>
              <a:off x="6241473" y="676635"/>
              <a:ext cx="5550478" cy="5550478"/>
            </a:xfrm>
            <a:custGeom>
              <a:avLst/>
              <a:gdLst>
                <a:gd name="connsiteX0" fmla="*/ 2775238 w 5550478"/>
                <a:gd name="connsiteY0" fmla="*/ 0 h 5550478"/>
                <a:gd name="connsiteX1" fmla="*/ 5550478 w 5550478"/>
                <a:gd name="connsiteY1" fmla="*/ 2775239 h 5550478"/>
                <a:gd name="connsiteX2" fmla="*/ 2775238 w 5550478"/>
                <a:gd name="connsiteY2" fmla="*/ 5550478 h 5550478"/>
                <a:gd name="connsiteX3" fmla="*/ 0 w 5550478"/>
                <a:gd name="connsiteY3" fmla="*/ 2775239 h 5550478"/>
                <a:gd name="connsiteX4" fmla="*/ 2775238 w 5550478"/>
                <a:gd name="connsiteY4" fmla="*/ 0 h 555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0478" h="5550478">
                  <a:moveTo>
                    <a:pt x="2775238" y="0"/>
                  </a:moveTo>
                  <a:cubicBezTo>
                    <a:pt x="4307962" y="0"/>
                    <a:pt x="5550478" y="1242517"/>
                    <a:pt x="5550478" y="2775239"/>
                  </a:cubicBezTo>
                  <a:cubicBezTo>
                    <a:pt x="5550478" y="4307961"/>
                    <a:pt x="4307962" y="5550478"/>
                    <a:pt x="2775238" y="5550478"/>
                  </a:cubicBezTo>
                  <a:cubicBezTo>
                    <a:pt x="1242518" y="5550478"/>
                    <a:pt x="0" y="4307961"/>
                    <a:pt x="0" y="2775239"/>
                  </a:cubicBezTo>
                  <a:cubicBezTo>
                    <a:pt x="0" y="1242517"/>
                    <a:pt x="1242518" y="0"/>
                    <a:pt x="27752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8C1C12AC-A208-6BC4-5CE9-50F04B42A359}"/>
                </a:ext>
              </a:extLst>
            </p:cNvPr>
            <p:cNvSpPr/>
            <p:nvPr/>
          </p:nvSpPr>
          <p:spPr>
            <a:xfrm>
              <a:off x="6241473" y="676635"/>
              <a:ext cx="5550478" cy="5550478"/>
            </a:xfrm>
            <a:prstGeom prst="ellipse">
              <a:avLst/>
            </a:prstGeom>
            <a:noFill/>
            <a:ln w="355600"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막힌 원호 7">
              <a:extLst>
                <a:ext uri="{FF2B5EF4-FFF2-40B4-BE49-F238E27FC236}">
                  <a16:creationId xmlns:a16="http://schemas.microsoft.com/office/drawing/2014/main" id="{B544AAAE-875A-2B98-AD94-36D5499BAA31}"/>
                </a:ext>
              </a:extLst>
            </p:cNvPr>
            <p:cNvSpPr/>
            <p:nvPr/>
          </p:nvSpPr>
          <p:spPr>
            <a:xfrm rot="17100000">
              <a:off x="5564838" y="0"/>
              <a:ext cx="6903748" cy="6903748"/>
            </a:xfrm>
            <a:prstGeom prst="blockArc">
              <a:avLst>
                <a:gd name="adj1" fmla="val 12844197"/>
                <a:gd name="adj2" fmla="val 11965390"/>
                <a:gd name="adj3" fmla="val 1432"/>
              </a:avLst>
            </a:prstGeom>
            <a:solidFill>
              <a:srgbClr val="F78535"/>
            </a:solidFill>
            <a:ln w="355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D73448-209D-CB10-F6A8-37E305B61B5A}"/>
              </a:ext>
            </a:extLst>
          </p:cNvPr>
          <p:cNvSpPr/>
          <p:nvPr/>
        </p:nvSpPr>
        <p:spPr>
          <a:xfrm rot="2455148">
            <a:off x="5743414" y="5102265"/>
            <a:ext cx="419100" cy="3561557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E4773-CE9D-0AC3-E63F-88F314105D1E}"/>
              </a:ext>
            </a:extLst>
          </p:cNvPr>
          <p:cNvSpPr txBox="1"/>
          <p:nvPr/>
        </p:nvSpPr>
        <p:spPr>
          <a:xfrm>
            <a:off x="497762" y="2285668"/>
            <a:ext cx="6008641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000">
                <a:solidFill>
                  <a:srgbClr val="2A2A2A"/>
                </a:solidFill>
                <a:latin typeface="페이퍼로지 9 Black" pitchFamily="2" charset="-127"/>
                <a:ea typeface="페이퍼로지 9 Black" pitchFamily="2" charset="-127"/>
              </a:rPr>
              <a:t>Deep - Dish</a:t>
            </a:r>
            <a:endParaRPr lang="en-US" altLang="ko-KR" sz="3200">
              <a:solidFill>
                <a:srgbClr val="2A2A2A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54610-E82A-6EEF-49AF-5EE9856A2645}"/>
              </a:ext>
            </a:extLst>
          </p:cNvPr>
          <p:cNvSpPr txBox="1"/>
          <p:nvPr/>
        </p:nvSpPr>
        <p:spPr>
          <a:xfrm>
            <a:off x="497762" y="3430401"/>
            <a:ext cx="532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2A2A2A"/>
                </a:solidFill>
                <a:latin typeface="페이퍼로지 9 Black" pitchFamily="2" charset="-127"/>
                <a:ea typeface="페이퍼로지 9 Black" pitchFamily="2" charset="-127"/>
              </a:rPr>
              <a:t>음식 이미지 이용</a:t>
            </a:r>
            <a:endParaRPr lang="en-US" altLang="ko-KR" sz="2800" dirty="0">
              <a:solidFill>
                <a:srgbClr val="2A2A2A"/>
              </a:solidFill>
              <a:latin typeface="페이퍼로지 9 Black" pitchFamily="2" charset="-127"/>
              <a:ea typeface="페이퍼로지 9 Black" pitchFamily="2" charset="-127"/>
            </a:endParaRPr>
          </a:p>
          <a:p>
            <a:r>
              <a:rPr lang="ko-KR" altLang="en-US" sz="2800" dirty="0">
                <a:solidFill>
                  <a:srgbClr val="2A2A2A"/>
                </a:solidFill>
                <a:latin typeface="페이퍼로지 9 Black" pitchFamily="2" charset="-127"/>
                <a:ea typeface="페이퍼로지 9 Black" pitchFamily="2" charset="-127"/>
              </a:rPr>
              <a:t>음식</a:t>
            </a:r>
            <a:r>
              <a:rPr lang="en-US" altLang="ko-KR" sz="2800" dirty="0">
                <a:solidFill>
                  <a:srgbClr val="2A2A2A"/>
                </a:solidFill>
                <a:latin typeface="페이퍼로지 9 Black" pitchFamily="2" charset="-127"/>
                <a:ea typeface="페이퍼로지 9 Black" pitchFamily="2" charset="-127"/>
              </a:rPr>
              <a:t>,</a:t>
            </a:r>
            <a:r>
              <a:rPr lang="ko-KR" altLang="en-US" sz="2800" dirty="0">
                <a:solidFill>
                  <a:srgbClr val="2A2A2A"/>
                </a:solidFill>
                <a:latin typeface="페이퍼로지 9 Black" pitchFamily="2" charset="-127"/>
                <a:ea typeface="페이퍼로지 9 Black" pitchFamily="2" charset="-127"/>
              </a:rPr>
              <a:t>식재료 추세 확인  시스템 구축</a:t>
            </a:r>
            <a:endParaRPr lang="en-US" altLang="ko-KR" sz="2800" dirty="0">
              <a:solidFill>
                <a:srgbClr val="2A2A2A"/>
              </a:solidFill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735A55-6724-3A26-764E-7079B4153DCE}"/>
              </a:ext>
            </a:extLst>
          </p:cNvPr>
          <p:cNvSpPr/>
          <p:nvPr/>
        </p:nvSpPr>
        <p:spPr>
          <a:xfrm>
            <a:off x="497762" y="1601380"/>
            <a:ext cx="4020454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9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기업맞춤형 </a:t>
            </a:r>
            <a:r>
              <a:rPr lang="en-US" altLang="ko-KR" sz="19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AI-X </a:t>
            </a:r>
            <a:r>
              <a:rPr lang="ko-KR" altLang="en-US" sz="19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융복합 인재 양성 교육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E9C917-9529-0203-A13D-23415B14FCC6}"/>
              </a:ext>
            </a:extLst>
          </p:cNvPr>
          <p:cNvSpPr/>
          <p:nvPr/>
        </p:nvSpPr>
        <p:spPr>
          <a:xfrm>
            <a:off x="497762" y="1903250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B2B </a:t>
            </a:r>
            <a:r>
              <a:rPr lang="ko-KR" altLang="en-US" sz="14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고객 제품 수요량 예측 기반 재고 최적화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F8CEF7-A819-5A7E-369B-66DE9A0801A9}"/>
              </a:ext>
            </a:extLst>
          </p:cNvPr>
          <p:cNvSpPr/>
          <p:nvPr/>
        </p:nvSpPr>
        <p:spPr>
          <a:xfrm>
            <a:off x="497762" y="4509923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(5</a:t>
            </a:r>
            <a:r>
              <a:rPr lang="ko-KR" altLang="en-US" sz="20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조</a:t>
            </a:r>
            <a:r>
              <a:rPr lang="en-US" altLang="ko-KR" sz="20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200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최장호 </a:t>
            </a:r>
            <a:r>
              <a:rPr lang="en-US" altLang="ko-KR" sz="20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20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박광수 </a:t>
            </a:r>
            <a:r>
              <a:rPr lang="en-US" altLang="ko-KR" sz="20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sz="20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유성미</a:t>
            </a:r>
          </a:p>
        </p:txBody>
      </p:sp>
    </p:spTree>
    <p:extLst>
      <p:ext uri="{BB962C8B-B14F-4D97-AF65-F5344CB8AC3E}">
        <p14:creationId xmlns:p14="http://schemas.microsoft.com/office/powerpoint/2010/main" val="72126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FD48AE7-4B59-C644-08D6-3727057E9A40}"/>
              </a:ext>
            </a:extLst>
          </p:cNvPr>
          <p:cNvSpPr/>
          <p:nvPr/>
        </p:nvSpPr>
        <p:spPr>
          <a:xfrm>
            <a:off x="-794" y="-1"/>
            <a:ext cx="10691813" cy="7559675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A628F9B-707B-A827-060F-E28C12D80DD7}"/>
              </a:ext>
            </a:extLst>
          </p:cNvPr>
          <p:cNvGrpSpPr/>
          <p:nvPr/>
        </p:nvGrpSpPr>
        <p:grpSpPr>
          <a:xfrm>
            <a:off x="5953125" y="2739743"/>
            <a:ext cx="3203575" cy="2912762"/>
            <a:chOff x="5597525" y="1876143"/>
            <a:chExt cx="3203575" cy="291276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DEAA00C-7A88-98A3-499F-606301F53DE0}"/>
                </a:ext>
              </a:extLst>
            </p:cNvPr>
            <p:cNvSpPr/>
            <p:nvPr/>
          </p:nvSpPr>
          <p:spPr>
            <a:xfrm>
              <a:off x="5597526" y="1876143"/>
              <a:ext cx="3203574" cy="5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err="1">
                  <a:latin typeface="페이퍼로지 6 SemiBold" pitchFamily="2" charset="-127"/>
                  <a:ea typeface="페이퍼로지 6 SemiBold" pitchFamily="2" charset="-127"/>
                </a:rPr>
                <a:t>Ⅰ</a:t>
              </a:r>
              <a:r>
                <a:rPr lang="ko-KR" altLang="en-US" sz="2000"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en-US" altLang="ko-KR" sz="2000">
                  <a:latin typeface="페이퍼로지 6 SemiBold" pitchFamily="2" charset="-127"/>
                  <a:ea typeface="페이퍼로지 6 SemiBold" pitchFamily="2" charset="-127"/>
                </a:rPr>
                <a:t>. </a:t>
              </a:r>
              <a:r>
                <a:rPr lang="ko-KR" altLang="en-US" sz="2000">
                  <a:latin typeface="페이퍼로지 6 SemiBold" pitchFamily="2" charset="-127"/>
                  <a:ea typeface="페이퍼로지 6 SemiBold" pitchFamily="2" charset="-127"/>
                </a:rPr>
                <a:t>프로젝트 개요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A69785B-E317-0576-DCCD-A72B1AF73C1D}"/>
                </a:ext>
              </a:extLst>
            </p:cNvPr>
            <p:cNvSpPr/>
            <p:nvPr/>
          </p:nvSpPr>
          <p:spPr>
            <a:xfrm>
              <a:off x="5597525" y="2466221"/>
              <a:ext cx="3203575" cy="5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>
                  <a:latin typeface="페이퍼로지 6 SemiBold" pitchFamily="2" charset="-127"/>
                  <a:ea typeface="페이퍼로지 6 SemiBold" pitchFamily="2" charset="-127"/>
                </a:rPr>
                <a:t>Ⅱ</a:t>
              </a:r>
              <a:r>
                <a:rPr lang="ko-KR" altLang="en-US" sz="2000">
                  <a:latin typeface="페이퍼로지 6 SemiBold" pitchFamily="2" charset="-127"/>
                  <a:ea typeface="페이퍼로지 6 SemiBold" pitchFamily="2" charset="-127"/>
                </a:rPr>
                <a:t> . 프로젝트 세부 내용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AFF64A0-F573-E7CA-A2F7-EFF068AADA23}"/>
                </a:ext>
              </a:extLst>
            </p:cNvPr>
            <p:cNvSpPr/>
            <p:nvPr/>
          </p:nvSpPr>
          <p:spPr>
            <a:xfrm>
              <a:off x="5597525" y="3056299"/>
              <a:ext cx="3203575" cy="5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dirty="0">
                  <a:latin typeface="페이퍼로지 6 SemiBold" pitchFamily="2" charset="-127"/>
                  <a:ea typeface="페이퍼로지 6 SemiBold" pitchFamily="2" charset="-127"/>
                </a:rPr>
                <a:t>Ⅲ. </a:t>
              </a:r>
              <a:r>
                <a:rPr lang="ko-KR" altLang="en-US" sz="2000" dirty="0">
                  <a:latin typeface="페이퍼로지 6 SemiBold" pitchFamily="2" charset="-127"/>
                  <a:ea typeface="페이퍼로지 6 SemiBold" pitchFamily="2" charset="-127"/>
                </a:rPr>
                <a:t>웹 서비스 구현 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C8D336A-4B14-A190-EA49-99CD20E4F3E2}"/>
                </a:ext>
              </a:extLst>
            </p:cNvPr>
            <p:cNvSpPr/>
            <p:nvPr/>
          </p:nvSpPr>
          <p:spPr>
            <a:xfrm>
              <a:off x="5597525" y="3646377"/>
              <a:ext cx="3203575" cy="5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>
                  <a:latin typeface="페이퍼로지 6 SemiBold" pitchFamily="2" charset="-127"/>
                  <a:ea typeface="페이퍼로지 6 SemiBold" pitchFamily="2" charset="-127"/>
                </a:rPr>
                <a:t>Ⅳ. </a:t>
              </a:r>
              <a:r>
                <a:rPr lang="ko-KR" altLang="en-US" sz="2000">
                  <a:latin typeface="페이퍼로지 6 SemiBold" pitchFamily="2" charset="-127"/>
                  <a:ea typeface="페이퍼로지 6 SemiBold" pitchFamily="2" charset="-127"/>
                </a:rPr>
                <a:t>개발 환경 및 협업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2A39BD2-1D1D-9A46-1EF2-4C8818C01A16}"/>
                </a:ext>
              </a:extLst>
            </p:cNvPr>
            <p:cNvSpPr/>
            <p:nvPr/>
          </p:nvSpPr>
          <p:spPr>
            <a:xfrm>
              <a:off x="5597525" y="4236455"/>
              <a:ext cx="3203575" cy="5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>
                  <a:latin typeface="페이퍼로지 6 SemiBold" pitchFamily="2" charset="-127"/>
                  <a:ea typeface="페이퍼로지 6 SemiBold" pitchFamily="2" charset="-127"/>
                </a:rPr>
                <a:t>Ⅴ . </a:t>
              </a:r>
              <a:r>
                <a:rPr lang="ko-KR" altLang="en-US" sz="2000">
                  <a:latin typeface="페이퍼로지 6 SemiBold" pitchFamily="2" charset="-127"/>
                  <a:ea typeface="페이퍼로지 6 SemiBold" pitchFamily="2" charset="-127"/>
                </a:rPr>
                <a:t>기대효과 </a:t>
              </a:r>
            </a:p>
          </p:txBody>
        </p:sp>
      </p:grp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C53C79F-EB7A-65CA-42EF-2CB0EB9FE6FC}"/>
              </a:ext>
            </a:extLst>
          </p:cNvPr>
          <p:cNvCxnSpPr>
            <a:cxnSpLocks/>
          </p:cNvCxnSpPr>
          <p:nvPr/>
        </p:nvCxnSpPr>
        <p:spPr>
          <a:xfrm>
            <a:off x="5346700" y="2739743"/>
            <a:ext cx="60325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4A4D1BA-B82B-4DA2-6A85-0D0DA3BD170E}"/>
              </a:ext>
            </a:extLst>
          </p:cNvPr>
          <p:cNvCxnSpPr>
            <a:cxnSpLocks/>
          </p:cNvCxnSpPr>
          <p:nvPr/>
        </p:nvCxnSpPr>
        <p:spPr>
          <a:xfrm>
            <a:off x="5641975" y="2411413"/>
            <a:ext cx="0" cy="60455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33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그림 1095" descr="K드라마·영화 인기로 한식 대표 된 'Gukbap' | 창업 플랫폼 마이프차">
            <a:extLst>
              <a:ext uri="{FF2B5EF4-FFF2-40B4-BE49-F238E27FC236}">
                <a16:creationId xmlns:a16="http://schemas.microsoft.com/office/drawing/2014/main" id="{EFAD2725-E4D8-C896-26A8-EA1AB60A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8" r="30128" b="87"/>
          <a:stretch>
            <a:fillRect/>
          </a:stretch>
        </p:blipFill>
        <p:spPr bwMode="auto">
          <a:xfrm>
            <a:off x="5974448" y="0"/>
            <a:ext cx="5346699" cy="7559674"/>
          </a:xfrm>
          <a:custGeom>
            <a:avLst/>
            <a:gdLst>
              <a:gd name="connsiteX0" fmla="*/ 0 w 5346699"/>
              <a:gd name="connsiteY0" fmla="*/ 0 h 7559674"/>
              <a:gd name="connsiteX1" fmla="*/ 4726994 w 5346699"/>
              <a:gd name="connsiteY1" fmla="*/ 0 h 7559674"/>
              <a:gd name="connsiteX2" fmla="*/ 4726994 w 5346699"/>
              <a:gd name="connsiteY2" fmla="*/ 7559673 h 7559674"/>
              <a:gd name="connsiteX3" fmla="*/ 5346699 w 5346699"/>
              <a:gd name="connsiteY3" fmla="*/ 7559673 h 7559674"/>
              <a:gd name="connsiteX4" fmla="*/ 5346699 w 5346699"/>
              <a:gd name="connsiteY4" fmla="*/ 7559674 h 7559674"/>
              <a:gd name="connsiteX5" fmla="*/ 0 w 5346699"/>
              <a:gd name="connsiteY5" fmla="*/ 7559674 h 7559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46699" h="7559674">
                <a:moveTo>
                  <a:pt x="0" y="0"/>
                </a:moveTo>
                <a:lnTo>
                  <a:pt x="4726994" y="0"/>
                </a:lnTo>
                <a:lnTo>
                  <a:pt x="4726994" y="7559673"/>
                </a:lnTo>
                <a:lnTo>
                  <a:pt x="5346699" y="7559673"/>
                </a:lnTo>
                <a:lnTo>
                  <a:pt x="5346699" y="7559674"/>
                </a:lnTo>
                <a:lnTo>
                  <a:pt x="0" y="7559674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BC9669-8FAC-DC31-50CE-ACDEB8ABDCF8}"/>
              </a:ext>
            </a:extLst>
          </p:cNvPr>
          <p:cNvSpPr/>
          <p:nvPr/>
        </p:nvSpPr>
        <p:spPr>
          <a:xfrm>
            <a:off x="5974448" y="4"/>
            <a:ext cx="4717369" cy="7559675"/>
          </a:xfrm>
          <a:prstGeom prst="rect">
            <a:avLst/>
          </a:prstGeom>
          <a:gradFill>
            <a:gsLst>
              <a:gs pos="39402">
                <a:srgbClr val="2A2A2A">
                  <a:alpha val="50000"/>
                </a:srgbClr>
              </a:gs>
              <a:gs pos="0">
                <a:srgbClr val="2A2A2A">
                  <a:alpha val="81000"/>
                </a:srgbClr>
              </a:gs>
              <a:gs pos="99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85" name="자유형: 도형 1084">
            <a:extLst>
              <a:ext uri="{FF2B5EF4-FFF2-40B4-BE49-F238E27FC236}">
                <a16:creationId xmlns:a16="http://schemas.microsoft.com/office/drawing/2014/main" id="{6FAEAC51-6CCB-8FD3-A366-58E7FD262329}"/>
              </a:ext>
            </a:extLst>
          </p:cNvPr>
          <p:cNvSpPr/>
          <p:nvPr/>
        </p:nvSpPr>
        <p:spPr>
          <a:xfrm flipV="1">
            <a:off x="-13605" y="0"/>
            <a:ext cx="6862244" cy="3779838"/>
          </a:xfrm>
          <a:custGeom>
            <a:avLst/>
            <a:gdLst>
              <a:gd name="connsiteX0" fmla="*/ 0 w 6197659"/>
              <a:gd name="connsiteY0" fmla="*/ 3779838 h 3779838"/>
              <a:gd name="connsiteX1" fmla="*/ 6197659 w 6197659"/>
              <a:gd name="connsiteY1" fmla="*/ 3779838 h 3779838"/>
              <a:gd name="connsiteX2" fmla="*/ 6197659 w 6197659"/>
              <a:gd name="connsiteY2" fmla="*/ 991943 h 3779838"/>
              <a:gd name="connsiteX3" fmla="*/ 5233716 w 6197659"/>
              <a:gd name="connsiteY3" fmla="*/ 0 h 3779838"/>
              <a:gd name="connsiteX4" fmla="*/ 0 w 6197659"/>
              <a:gd name="connsiteY4" fmla="*/ 0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59" h="3779838">
                <a:moveTo>
                  <a:pt x="0" y="3779838"/>
                </a:moveTo>
                <a:lnTo>
                  <a:pt x="6197659" y="3779838"/>
                </a:lnTo>
                <a:lnTo>
                  <a:pt x="6197659" y="991943"/>
                </a:lnTo>
                <a:cubicBezTo>
                  <a:pt x="6197659" y="444108"/>
                  <a:pt x="5766087" y="0"/>
                  <a:pt x="52337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47AFFDC5-7B0A-AB85-570E-832BA777C870}"/>
              </a:ext>
            </a:extLst>
          </p:cNvPr>
          <p:cNvSpPr/>
          <p:nvPr/>
        </p:nvSpPr>
        <p:spPr>
          <a:xfrm>
            <a:off x="-13607" y="3642614"/>
            <a:ext cx="6862245" cy="3917067"/>
          </a:xfrm>
          <a:custGeom>
            <a:avLst/>
            <a:gdLst>
              <a:gd name="connsiteX0" fmla="*/ 0 w 6197660"/>
              <a:gd name="connsiteY0" fmla="*/ 0 h 3779838"/>
              <a:gd name="connsiteX1" fmla="*/ 5233717 w 6197660"/>
              <a:gd name="connsiteY1" fmla="*/ 0 h 3779838"/>
              <a:gd name="connsiteX2" fmla="*/ 6197660 w 6197660"/>
              <a:gd name="connsiteY2" fmla="*/ 991943 h 3779838"/>
              <a:gd name="connsiteX3" fmla="*/ 6197660 w 6197660"/>
              <a:gd name="connsiteY3" fmla="*/ 3779838 h 3779838"/>
              <a:gd name="connsiteX4" fmla="*/ 0 w 6197660"/>
              <a:gd name="connsiteY4" fmla="*/ 3779838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60" h="3779838">
                <a:moveTo>
                  <a:pt x="0" y="0"/>
                </a:moveTo>
                <a:lnTo>
                  <a:pt x="5233717" y="0"/>
                </a:lnTo>
                <a:cubicBezTo>
                  <a:pt x="5766088" y="0"/>
                  <a:pt x="6197660" y="444108"/>
                  <a:pt x="6197660" y="991943"/>
                </a:cubicBezTo>
                <a:lnTo>
                  <a:pt x="6197660" y="3779838"/>
                </a:lnTo>
                <a:lnTo>
                  <a:pt x="0" y="3779838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0" name="직사각형 1089">
            <a:extLst>
              <a:ext uri="{FF2B5EF4-FFF2-40B4-BE49-F238E27FC236}">
                <a16:creationId xmlns:a16="http://schemas.microsoft.com/office/drawing/2014/main" id="{907E7423-9110-F2A1-513E-A6B2C883CA3E}"/>
              </a:ext>
            </a:extLst>
          </p:cNvPr>
          <p:cNvSpPr/>
          <p:nvPr/>
        </p:nvSpPr>
        <p:spPr>
          <a:xfrm>
            <a:off x="1206955" y="1842556"/>
            <a:ext cx="2404836" cy="1280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>
                <a:latin typeface="페이퍼로지 9 Black" pitchFamily="2" charset="-127"/>
                <a:ea typeface="페이퍼로지 9 Black" pitchFamily="2" charset="-127"/>
              </a:rPr>
              <a:t>Ⅰ</a:t>
            </a:r>
            <a:endParaRPr lang="ko-KR" altLang="en-US" sz="8800">
              <a:latin typeface="페이퍼로지 9 Black" pitchFamily="2" charset="-127"/>
              <a:ea typeface="페이퍼로지 9 Black" pitchFamily="2" charset="-127"/>
            </a:endParaRPr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8D547D45-5347-6C2D-03C6-83DEB4DE6F0F}"/>
              </a:ext>
            </a:extLst>
          </p:cNvPr>
          <p:cNvGrpSpPr/>
          <p:nvPr/>
        </p:nvGrpSpPr>
        <p:grpSpPr>
          <a:xfrm>
            <a:off x="399146" y="980435"/>
            <a:ext cx="4020454" cy="712177"/>
            <a:chOff x="-20863" y="1282164"/>
            <a:chExt cx="4020454" cy="712177"/>
          </a:xfrm>
        </p:grpSpPr>
        <p:sp>
          <p:nvSpPr>
            <p:cNvPr id="1126" name="직사각형 1125">
              <a:extLst>
                <a:ext uri="{FF2B5EF4-FFF2-40B4-BE49-F238E27FC236}">
                  <a16:creationId xmlns:a16="http://schemas.microsoft.com/office/drawing/2014/main" id="{52742D8C-FE7F-6773-B7C4-7C9CED0B9EE6}"/>
                </a:ext>
              </a:extLst>
            </p:cNvPr>
            <p:cNvSpPr/>
            <p:nvPr/>
          </p:nvSpPr>
          <p:spPr>
            <a:xfrm>
              <a:off x="-20863" y="1282164"/>
              <a:ext cx="4020454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기업맞춤형 </a:t>
              </a:r>
              <a:r>
                <a:rPr lang="en-US" altLang="ko-KR" sz="1900">
                  <a:latin typeface="페이퍼로지 6 SemiBold" pitchFamily="2" charset="-127"/>
                  <a:ea typeface="페이퍼로지 6 SemiBold" pitchFamily="2" charset="-127"/>
                </a:rPr>
                <a:t>AI-X </a:t>
              </a:r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융복합 인재 양성 교육</a:t>
              </a:r>
            </a:p>
          </p:txBody>
        </p:sp>
        <p:sp>
          <p:nvSpPr>
            <p:cNvPr id="1127" name="직사각형 1126">
              <a:extLst>
                <a:ext uri="{FF2B5EF4-FFF2-40B4-BE49-F238E27FC236}">
                  <a16:creationId xmlns:a16="http://schemas.microsoft.com/office/drawing/2014/main" id="{D4DB9D07-EDFA-04E4-BCBF-0258A501B443}"/>
                </a:ext>
              </a:extLst>
            </p:cNvPr>
            <p:cNvSpPr/>
            <p:nvPr/>
          </p:nvSpPr>
          <p:spPr>
            <a:xfrm>
              <a:off x="206828" y="1611925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페이퍼로지 4 Regular" pitchFamily="2" charset="-127"/>
                  <a:ea typeface="페이퍼로지 4 Regular" pitchFamily="2" charset="-127"/>
                </a:rPr>
                <a:t>B2B </a:t>
              </a:r>
              <a:r>
                <a:rPr lang="ko-KR" altLang="en-US" sz="1400">
                  <a:latin typeface="페이퍼로지 4 Regular" pitchFamily="2" charset="-127"/>
                  <a:ea typeface="페이퍼로지 4 Regular" pitchFamily="2" charset="-127"/>
                </a:rPr>
                <a:t>고객 제품 수요량 예측 기반 재고 최적화</a:t>
              </a: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id="{7189E803-02A9-B27A-6121-FAFF6FE56A44}"/>
              </a:ext>
            </a:extLst>
          </p:cNvPr>
          <p:cNvGrpSpPr/>
          <p:nvPr/>
        </p:nvGrpSpPr>
        <p:grpSpPr>
          <a:xfrm>
            <a:off x="626837" y="3334507"/>
            <a:ext cx="3565072" cy="705186"/>
            <a:chOff x="206828" y="3622608"/>
            <a:chExt cx="3565072" cy="705186"/>
          </a:xfrm>
        </p:grpSpPr>
        <p:sp>
          <p:nvSpPr>
            <p:cNvPr id="1128" name="직사각형 1127">
              <a:extLst>
                <a:ext uri="{FF2B5EF4-FFF2-40B4-BE49-F238E27FC236}">
                  <a16:creationId xmlns:a16="http://schemas.microsoft.com/office/drawing/2014/main" id="{3C704077-AB9C-1EAA-35FD-051D75202596}"/>
                </a:ext>
              </a:extLst>
            </p:cNvPr>
            <p:cNvSpPr/>
            <p:nvPr/>
          </p:nvSpPr>
          <p:spPr>
            <a:xfrm>
              <a:off x="206828" y="362260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 dirty="0">
                  <a:latin typeface="페이퍼로지 6 SemiBold" pitchFamily="2" charset="-127"/>
                  <a:ea typeface="페이퍼로지 6 SemiBold" pitchFamily="2" charset="-127"/>
                </a:rPr>
                <a:t>프로젝트 개요</a:t>
              </a:r>
            </a:p>
          </p:txBody>
        </p:sp>
        <p:sp>
          <p:nvSpPr>
            <p:cNvPr id="1130" name="직사각형 1129">
              <a:extLst>
                <a:ext uri="{FF2B5EF4-FFF2-40B4-BE49-F238E27FC236}">
                  <a16:creationId xmlns:a16="http://schemas.microsoft.com/office/drawing/2014/main" id="{81BF5B83-2C92-305D-B58D-CC42C379D545}"/>
                </a:ext>
              </a:extLst>
            </p:cNvPr>
            <p:cNvSpPr/>
            <p:nvPr/>
          </p:nvSpPr>
          <p:spPr>
            <a:xfrm>
              <a:off x="206828" y="394537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Project overview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98FC2750-8CB1-0B75-CE47-1DAEB26D34FA}"/>
              </a:ext>
            </a:extLst>
          </p:cNvPr>
          <p:cNvSpPr/>
          <p:nvPr/>
        </p:nvSpPr>
        <p:spPr>
          <a:xfrm>
            <a:off x="1421494" y="4409453"/>
            <a:ext cx="2998105" cy="130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01.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 프로젝트 배경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02.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사례 분석 및 한계점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03.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프로젝트 목표 및 </a:t>
            </a:r>
            <a:r>
              <a:rPr lang="ko-KR" altLang="en-US" sz="1400" err="1">
                <a:latin typeface="페이퍼로지 4 Regular" pitchFamily="2" charset="-127"/>
                <a:ea typeface="페이퍼로지 4 Regular" pitchFamily="2" charset="-127"/>
              </a:rPr>
              <a:t>차별점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F00B329-6ABC-A50D-6FE4-F00BC2E098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896" y="5975658"/>
            <a:ext cx="1162954" cy="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1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포토그래퍼를 위한 스마트폰 - 갤럭시 S8의 프로모드 활용기">
            <a:extLst>
              <a:ext uri="{FF2B5EF4-FFF2-40B4-BE49-F238E27FC236}">
                <a16:creationId xmlns:a16="http://schemas.microsoft.com/office/drawing/2014/main" id="{D005A275-729C-1CF9-3D4E-5D34AF7A1F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" r="3579"/>
          <a:stretch>
            <a:fillRect/>
          </a:stretch>
        </p:blipFill>
        <p:spPr bwMode="auto">
          <a:xfrm>
            <a:off x="0" y="-40090"/>
            <a:ext cx="10691813" cy="767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F37E8B-3251-E427-E021-702187B839A0}"/>
              </a:ext>
            </a:extLst>
          </p:cNvPr>
          <p:cNvSpPr/>
          <p:nvPr/>
        </p:nvSpPr>
        <p:spPr>
          <a:xfrm>
            <a:off x="0" y="-40090"/>
            <a:ext cx="10691813" cy="7678612"/>
          </a:xfrm>
          <a:prstGeom prst="rect">
            <a:avLst/>
          </a:prstGeom>
          <a:gradFill flip="none" rotWithShape="1">
            <a:gsLst>
              <a:gs pos="100000">
                <a:srgbClr val="161616"/>
              </a:gs>
              <a:gs pos="77965">
                <a:srgbClr val="212121">
                  <a:alpha val="79000"/>
                </a:srgbClr>
              </a:gs>
              <a:gs pos="42000">
                <a:srgbClr val="1C1C1C">
                  <a:alpha val="72000"/>
                </a:srgbClr>
              </a:gs>
              <a:gs pos="56000">
                <a:srgbClr val="2A2A2A">
                  <a:alpha val="0"/>
                </a:srgbClr>
              </a:gs>
              <a:gs pos="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337DD1B-DE3F-3C02-B5A7-6E826D9F351B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latin typeface="페이퍼로지 6 SemiBold" pitchFamily="2" charset="-127"/>
                <a:ea typeface="페이퍼로지 6 SemiBold" pitchFamily="2" charset="-127"/>
              </a:rPr>
              <a:t>Ⅰ </a:t>
            </a:r>
            <a:r>
              <a:rPr lang="ko-KR" altLang="en-US" sz="2000">
                <a:latin typeface="페이퍼로지 6 SemiBold" pitchFamily="2" charset="-127"/>
                <a:ea typeface="페이퍼로지 6 SemiBold" pitchFamily="2" charset="-127"/>
              </a:rPr>
              <a:t>프로젝트 개요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C911601-F4D0-7C01-1BE4-1E1475A5FD89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F1B9D09-88A3-C0E2-FF57-A65E25C8913E}"/>
              </a:ext>
            </a:extLst>
          </p:cNvPr>
          <p:cNvSpPr/>
          <p:nvPr/>
        </p:nvSpPr>
        <p:spPr>
          <a:xfrm>
            <a:off x="664497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699C24B-2CF4-4E31-FD2A-99D7FE8D5BE1}"/>
              </a:ext>
            </a:extLst>
          </p:cNvPr>
          <p:cNvSpPr/>
          <p:nvPr/>
        </p:nvSpPr>
        <p:spPr>
          <a:xfrm>
            <a:off x="1025869" y="688851"/>
            <a:ext cx="1716892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프로젝트 배경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9C198A-D8FF-02F9-BD69-A233B632D937}"/>
              </a:ext>
            </a:extLst>
          </p:cNvPr>
          <p:cNvSpPr/>
          <p:nvPr/>
        </p:nvSpPr>
        <p:spPr>
          <a:xfrm>
            <a:off x="1159499" y="1650597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3600" spc="-80">
                <a:latin typeface="페이퍼로지 6 SemiBold" pitchFamily="2" charset="-127"/>
                <a:ea typeface="페이퍼로지 6 SemiBold" pitchFamily="2" charset="-127"/>
              </a:rPr>
              <a:t>사진 한 장</a:t>
            </a:r>
            <a:r>
              <a:rPr lang="en-US" altLang="ko-KR" sz="3600" spc="-80">
                <a:latin typeface="페이퍼로지 6 SemiBold" pitchFamily="2" charset="-127"/>
                <a:ea typeface="페이퍼로지 6 SemiBold" pitchFamily="2" charset="-127"/>
              </a:rPr>
              <a:t>,</a:t>
            </a:r>
            <a:endParaRPr lang="en-US" altLang="ko-KR" sz="2400" spc="-8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9A889B42-93A6-9D37-4E14-19300F59B421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3E3697-6A60-9E29-6FB1-9360A384CD6A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28E65E54-C1FB-22EA-B12D-9CDC9031970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82126" y="79666"/>
            <a:ext cx="2352779" cy="788045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E5847C-2B80-E609-55F0-CF820F904237}"/>
              </a:ext>
            </a:extLst>
          </p:cNvPr>
          <p:cNvSpPr/>
          <p:nvPr/>
        </p:nvSpPr>
        <p:spPr>
          <a:xfrm>
            <a:off x="6244190" y="2496801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latin typeface="페이퍼로지 6 SemiBold" pitchFamily="2" charset="-127"/>
                <a:ea typeface="페이퍼로지 6 SemiBold" pitchFamily="2" charset="-127"/>
              </a:rPr>
              <a:t>당신에게는 무엇을 의미하나요</a:t>
            </a:r>
            <a:r>
              <a:rPr lang="en-US" altLang="ko-KR" spc="-80">
                <a:latin typeface="페이퍼로지 6 SemiBold" pitchFamily="2" charset="-127"/>
                <a:ea typeface="페이퍼로지 6 SemiBold" pitchFamily="2" charset="-127"/>
              </a:rPr>
              <a:t>?</a:t>
            </a:r>
          </a:p>
        </p:txBody>
      </p: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B9AC9408-AC02-08C7-74C7-8E49E9AEF7D9}"/>
              </a:ext>
            </a:extLst>
          </p:cNvPr>
          <p:cNvGrpSpPr/>
          <p:nvPr/>
        </p:nvGrpSpPr>
        <p:grpSpPr>
          <a:xfrm>
            <a:off x="2142172" y="3713351"/>
            <a:ext cx="2017068" cy="2017069"/>
            <a:chOff x="2142172" y="3713351"/>
            <a:chExt cx="2017068" cy="2017069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7376AC1-5482-B653-C01E-03C572B94A7F}"/>
                </a:ext>
              </a:extLst>
            </p:cNvPr>
            <p:cNvGrpSpPr/>
            <p:nvPr/>
          </p:nvGrpSpPr>
          <p:grpSpPr>
            <a:xfrm>
              <a:off x="2142172" y="3713351"/>
              <a:ext cx="2017068" cy="2017069"/>
              <a:chOff x="1609726" y="3768976"/>
              <a:chExt cx="2717522" cy="2717524"/>
            </a:xfrm>
          </p:grpSpPr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3891D54A-22F1-74C7-A2F9-F5343B21AFE5}"/>
                  </a:ext>
                </a:extLst>
              </p:cNvPr>
              <p:cNvSpPr/>
              <p:nvPr/>
            </p:nvSpPr>
            <p:spPr>
              <a:xfrm>
                <a:off x="1609726" y="3768976"/>
                <a:ext cx="2717522" cy="2717524"/>
              </a:xfrm>
              <a:prstGeom prst="ellipse">
                <a:avLst/>
              </a:prstGeom>
              <a:solidFill>
                <a:schemeClr val="bg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512E4A37-F20A-355D-2E14-7EF33B1E2B6B}"/>
                  </a:ext>
                </a:extLst>
              </p:cNvPr>
              <p:cNvSpPr/>
              <p:nvPr/>
            </p:nvSpPr>
            <p:spPr>
              <a:xfrm>
                <a:off x="1842293" y="4001544"/>
                <a:ext cx="2252386" cy="2252386"/>
              </a:xfrm>
              <a:prstGeom prst="ellipse">
                <a:avLst/>
              </a:prstGeom>
              <a:solidFill>
                <a:srgbClr val="FAB5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CF1E676-B98C-B13D-FEC9-C89F3590B8AD}"/>
                </a:ext>
              </a:extLst>
            </p:cNvPr>
            <p:cNvGrpSpPr/>
            <p:nvPr/>
          </p:nvGrpSpPr>
          <p:grpSpPr>
            <a:xfrm>
              <a:off x="2362028" y="4118466"/>
              <a:ext cx="1577356" cy="1371010"/>
              <a:chOff x="2362028" y="4899660"/>
              <a:chExt cx="1577356" cy="1371010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90B3929-85DD-206C-90DC-874534B70BD5}"/>
                  </a:ext>
                </a:extLst>
              </p:cNvPr>
              <p:cNvSpPr/>
              <p:nvPr/>
            </p:nvSpPr>
            <p:spPr>
              <a:xfrm>
                <a:off x="2574155" y="4899660"/>
                <a:ext cx="1153102" cy="3200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일상적 기능</a:t>
                </a: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862FDA45-FA40-1075-DFD7-43AB511E67A0}"/>
                  </a:ext>
                </a:extLst>
              </p:cNvPr>
              <p:cNvSpPr/>
              <p:nvPr/>
            </p:nvSpPr>
            <p:spPr>
              <a:xfrm>
                <a:off x="2362028" y="5318643"/>
                <a:ext cx="1577356" cy="3200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사진의 일상적인 기능 </a:t>
                </a:r>
                <a:endParaRPr lang="en-US" altLang="ko-KR" sz="120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227A660A-6B89-826B-796A-9F42C33E6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2784" y="5219700"/>
                <a:ext cx="1235845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80CE8E6C-9736-7746-ADFC-9CF1EE84F5F5}"/>
                  </a:ext>
                </a:extLst>
              </p:cNvPr>
              <p:cNvGrpSpPr/>
              <p:nvPr/>
            </p:nvGrpSpPr>
            <p:grpSpPr>
              <a:xfrm>
                <a:off x="2775931" y="5737625"/>
                <a:ext cx="737821" cy="533045"/>
                <a:chOff x="2526149" y="5715723"/>
                <a:chExt cx="521156" cy="533045"/>
              </a:xfrm>
              <a:solidFill>
                <a:schemeClr val="bg1"/>
              </a:solidFill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4DF7C3C2-2E80-C80C-E3E0-DCB6E1E3E4CF}"/>
                    </a:ext>
                  </a:extLst>
                </p:cNvPr>
                <p:cNvSpPr/>
                <p:nvPr/>
              </p:nvSpPr>
              <p:spPr>
                <a:xfrm>
                  <a:off x="2526149" y="5715723"/>
                  <a:ext cx="521156" cy="24028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기록</a:t>
                  </a:r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45E1453F-2F85-6787-5DDC-6693EB77ABBA}"/>
                    </a:ext>
                  </a:extLst>
                </p:cNvPr>
                <p:cNvSpPr/>
                <p:nvPr/>
              </p:nvSpPr>
              <p:spPr>
                <a:xfrm>
                  <a:off x="2526149" y="6008486"/>
                  <a:ext cx="521156" cy="24028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추억</a:t>
                  </a:r>
                </a:p>
              </p:txBody>
            </p:sp>
          </p:grpSp>
        </p:grp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21399A82-33B9-1E0C-195B-85C18AD50BEA}"/>
              </a:ext>
            </a:extLst>
          </p:cNvPr>
          <p:cNvGrpSpPr/>
          <p:nvPr/>
        </p:nvGrpSpPr>
        <p:grpSpPr>
          <a:xfrm>
            <a:off x="3998559" y="3713351"/>
            <a:ext cx="2017068" cy="2017069"/>
            <a:chOff x="3998559" y="3713351"/>
            <a:chExt cx="2017068" cy="2017069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3798423-CD86-76B9-3461-1053CBD3F207}"/>
                </a:ext>
              </a:extLst>
            </p:cNvPr>
            <p:cNvGrpSpPr/>
            <p:nvPr/>
          </p:nvGrpSpPr>
          <p:grpSpPr>
            <a:xfrm>
              <a:off x="3998559" y="3713351"/>
              <a:ext cx="2017068" cy="2017069"/>
              <a:chOff x="1609726" y="3768976"/>
              <a:chExt cx="2717522" cy="2717524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3D75220-F500-9CBF-7D02-E0DC5339E768}"/>
                  </a:ext>
                </a:extLst>
              </p:cNvPr>
              <p:cNvSpPr/>
              <p:nvPr/>
            </p:nvSpPr>
            <p:spPr>
              <a:xfrm>
                <a:off x="1609726" y="3768976"/>
                <a:ext cx="2717522" cy="2717524"/>
              </a:xfrm>
              <a:prstGeom prst="ellipse">
                <a:avLst/>
              </a:prstGeom>
              <a:solidFill>
                <a:schemeClr val="bg1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9C772A87-7040-C97F-5812-3D845570C548}"/>
                  </a:ext>
                </a:extLst>
              </p:cNvPr>
              <p:cNvSpPr/>
              <p:nvPr/>
            </p:nvSpPr>
            <p:spPr>
              <a:xfrm>
                <a:off x="1842293" y="4001544"/>
                <a:ext cx="2252386" cy="2252386"/>
              </a:xfrm>
              <a:prstGeom prst="ellipse">
                <a:avLst/>
              </a:prstGeom>
              <a:solidFill>
                <a:srgbClr val="FAB5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03216A51-E491-3579-BBF6-26229B1F8860}"/>
                </a:ext>
              </a:extLst>
            </p:cNvPr>
            <p:cNvGrpSpPr/>
            <p:nvPr/>
          </p:nvGrpSpPr>
          <p:grpSpPr>
            <a:xfrm>
              <a:off x="4218415" y="4118466"/>
              <a:ext cx="1577356" cy="1371010"/>
              <a:chOff x="2362028" y="4899660"/>
              <a:chExt cx="1577356" cy="137101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B7A9A4E-EBC5-C4D3-09A7-E152DE88427A}"/>
                  </a:ext>
                </a:extLst>
              </p:cNvPr>
              <p:cNvSpPr/>
              <p:nvPr/>
            </p:nvSpPr>
            <p:spPr>
              <a:xfrm>
                <a:off x="2574155" y="4899660"/>
                <a:ext cx="1153102" cy="3200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심화된 기능</a:t>
                </a: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C15E94F0-982E-B6CD-7F7F-73B81C03DEEA}"/>
                  </a:ext>
                </a:extLst>
              </p:cNvPr>
              <p:cNvSpPr/>
              <p:nvPr/>
            </p:nvSpPr>
            <p:spPr>
              <a:xfrm>
                <a:off x="2362028" y="5318643"/>
                <a:ext cx="1577356" cy="3200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객관적 사실 전달 기능</a:t>
                </a:r>
                <a:endParaRPr lang="en-US" altLang="ko-KR" sz="120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13BEE65D-7460-319B-189D-54756711E9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32784" y="5219700"/>
                <a:ext cx="1235845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C2A0538B-E94B-9BBE-4B64-E828B1A16666}"/>
                  </a:ext>
                </a:extLst>
              </p:cNvPr>
              <p:cNvGrpSpPr/>
              <p:nvPr/>
            </p:nvGrpSpPr>
            <p:grpSpPr>
              <a:xfrm>
                <a:off x="2775931" y="5737625"/>
                <a:ext cx="737821" cy="533045"/>
                <a:chOff x="2526149" y="5715723"/>
                <a:chExt cx="521156" cy="533045"/>
              </a:xfrm>
              <a:solidFill>
                <a:schemeClr val="bg1"/>
              </a:solidFill>
            </p:grpSpPr>
            <p:sp>
              <p:nvSpPr>
                <p:cNvPr id="47" name="사각형: 둥근 모서리 46">
                  <a:extLst>
                    <a:ext uri="{FF2B5EF4-FFF2-40B4-BE49-F238E27FC236}">
                      <a16:creationId xmlns:a16="http://schemas.microsoft.com/office/drawing/2014/main" id="{46974147-A7C4-21F8-1638-6081023C5DB4}"/>
                    </a:ext>
                  </a:extLst>
                </p:cNvPr>
                <p:cNvSpPr/>
                <p:nvPr/>
              </p:nvSpPr>
              <p:spPr>
                <a:xfrm>
                  <a:off x="2526149" y="5715723"/>
                  <a:ext cx="521156" cy="24028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소통</a:t>
                  </a:r>
                </a:p>
              </p:txBody>
            </p:sp>
            <p:sp>
              <p:nvSpPr>
                <p:cNvPr id="53" name="사각형: 둥근 모서리 52">
                  <a:extLst>
                    <a:ext uri="{FF2B5EF4-FFF2-40B4-BE49-F238E27FC236}">
                      <a16:creationId xmlns:a16="http://schemas.microsoft.com/office/drawing/2014/main" id="{08590A69-FC08-881A-07BD-60592CE7882D}"/>
                    </a:ext>
                  </a:extLst>
                </p:cNvPr>
                <p:cNvSpPr/>
                <p:nvPr/>
              </p:nvSpPr>
              <p:spPr>
                <a:xfrm>
                  <a:off x="2526149" y="6008486"/>
                  <a:ext cx="521156" cy="240282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표현</a:t>
                  </a:r>
                </a:p>
              </p:txBody>
            </p:sp>
          </p:grpSp>
        </p:grpSp>
      </p:grpSp>
      <p:grpSp>
        <p:nvGrpSpPr>
          <p:cNvPr id="1054" name="그룹 1053">
            <a:extLst>
              <a:ext uri="{FF2B5EF4-FFF2-40B4-BE49-F238E27FC236}">
                <a16:creationId xmlns:a16="http://schemas.microsoft.com/office/drawing/2014/main" id="{6691823C-1F55-6890-0C36-DA3CB34733A1}"/>
              </a:ext>
            </a:extLst>
          </p:cNvPr>
          <p:cNvGrpSpPr/>
          <p:nvPr/>
        </p:nvGrpSpPr>
        <p:grpSpPr>
          <a:xfrm>
            <a:off x="5841145" y="3367638"/>
            <a:ext cx="2708495" cy="2708496"/>
            <a:chOff x="5841145" y="3367638"/>
            <a:chExt cx="2708495" cy="2708496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53E9588-C66B-0B74-B56C-125A2BD50428}"/>
                </a:ext>
              </a:extLst>
            </p:cNvPr>
            <p:cNvGrpSpPr/>
            <p:nvPr/>
          </p:nvGrpSpPr>
          <p:grpSpPr>
            <a:xfrm>
              <a:off x="5841145" y="3367638"/>
              <a:ext cx="2708495" cy="2708496"/>
              <a:chOff x="1609726" y="3768976"/>
              <a:chExt cx="2717522" cy="2717524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DFA9782C-DAE6-39CD-FC8C-EFB0D22E74A7}"/>
                  </a:ext>
                </a:extLst>
              </p:cNvPr>
              <p:cNvSpPr/>
              <p:nvPr/>
            </p:nvSpPr>
            <p:spPr>
              <a:xfrm>
                <a:off x="1609726" y="3768976"/>
                <a:ext cx="2717522" cy="2717524"/>
              </a:xfrm>
              <a:prstGeom prst="ellips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4B880BD7-486D-29F0-2751-1557102747D4}"/>
                  </a:ext>
                </a:extLst>
              </p:cNvPr>
              <p:cNvSpPr/>
              <p:nvPr/>
            </p:nvSpPr>
            <p:spPr>
              <a:xfrm>
                <a:off x="1842293" y="4001544"/>
                <a:ext cx="2252386" cy="225238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52" name="그룹 1051">
              <a:extLst>
                <a:ext uri="{FF2B5EF4-FFF2-40B4-BE49-F238E27FC236}">
                  <a16:creationId xmlns:a16="http://schemas.microsoft.com/office/drawing/2014/main" id="{034687AD-805C-CD34-9969-B25783361080}"/>
                </a:ext>
              </a:extLst>
            </p:cNvPr>
            <p:cNvGrpSpPr/>
            <p:nvPr/>
          </p:nvGrpSpPr>
          <p:grpSpPr>
            <a:xfrm>
              <a:off x="6108658" y="3841149"/>
              <a:ext cx="2173468" cy="1371010"/>
              <a:chOff x="6108658" y="3841149"/>
              <a:chExt cx="2173468" cy="1371010"/>
            </a:xfrm>
          </p:grpSpPr>
          <p:sp>
            <p:nvSpPr>
              <p:cNvPr id="1025" name="직사각형 1024">
                <a:extLst>
                  <a:ext uri="{FF2B5EF4-FFF2-40B4-BE49-F238E27FC236}">
                    <a16:creationId xmlns:a16="http://schemas.microsoft.com/office/drawing/2014/main" id="{FD040D88-68B5-E45D-8C8F-485E123ECF12}"/>
                  </a:ext>
                </a:extLst>
              </p:cNvPr>
              <p:cNvSpPr/>
              <p:nvPr/>
            </p:nvSpPr>
            <p:spPr>
              <a:xfrm>
                <a:off x="6618841" y="3841149"/>
                <a:ext cx="1153102" cy="32004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>
                    <a:solidFill>
                      <a:srgbClr val="F78535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확장된 기능</a:t>
                </a:r>
              </a:p>
            </p:txBody>
          </p:sp>
          <p:sp>
            <p:nvSpPr>
              <p:cNvPr id="1027" name="직사각형 1026">
                <a:extLst>
                  <a:ext uri="{FF2B5EF4-FFF2-40B4-BE49-F238E27FC236}">
                    <a16:creationId xmlns:a16="http://schemas.microsoft.com/office/drawing/2014/main" id="{D8A855A2-15C4-2740-6FDE-9A4BFCC0056E}"/>
                  </a:ext>
                </a:extLst>
              </p:cNvPr>
              <p:cNvSpPr/>
              <p:nvPr/>
            </p:nvSpPr>
            <p:spPr>
              <a:xfrm>
                <a:off x="6108658" y="4240949"/>
                <a:ext cx="2173468" cy="3584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AI</a:t>
                </a:r>
                <a:r>
                  <a:rPr lang="ko-KR" altLang="en-US" sz="120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를 통해 분석된</a:t>
                </a:r>
                <a:endParaRPr lang="en-US" altLang="ko-KR" sz="120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algn="ctr"/>
                <a:r>
                  <a:rPr lang="ko-KR" altLang="en-US" sz="120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새로운 지식과 인사이트 제공 </a:t>
                </a:r>
                <a:endParaRPr lang="en-US" altLang="ko-KR" sz="120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cxnSp>
            <p:nvCxnSpPr>
              <p:cNvPr id="1044" name="직선 연결선 1043">
                <a:extLst>
                  <a:ext uri="{FF2B5EF4-FFF2-40B4-BE49-F238E27FC236}">
                    <a16:creationId xmlns:a16="http://schemas.microsoft.com/office/drawing/2014/main" id="{E596091D-941D-BF8D-F0ED-C6F795DEE3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7470" y="4161189"/>
                <a:ext cx="1235845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5" name="그룹 1044">
                <a:extLst>
                  <a:ext uri="{FF2B5EF4-FFF2-40B4-BE49-F238E27FC236}">
                    <a16:creationId xmlns:a16="http://schemas.microsoft.com/office/drawing/2014/main" id="{2272BD72-46F8-0C15-E0C8-73363A1064EF}"/>
                  </a:ext>
                </a:extLst>
              </p:cNvPr>
              <p:cNvGrpSpPr/>
              <p:nvPr/>
            </p:nvGrpSpPr>
            <p:grpSpPr>
              <a:xfrm>
                <a:off x="6240008" y="4679114"/>
                <a:ext cx="1899040" cy="533045"/>
                <a:chOff x="2116039" y="5715723"/>
                <a:chExt cx="1341377" cy="533045"/>
              </a:xfrm>
              <a:solidFill>
                <a:schemeClr val="bg1"/>
              </a:solidFill>
            </p:grpSpPr>
            <p:sp>
              <p:nvSpPr>
                <p:cNvPr id="1047" name="사각형: 둥근 모서리 1046">
                  <a:extLst>
                    <a:ext uri="{FF2B5EF4-FFF2-40B4-BE49-F238E27FC236}">
                      <a16:creationId xmlns:a16="http://schemas.microsoft.com/office/drawing/2014/main" id="{F3C0F3B2-35B9-8B34-9503-D31B40AEE178}"/>
                    </a:ext>
                  </a:extLst>
                </p:cNvPr>
                <p:cNvSpPr/>
                <p:nvPr/>
              </p:nvSpPr>
              <p:spPr>
                <a:xfrm>
                  <a:off x="2116039" y="5715723"/>
                  <a:ext cx="1341377" cy="24028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A8B8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‘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어떤 재료</a:t>
                  </a:r>
                  <a:r>
                    <a:rPr lang="en-US" altLang="ko-KR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’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가 들어가는지</a:t>
                  </a:r>
                </a:p>
              </p:txBody>
            </p:sp>
            <p:sp>
              <p:nvSpPr>
                <p:cNvPr id="1048" name="사각형: 둥근 모서리 1047">
                  <a:extLst>
                    <a:ext uri="{FF2B5EF4-FFF2-40B4-BE49-F238E27FC236}">
                      <a16:creationId xmlns:a16="http://schemas.microsoft.com/office/drawing/2014/main" id="{35668CB0-FA28-A8CC-A2BC-AAC99AF518F7}"/>
                    </a:ext>
                  </a:extLst>
                </p:cNvPr>
                <p:cNvSpPr/>
                <p:nvPr/>
              </p:nvSpPr>
              <p:spPr>
                <a:xfrm>
                  <a:off x="2116039" y="6008486"/>
                  <a:ext cx="1341377" cy="24028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A8B8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‘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어떤 음식</a:t>
                  </a:r>
                  <a:r>
                    <a:rPr lang="en-US" altLang="ko-KR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’</a:t>
                  </a:r>
                  <a:r>
                    <a:rPr lang="ko-KR" altLang="en-US" sz="1200">
                      <a:solidFill>
                        <a:schemeClr val="bg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 이 인기인지</a:t>
                  </a:r>
                </a:p>
              </p:txBody>
            </p:sp>
          </p:grpSp>
        </p:grpSp>
        <p:grpSp>
          <p:nvGrpSpPr>
            <p:cNvPr id="1053" name="그룹 1052">
              <a:extLst>
                <a:ext uri="{FF2B5EF4-FFF2-40B4-BE49-F238E27FC236}">
                  <a16:creationId xmlns:a16="http://schemas.microsoft.com/office/drawing/2014/main" id="{36503FA8-3697-0568-AF5F-B232FD0E061A}"/>
                </a:ext>
              </a:extLst>
            </p:cNvPr>
            <p:cNvGrpSpPr/>
            <p:nvPr/>
          </p:nvGrpSpPr>
          <p:grpSpPr>
            <a:xfrm>
              <a:off x="6108658" y="5412680"/>
              <a:ext cx="2173468" cy="358406"/>
              <a:chOff x="6108658" y="5412680"/>
              <a:chExt cx="2173468" cy="358406"/>
            </a:xfrm>
          </p:grpSpPr>
          <p:sp>
            <p:nvSpPr>
              <p:cNvPr id="1051" name="평행 사변형 1050">
                <a:extLst>
                  <a:ext uri="{FF2B5EF4-FFF2-40B4-BE49-F238E27FC236}">
                    <a16:creationId xmlns:a16="http://schemas.microsoft.com/office/drawing/2014/main" id="{05C016F1-3053-4B47-AFA8-1E65C9408AA3}"/>
                  </a:ext>
                </a:extLst>
              </p:cNvPr>
              <p:cNvSpPr/>
              <p:nvPr/>
            </p:nvSpPr>
            <p:spPr>
              <a:xfrm>
                <a:off x="6358124" y="5421436"/>
                <a:ext cx="1674536" cy="340894"/>
              </a:xfrm>
              <a:prstGeom prst="parallelogram">
                <a:avLst>
                  <a:gd name="adj" fmla="val 48482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0" name="직사각형 1049">
                <a:extLst>
                  <a:ext uri="{FF2B5EF4-FFF2-40B4-BE49-F238E27FC236}">
                    <a16:creationId xmlns:a16="http://schemas.microsoft.com/office/drawing/2014/main" id="{3B769A83-4557-08C8-9027-566F4DBA4289}"/>
                  </a:ext>
                </a:extLst>
              </p:cNvPr>
              <p:cNvSpPr/>
              <p:nvPr/>
            </p:nvSpPr>
            <p:spPr>
              <a:xfrm>
                <a:off x="6108658" y="5412680"/>
                <a:ext cx="2173468" cy="3584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>
                    <a:solidFill>
                      <a:schemeClr val="bg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트렌드 예측</a:t>
                </a:r>
                <a:endParaRPr lang="en-US" altLang="ko-KR" sz="200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249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105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4684E-6 2.49055E-6 L -0.23712 -0.0029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63" y="-1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D913-074A-E341-87D5-5A57005A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638E8F4-7393-7BB2-DB44-789A47246C6A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Ⅰ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개요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831B9A5-7791-6EC2-AB26-F2CE1F92E5ED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30EB5AF-C8FA-2BB7-C380-9B7B39914ED7}"/>
              </a:ext>
            </a:extLst>
          </p:cNvPr>
          <p:cNvSpPr/>
          <p:nvPr/>
        </p:nvSpPr>
        <p:spPr>
          <a:xfrm>
            <a:off x="436336" y="672703"/>
            <a:ext cx="230051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AB8D6E-C342-E6F1-B4A1-5241093D23F6}"/>
              </a:ext>
            </a:extLst>
          </p:cNvPr>
          <p:cNvSpPr/>
          <p:nvPr/>
        </p:nvSpPr>
        <p:spPr>
          <a:xfrm>
            <a:off x="1025869" y="688851"/>
            <a:ext cx="1603031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사례 분석 및 한계점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88708185-0CE5-EB4A-8434-DF15260F0142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346EC5-536B-06B5-F2D9-1C3E7590FB6C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8569DAB-8A0F-B57C-57E2-98C4CB81C45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D90A0BD-190F-F117-4058-0121D70FC9DC}"/>
              </a:ext>
            </a:extLst>
          </p:cNvPr>
          <p:cNvSpPr/>
          <p:nvPr/>
        </p:nvSpPr>
        <p:spPr>
          <a:xfrm>
            <a:off x="800102" y="2736121"/>
            <a:ext cx="2872012" cy="2557519"/>
          </a:xfrm>
          <a:prstGeom prst="roundRect">
            <a:avLst>
              <a:gd name="adj" fmla="val 12085"/>
            </a:avLst>
          </a:prstGeom>
          <a:solidFill>
            <a:srgbClr val="FCD2B6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A00F0784-5346-4B94-8927-4ECADD16D412}"/>
              </a:ext>
            </a:extLst>
          </p:cNvPr>
          <p:cNvSpPr/>
          <p:nvPr/>
        </p:nvSpPr>
        <p:spPr>
          <a:xfrm rot="10800000">
            <a:off x="1090608" y="2736120"/>
            <a:ext cx="883592" cy="384572"/>
          </a:xfrm>
          <a:prstGeom prst="round2Same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3F2826-D57E-6BDE-AA86-AA81B42FA767}"/>
              </a:ext>
            </a:extLst>
          </p:cNvPr>
          <p:cNvSpPr/>
          <p:nvPr/>
        </p:nvSpPr>
        <p:spPr>
          <a:xfrm>
            <a:off x="1126026" y="3265057"/>
            <a:ext cx="2226440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음식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/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맛집 추천 앱 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9BF823E-F877-6477-9394-DB90CB35EB0E}"/>
              </a:ext>
            </a:extLst>
          </p:cNvPr>
          <p:cNvCxnSpPr>
            <a:cxnSpLocks/>
          </p:cNvCxnSpPr>
          <p:nvPr/>
        </p:nvCxnSpPr>
        <p:spPr>
          <a:xfrm>
            <a:off x="1117669" y="3748938"/>
            <a:ext cx="223687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72A62C-C5AB-270A-FD44-077C18F11C56}"/>
              </a:ext>
            </a:extLst>
          </p:cNvPr>
          <p:cNvSpPr/>
          <p:nvPr/>
        </p:nvSpPr>
        <p:spPr>
          <a:xfrm>
            <a:off x="1119750" y="4585090"/>
            <a:ext cx="2232716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위치 기반  및 사용자 리뷰 기반 추천</a:t>
            </a:r>
          </a:p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사용자 알고리즘 기반 자동 추천</a:t>
            </a:r>
            <a:endParaRPr lang="en-US" altLang="ko-KR" sz="1200" spc="-8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1E828B-8D71-B56D-D9CC-8A655D0A174E}"/>
              </a:ext>
            </a:extLst>
          </p:cNvPr>
          <p:cNvSpPr/>
          <p:nvPr/>
        </p:nvSpPr>
        <p:spPr>
          <a:xfrm>
            <a:off x="1086509" y="2670846"/>
            <a:ext cx="891789" cy="475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현황 </a:t>
            </a:r>
            <a:r>
              <a:rPr lang="en-US" altLang="ko-KR" sz="12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A488543-6C6E-4A18-D0D0-C2AE1BE60399}"/>
              </a:ext>
            </a:extLst>
          </p:cNvPr>
          <p:cNvSpPr/>
          <p:nvPr/>
        </p:nvSpPr>
        <p:spPr>
          <a:xfrm>
            <a:off x="943826" y="1430678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음식을 추천하고 식재료를 제공하는 서비스는 이미 포화된 시장 현황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</a:p>
          <a:p>
            <a:r>
              <a:rPr lang="ko-KR" altLang="en-US" sz="2400" spc="-8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식재료 분석과 비즈니스 인사이트를 제공</a:t>
            </a:r>
            <a:r>
              <a:rPr lang="ko-KR" altLang="en-US" sz="2400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하는 서비스는</a:t>
            </a:r>
            <a:r>
              <a:rPr lang="ko-KR" altLang="en-US" sz="2400" spc="-8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 부재한 현실</a:t>
            </a:r>
            <a:endParaRPr lang="en-US" altLang="ko-KR" sz="2400" spc="-8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122559F-0096-7EA5-D208-36782DB11C74}"/>
              </a:ext>
            </a:extLst>
          </p:cNvPr>
          <p:cNvSpPr/>
          <p:nvPr/>
        </p:nvSpPr>
        <p:spPr>
          <a:xfrm>
            <a:off x="3909901" y="2736121"/>
            <a:ext cx="2872012" cy="2557519"/>
          </a:xfrm>
          <a:prstGeom prst="roundRect">
            <a:avLst>
              <a:gd name="adj" fmla="val 12085"/>
            </a:avLst>
          </a:prstGeom>
          <a:solidFill>
            <a:srgbClr val="FCD2B6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사각형: 둥근 위쪽 모서리 41">
            <a:extLst>
              <a:ext uri="{FF2B5EF4-FFF2-40B4-BE49-F238E27FC236}">
                <a16:creationId xmlns:a16="http://schemas.microsoft.com/office/drawing/2014/main" id="{3849C328-9B25-E2C4-8585-3A5514AF21AC}"/>
              </a:ext>
            </a:extLst>
          </p:cNvPr>
          <p:cNvSpPr/>
          <p:nvPr/>
        </p:nvSpPr>
        <p:spPr>
          <a:xfrm rot="10800000">
            <a:off x="4200407" y="2736121"/>
            <a:ext cx="883592" cy="384572"/>
          </a:xfrm>
          <a:prstGeom prst="round2Same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636903A-98C9-1FCA-0663-14FB47DCCC34}"/>
              </a:ext>
            </a:extLst>
          </p:cNvPr>
          <p:cNvSpPr/>
          <p:nvPr/>
        </p:nvSpPr>
        <p:spPr>
          <a:xfrm>
            <a:off x="4235825" y="3265058"/>
            <a:ext cx="2226440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레시피  </a:t>
            </a:r>
            <a:r>
              <a:rPr lang="ko-KR" altLang="en-US" spc="-80" err="1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추천앱</a:t>
            </a:r>
            <a:endParaRPr lang="ko-KR" altLang="en-US" spc="-80">
              <a:solidFill>
                <a:srgbClr val="F78535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CFA75C7-D667-0880-CBAF-8E4A0E14AE72}"/>
              </a:ext>
            </a:extLst>
          </p:cNvPr>
          <p:cNvCxnSpPr>
            <a:cxnSpLocks/>
          </p:cNvCxnSpPr>
          <p:nvPr/>
        </p:nvCxnSpPr>
        <p:spPr>
          <a:xfrm>
            <a:off x="4227468" y="3748939"/>
            <a:ext cx="223687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36375B8-DF6C-44A8-0457-617755560907}"/>
              </a:ext>
            </a:extLst>
          </p:cNvPr>
          <p:cNvSpPr/>
          <p:nvPr/>
        </p:nvSpPr>
        <p:spPr>
          <a:xfrm>
            <a:off x="4229549" y="4585091"/>
            <a:ext cx="2314126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간단 레시피 중심</a:t>
            </a:r>
            <a:r>
              <a:rPr lang="en-US" altLang="ko-KR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영상 기반 레시피 추천</a:t>
            </a:r>
            <a:endParaRPr lang="en-US" altLang="ko-KR" sz="1200" spc="-8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재료</a:t>
            </a:r>
            <a:r>
              <a:rPr lang="en-US" altLang="ko-KR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또는 음식 검색어 기반 레시피 제공</a:t>
            </a:r>
            <a:endParaRPr lang="en-US" altLang="ko-KR" sz="1200" spc="-8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E60B8FD-3D69-7200-879E-E27661C1AF16}"/>
              </a:ext>
            </a:extLst>
          </p:cNvPr>
          <p:cNvSpPr/>
          <p:nvPr/>
        </p:nvSpPr>
        <p:spPr>
          <a:xfrm>
            <a:off x="4196308" y="2670847"/>
            <a:ext cx="891789" cy="475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현황 </a:t>
            </a:r>
            <a:r>
              <a:rPr lang="en-US" altLang="ko-KR" sz="12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2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6D92986-58FB-5815-A64A-8E7E701B78F3}"/>
              </a:ext>
            </a:extLst>
          </p:cNvPr>
          <p:cNvSpPr/>
          <p:nvPr/>
        </p:nvSpPr>
        <p:spPr>
          <a:xfrm>
            <a:off x="7019700" y="2736121"/>
            <a:ext cx="2872012" cy="2557519"/>
          </a:xfrm>
          <a:prstGeom prst="roundRect">
            <a:avLst>
              <a:gd name="adj" fmla="val 12085"/>
            </a:avLst>
          </a:prstGeom>
          <a:solidFill>
            <a:srgbClr val="FCD2B6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51" name="사각형: 둥근 위쪽 모서리 50">
            <a:extLst>
              <a:ext uri="{FF2B5EF4-FFF2-40B4-BE49-F238E27FC236}">
                <a16:creationId xmlns:a16="http://schemas.microsoft.com/office/drawing/2014/main" id="{170CE760-411C-6C46-8DBD-4D75D2D7F991}"/>
              </a:ext>
            </a:extLst>
          </p:cNvPr>
          <p:cNvSpPr/>
          <p:nvPr/>
        </p:nvSpPr>
        <p:spPr>
          <a:xfrm rot="10800000">
            <a:off x="7310206" y="2736121"/>
            <a:ext cx="883592" cy="384572"/>
          </a:xfrm>
          <a:prstGeom prst="round2Same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2D22A3-6310-0317-5329-73180600A1F0}"/>
              </a:ext>
            </a:extLst>
          </p:cNvPr>
          <p:cNvSpPr/>
          <p:nvPr/>
        </p:nvSpPr>
        <p:spPr>
          <a:xfrm>
            <a:off x="7345624" y="3265058"/>
            <a:ext cx="2226440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인식을 통한 정보제공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4C9E196-F123-1AAF-A73E-8F70490D0F03}"/>
              </a:ext>
            </a:extLst>
          </p:cNvPr>
          <p:cNvCxnSpPr>
            <a:cxnSpLocks/>
          </p:cNvCxnSpPr>
          <p:nvPr/>
        </p:nvCxnSpPr>
        <p:spPr>
          <a:xfrm>
            <a:off x="7337267" y="3748939"/>
            <a:ext cx="223687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2CAF37-AC82-21ED-C500-15250205F6B9}"/>
              </a:ext>
            </a:extLst>
          </p:cNvPr>
          <p:cNvSpPr/>
          <p:nvPr/>
        </p:nvSpPr>
        <p:spPr>
          <a:xfrm>
            <a:off x="7339348" y="4585091"/>
            <a:ext cx="2232716" cy="41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사진 속 사물</a:t>
            </a:r>
            <a:r>
              <a:rPr lang="en-US" altLang="ko-KR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음식 인식을 통해 </a:t>
            </a:r>
            <a:endParaRPr lang="en-US" altLang="ko-KR" sz="1200" spc="-8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이름</a:t>
            </a:r>
            <a:r>
              <a:rPr lang="en-US" altLang="ko-KR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장소 </a:t>
            </a:r>
            <a:r>
              <a:rPr lang="en-US" altLang="ko-KR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r>
              <a:rPr lang="ko-KR" altLang="en-US" sz="12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재료 유사 이미지 등 제공</a:t>
            </a:r>
            <a:endParaRPr lang="en-US" altLang="ko-KR" sz="1200" spc="-8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C874A99-9834-74F3-2AD6-78765AD15E85}"/>
              </a:ext>
            </a:extLst>
          </p:cNvPr>
          <p:cNvSpPr/>
          <p:nvPr/>
        </p:nvSpPr>
        <p:spPr>
          <a:xfrm>
            <a:off x="7306107" y="2670847"/>
            <a:ext cx="891789" cy="4757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현황 </a:t>
            </a:r>
            <a:r>
              <a:rPr lang="en-US" altLang="ko-KR" sz="12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5F3EF85-8532-F656-0F38-820E85A8576E}"/>
              </a:ext>
            </a:extLst>
          </p:cNvPr>
          <p:cNvSpPr/>
          <p:nvPr/>
        </p:nvSpPr>
        <p:spPr>
          <a:xfrm>
            <a:off x="0" y="6289476"/>
            <a:ext cx="10691813" cy="2635847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78535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E2F910B-30A6-3B01-2B82-D6ED013C4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61533">
            <a:off x="2916500" y="2362225"/>
            <a:ext cx="972502" cy="972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623C23F-ADD7-70D4-213A-6CAAD524D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0000">
            <a:off x="6092810" y="2443776"/>
            <a:ext cx="839247" cy="8392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A5DB26E-6B5A-C8CC-ED58-C893F7C30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0000">
            <a:off x="9201490" y="2449458"/>
            <a:ext cx="756534" cy="756534"/>
          </a:xfrm>
          <a:prstGeom prst="rect">
            <a:avLst/>
          </a:prstGeom>
        </p:spPr>
      </p:pic>
      <p:grpSp>
        <p:nvGrpSpPr>
          <p:cNvPr id="1067" name="그룹 1066">
            <a:extLst>
              <a:ext uri="{FF2B5EF4-FFF2-40B4-BE49-F238E27FC236}">
                <a16:creationId xmlns:a16="http://schemas.microsoft.com/office/drawing/2014/main" id="{A438C453-6FC6-7384-69BF-1BE508608827}"/>
              </a:ext>
            </a:extLst>
          </p:cNvPr>
          <p:cNvGrpSpPr/>
          <p:nvPr/>
        </p:nvGrpSpPr>
        <p:grpSpPr>
          <a:xfrm>
            <a:off x="4315869" y="3825389"/>
            <a:ext cx="2060076" cy="662588"/>
            <a:chOff x="4315869" y="3938023"/>
            <a:chExt cx="2060076" cy="662588"/>
          </a:xfrm>
        </p:grpSpPr>
        <p:pic>
          <p:nvPicPr>
            <p:cNvPr id="1068" name="그림 1067" descr="만개의레시피">
              <a:extLst>
                <a:ext uri="{FF2B5EF4-FFF2-40B4-BE49-F238E27FC236}">
                  <a16:creationId xmlns:a16="http://schemas.microsoft.com/office/drawing/2014/main" id="{5DF95863-8F98-929E-85C2-2DBD554BE5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6" t="1886" r="1886" b="1886"/>
            <a:stretch>
              <a:fillRect/>
            </a:stretch>
          </p:blipFill>
          <p:spPr bwMode="auto">
            <a:xfrm>
              <a:off x="4315869" y="3938089"/>
              <a:ext cx="662522" cy="662522"/>
            </a:xfrm>
            <a:custGeom>
              <a:avLst/>
              <a:gdLst>
                <a:gd name="connsiteX0" fmla="*/ 65974 w 662522"/>
                <a:gd name="connsiteY0" fmla="*/ 0 h 662522"/>
                <a:gd name="connsiteX1" fmla="*/ 596548 w 662522"/>
                <a:gd name="connsiteY1" fmla="*/ 0 h 662522"/>
                <a:gd name="connsiteX2" fmla="*/ 662522 w 662522"/>
                <a:gd name="connsiteY2" fmla="*/ 65974 h 662522"/>
                <a:gd name="connsiteX3" fmla="*/ 662522 w 662522"/>
                <a:gd name="connsiteY3" fmla="*/ 596548 h 662522"/>
                <a:gd name="connsiteX4" fmla="*/ 596548 w 662522"/>
                <a:gd name="connsiteY4" fmla="*/ 662522 h 662522"/>
                <a:gd name="connsiteX5" fmla="*/ 65974 w 662522"/>
                <a:gd name="connsiteY5" fmla="*/ 662522 h 662522"/>
                <a:gd name="connsiteX6" fmla="*/ 0 w 662522"/>
                <a:gd name="connsiteY6" fmla="*/ 596548 h 662522"/>
                <a:gd name="connsiteX7" fmla="*/ 0 w 662522"/>
                <a:gd name="connsiteY7" fmla="*/ 65974 h 662522"/>
                <a:gd name="connsiteX8" fmla="*/ 65974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65974" y="0"/>
                  </a:moveTo>
                  <a:lnTo>
                    <a:pt x="596548" y="0"/>
                  </a:lnTo>
                  <a:cubicBezTo>
                    <a:pt x="632984" y="0"/>
                    <a:pt x="662522" y="29538"/>
                    <a:pt x="662522" y="65974"/>
                  </a:cubicBezTo>
                  <a:lnTo>
                    <a:pt x="662522" y="596548"/>
                  </a:lnTo>
                  <a:cubicBezTo>
                    <a:pt x="662522" y="632984"/>
                    <a:pt x="632984" y="662522"/>
                    <a:pt x="596548" y="662522"/>
                  </a:cubicBezTo>
                  <a:lnTo>
                    <a:pt x="65974" y="662522"/>
                  </a:lnTo>
                  <a:cubicBezTo>
                    <a:pt x="29538" y="662522"/>
                    <a:pt x="0" y="632984"/>
                    <a:pt x="0" y="596548"/>
                  </a:cubicBezTo>
                  <a:lnTo>
                    <a:pt x="0" y="65974"/>
                  </a:lnTo>
                  <a:cubicBezTo>
                    <a:pt x="0" y="29538"/>
                    <a:pt x="29538" y="0"/>
                    <a:pt x="65974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9" name="그림 1068" descr="미식큐 - 입맛 취향저격 나만의 AI 영양사">
              <a:extLst>
                <a:ext uri="{FF2B5EF4-FFF2-40B4-BE49-F238E27FC236}">
                  <a16:creationId xmlns:a16="http://schemas.microsoft.com/office/drawing/2014/main" id="{BAFFD8AE-AE27-6BDD-E85A-791FE66991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4646" y="3938023"/>
              <a:ext cx="659558" cy="659558"/>
            </a:xfrm>
            <a:custGeom>
              <a:avLst/>
              <a:gdLst>
                <a:gd name="connsiteX0" fmla="*/ 57152 w 659558"/>
                <a:gd name="connsiteY0" fmla="*/ 0 h 659558"/>
                <a:gd name="connsiteX1" fmla="*/ 602407 w 659558"/>
                <a:gd name="connsiteY1" fmla="*/ 0 h 659558"/>
                <a:gd name="connsiteX2" fmla="*/ 620746 w 659558"/>
                <a:gd name="connsiteY2" fmla="*/ 3703 h 659558"/>
                <a:gd name="connsiteX3" fmla="*/ 655856 w 659558"/>
                <a:gd name="connsiteY3" fmla="*/ 38812 h 659558"/>
                <a:gd name="connsiteX4" fmla="*/ 659558 w 659558"/>
                <a:gd name="connsiteY4" fmla="*/ 57152 h 659558"/>
                <a:gd name="connsiteX5" fmla="*/ 659558 w 659558"/>
                <a:gd name="connsiteY5" fmla="*/ 602407 h 659558"/>
                <a:gd name="connsiteX6" fmla="*/ 655856 w 659558"/>
                <a:gd name="connsiteY6" fmla="*/ 620746 h 659558"/>
                <a:gd name="connsiteX7" fmla="*/ 620746 w 659558"/>
                <a:gd name="connsiteY7" fmla="*/ 655856 h 659558"/>
                <a:gd name="connsiteX8" fmla="*/ 602407 w 659558"/>
                <a:gd name="connsiteY8" fmla="*/ 659558 h 659558"/>
                <a:gd name="connsiteX9" fmla="*/ 57152 w 659558"/>
                <a:gd name="connsiteY9" fmla="*/ 659558 h 659558"/>
                <a:gd name="connsiteX10" fmla="*/ 38812 w 659558"/>
                <a:gd name="connsiteY10" fmla="*/ 655856 h 659558"/>
                <a:gd name="connsiteX11" fmla="*/ 3703 w 659558"/>
                <a:gd name="connsiteY11" fmla="*/ 620746 h 659558"/>
                <a:gd name="connsiteX12" fmla="*/ 0 w 659558"/>
                <a:gd name="connsiteY12" fmla="*/ 602407 h 659558"/>
                <a:gd name="connsiteX13" fmla="*/ 0 w 659558"/>
                <a:gd name="connsiteY13" fmla="*/ 57152 h 659558"/>
                <a:gd name="connsiteX14" fmla="*/ 3703 w 659558"/>
                <a:gd name="connsiteY14" fmla="*/ 38812 h 659558"/>
                <a:gd name="connsiteX15" fmla="*/ 38812 w 659558"/>
                <a:gd name="connsiteY15" fmla="*/ 3703 h 659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9558" h="659558">
                  <a:moveTo>
                    <a:pt x="57152" y="0"/>
                  </a:moveTo>
                  <a:lnTo>
                    <a:pt x="602407" y="0"/>
                  </a:lnTo>
                  <a:lnTo>
                    <a:pt x="620746" y="3703"/>
                  </a:lnTo>
                  <a:cubicBezTo>
                    <a:pt x="636532" y="10380"/>
                    <a:pt x="649179" y="23026"/>
                    <a:pt x="655856" y="38812"/>
                  </a:cubicBezTo>
                  <a:lnTo>
                    <a:pt x="659558" y="57152"/>
                  </a:lnTo>
                  <a:lnTo>
                    <a:pt x="659558" y="602407"/>
                  </a:lnTo>
                  <a:lnTo>
                    <a:pt x="655856" y="620746"/>
                  </a:lnTo>
                  <a:cubicBezTo>
                    <a:pt x="649179" y="636532"/>
                    <a:pt x="636532" y="649178"/>
                    <a:pt x="620746" y="655856"/>
                  </a:cubicBezTo>
                  <a:lnTo>
                    <a:pt x="602407" y="659558"/>
                  </a:lnTo>
                  <a:lnTo>
                    <a:pt x="57152" y="659558"/>
                  </a:lnTo>
                  <a:lnTo>
                    <a:pt x="38812" y="655856"/>
                  </a:lnTo>
                  <a:cubicBezTo>
                    <a:pt x="23026" y="649178"/>
                    <a:pt x="10380" y="636532"/>
                    <a:pt x="3703" y="620746"/>
                  </a:cubicBezTo>
                  <a:lnTo>
                    <a:pt x="0" y="602407"/>
                  </a:lnTo>
                  <a:lnTo>
                    <a:pt x="0" y="57152"/>
                  </a:lnTo>
                  <a:lnTo>
                    <a:pt x="3703" y="38812"/>
                  </a:lnTo>
                  <a:cubicBezTo>
                    <a:pt x="10380" y="23026"/>
                    <a:pt x="23026" y="10380"/>
                    <a:pt x="38812" y="3703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0" name="그림 1069" descr="바이탈힌트 코리아, 레시피공유 앱 '해먹남녀' iOS버전 출시 - 플래텀">
              <a:extLst>
                <a:ext uri="{FF2B5EF4-FFF2-40B4-BE49-F238E27FC236}">
                  <a16:creationId xmlns:a16="http://schemas.microsoft.com/office/drawing/2014/main" id="{D8622EFD-6A26-EADB-058E-1589D8ED95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3" t="3485" r="3313" b="3485"/>
            <a:stretch>
              <a:fillRect/>
            </a:stretch>
          </p:blipFill>
          <p:spPr bwMode="auto">
            <a:xfrm>
              <a:off x="5713423" y="3938023"/>
              <a:ext cx="662522" cy="662522"/>
            </a:xfrm>
            <a:custGeom>
              <a:avLst/>
              <a:gdLst>
                <a:gd name="connsiteX0" fmla="*/ 65974 w 662522"/>
                <a:gd name="connsiteY0" fmla="*/ 0 h 662522"/>
                <a:gd name="connsiteX1" fmla="*/ 596548 w 662522"/>
                <a:gd name="connsiteY1" fmla="*/ 0 h 662522"/>
                <a:gd name="connsiteX2" fmla="*/ 662522 w 662522"/>
                <a:gd name="connsiteY2" fmla="*/ 65974 h 662522"/>
                <a:gd name="connsiteX3" fmla="*/ 662522 w 662522"/>
                <a:gd name="connsiteY3" fmla="*/ 596548 h 662522"/>
                <a:gd name="connsiteX4" fmla="*/ 596548 w 662522"/>
                <a:gd name="connsiteY4" fmla="*/ 662522 h 662522"/>
                <a:gd name="connsiteX5" fmla="*/ 65974 w 662522"/>
                <a:gd name="connsiteY5" fmla="*/ 662522 h 662522"/>
                <a:gd name="connsiteX6" fmla="*/ 0 w 662522"/>
                <a:gd name="connsiteY6" fmla="*/ 596548 h 662522"/>
                <a:gd name="connsiteX7" fmla="*/ 0 w 662522"/>
                <a:gd name="connsiteY7" fmla="*/ 65974 h 662522"/>
                <a:gd name="connsiteX8" fmla="*/ 65974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65974" y="0"/>
                  </a:moveTo>
                  <a:lnTo>
                    <a:pt x="596548" y="0"/>
                  </a:lnTo>
                  <a:cubicBezTo>
                    <a:pt x="632984" y="0"/>
                    <a:pt x="662522" y="29538"/>
                    <a:pt x="662522" y="65974"/>
                  </a:cubicBezTo>
                  <a:lnTo>
                    <a:pt x="662522" y="596548"/>
                  </a:lnTo>
                  <a:cubicBezTo>
                    <a:pt x="662522" y="632984"/>
                    <a:pt x="632984" y="662522"/>
                    <a:pt x="596548" y="662522"/>
                  </a:cubicBezTo>
                  <a:lnTo>
                    <a:pt x="65974" y="662522"/>
                  </a:lnTo>
                  <a:cubicBezTo>
                    <a:pt x="29538" y="662522"/>
                    <a:pt x="0" y="632984"/>
                    <a:pt x="0" y="596548"/>
                  </a:cubicBezTo>
                  <a:lnTo>
                    <a:pt x="0" y="65974"/>
                  </a:lnTo>
                  <a:cubicBezTo>
                    <a:pt x="0" y="29538"/>
                    <a:pt x="29538" y="0"/>
                    <a:pt x="65974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9" name="그룹 1088">
            <a:extLst>
              <a:ext uri="{FF2B5EF4-FFF2-40B4-BE49-F238E27FC236}">
                <a16:creationId xmlns:a16="http://schemas.microsoft.com/office/drawing/2014/main" id="{D412D37E-2BF0-E0F0-146B-92533A6CB591}"/>
              </a:ext>
            </a:extLst>
          </p:cNvPr>
          <p:cNvGrpSpPr/>
          <p:nvPr/>
        </p:nvGrpSpPr>
        <p:grpSpPr>
          <a:xfrm>
            <a:off x="7425668" y="3825389"/>
            <a:ext cx="2060076" cy="662654"/>
            <a:chOff x="7425668" y="3825389"/>
            <a:chExt cx="2060076" cy="662654"/>
          </a:xfrm>
        </p:grpSpPr>
        <p:pic>
          <p:nvPicPr>
            <p:cNvPr id="1084" name="그림 1083" descr="알아 두면 편리한 구글 렌즈 10가지 기능! : 네이버 블로그">
              <a:extLst>
                <a:ext uri="{FF2B5EF4-FFF2-40B4-BE49-F238E27FC236}">
                  <a16:creationId xmlns:a16="http://schemas.microsoft.com/office/drawing/2014/main" id="{08568387-275A-8389-C903-CCD6A67C3D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83" t="7828" r="23416" b="5220"/>
            <a:stretch>
              <a:fillRect/>
            </a:stretch>
          </p:blipFill>
          <p:spPr bwMode="auto">
            <a:xfrm>
              <a:off x="7425668" y="3825521"/>
              <a:ext cx="662522" cy="662522"/>
            </a:xfrm>
            <a:custGeom>
              <a:avLst/>
              <a:gdLst>
                <a:gd name="connsiteX0" fmla="*/ 65974 w 662522"/>
                <a:gd name="connsiteY0" fmla="*/ 0 h 662522"/>
                <a:gd name="connsiteX1" fmla="*/ 596548 w 662522"/>
                <a:gd name="connsiteY1" fmla="*/ 0 h 662522"/>
                <a:gd name="connsiteX2" fmla="*/ 662522 w 662522"/>
                <a:gd name="connsiteY2" fmla="*/ 65974 h 662522"/>
                <a:gd name="connsiteX3" fmla="*/ 662522 w 662522"/>
                <a:gd name="connsiteY3" fmla="*/ 596548 h 662522"/>
                <a:gd name="connsiteX4" fmla="*/ 596548 w 662522"/>
                <a:gd name="connsiteY4" fmla="*/ 662522 h 662522"/>
                <a:gd name="connsiteX5" fmla="*/ 65974 w 662522"/>
                <a:gd name="connsiteY5" fmla="*/ 662522 h 662522"/>
                <a:gd name="connsiteX6" fmla="*/ 0 w 662522"/>
                <a:gd name="connsiteY6" fmla="*/ 596548 h 662522"/>
                <a:gd name="connsiteX7" fmla="*/ 0 w 662522"/>
                <a:gd name="connsiteY7" fmla="*/ 65974 h 662522"/>
                <a:gd name="connsiteX8" fmla="*/ 65974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65974" y="0"/>
                  </a:moveTo>
                  <a:lnTo>
                    <a:pt x="596548" y="0"/>
                  </a:lnTo>
                  <a:cubicBezTo>
                    <a:pt x="632984" y="0"/>
                    <a:pt x="662522" y="29538"/>
                    <a:pt x="662522" y="65974"/>
                  </a:cubicBezTo>
                  <a:lnTo>
                    <a:pt x="662522" y="596548"/>
                  </a:lnTo>
                  <a:cubicBezTo>
                    <a:pt x="662522" y="632984"/>
                    <a:pt x="632984" y="662522"/>
                    <a:pt x="596548" y="662522"/>
                  </a:cubicBezTo>
                  <a:lnTo>
                    <a:pt x="65974" y="662522"/>
                  </a:lnTo>
                  <a:cubicBezTo>
                    <a:pt x="29538" y="662522"/>
                    <a:pt x="0" y="632984"/>
                    <a:pt x="0" y="596548"/>
                  </a:cubicBezTo>
                  <a:lnTo>
                    <a:pt x="0" y="65974"/>
                  </a:lnTo>
                  <a:cubicBezTo>
                    <a:pt x="0" y="29538"/>
                    <a:pt x="29538" y="0"/>
                    <a:pt x="65974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5" name="그림 1084" descr="App Store에서 제공하는 Samsung Food">
              <a:extLst>
                <a:ext uri="{FF2B5EF4-FFF2-40B4-BE49-F238E27FC236}">
                  <a16:creationId xmlns:a16="http://schemas.microsoft.com/office/drawing/2014/main" id="{932FB31E-A869-4776-FDB3-91ECC0D09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92" t="4004" r="27392" b="5576"/>
            <a:stretch>
              <a:fillRect/>
            </a:stretch>
          </p:blipFill>
          <p:spPr bwMode="auto">
            <a:xfrm>
              <a:off x="8823222" y="3825389"/>
              <a:ext cx="662522" cy="662522"/>
            </a:xfrm>
            <a:custGeom>
              <a:avLst/>
              <a:gdLst>
                <a:gd name="connsiteX0" fmla="*/ 65974 w 662522"/>
                <a:gd name="connsiteY0" fmla="*/ 0 h 662522"/>
                <a:gd name="connsiteX1" fmla="*/ 596548 w 662522"/>
                <a:gd name="connsiteY1" fmla="*/ 0 h 662522"/>
                <a:gd name="connsiteX2" fmla="*/ 662522 w 662522"/>
                <a:gd name="connsiteY2" fmla="*/ 65974 h 662522"/>
                <a:gd name="connsiteX3" fmla="*/ 662522 w 662522"/>
                <a:gd name="connsiteY3" fmla="*/ 596548 h 662522"/>
                <a:gd name="connsiteX4" fmla="*/ 596548 w 662522"/>
                <a:gd name="connsiteY4" fmla="*/ 662522 h 662522"/>
                <a:gd name="connsiteX5" fmla="*/ 65974 w 662522"/>
                <a:gd name="connsiteY5" fmla="*/ 662522 h 662522"/>
                <a:gd name="connsiteX6" fmla="*/ 0 w 662522"/>
                <a:gd name="connsiteY6" fmla="*/ 596548 h 662522"/>
                <a:gd name="connsiteX7" fmla="*/ 0 w 662522"/>
                <a:gd name="connsiteY7" fmla="*/ 65974 h 662522"/>
                <a:gd name="connsiteX8" fmla="*/ 65974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65974" y="0"/>
                  </a:moveTo>
                  <a:lnTo>
                    <a:pt x="596548" y="0"/>
                  </a:lnTo>
                  <a:cubicBezTo>
                    <a:pt x="632984" y="0"/>
                    <a:pt x="662522" y="29538"/>
                    <a:pt x="662522" y="65974"/>
                  </a:cubicBezTo>
                  <a:lnTo>
                    <a:pt x="662522" y="596548"/>
                  </a:lnTo>
                  <a:cubicBezTo>
                    <a:pt x="662522" y="632984"/>
                    <a:pt x="632984" y="662522"/>
                    <a:pt x="596548" y="662522"/>
                  </a:cubicBezTo>
                  <a:lnTo>
                    <a:pt x="65974" y="662522"/>
                  </a:lnTo>
                  <a:cubicBezTo>
                    <a:pt x="29538" y="662522"/>
                    <a:pt x="0" y="632984"/>
                    <a:pt x="0" y="596548"/>
                  </a:cubicBezTo>
                  <a:lnTo>
                    <a:pt x="0" y="65974"/>
                  </a:lnTo>
                  <a:cubicBezTo>
                    <a:pt x="0" y="29538"/>
                    <a:pt x="29538" y="0"/>
                    <a:pt x="65974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86" name="그룹 1085">
              <a:extLst>
                <a:ext uri="{FF2B5EF4-FFF2-40B4-BE49-F238E27FC236}">
                  <a16:creationId xmlns:a16="http://schemas.microsoft.com/office/drawing/2014/main" id="{9108FFF2-7050-2AAB-377E-A012A0C5E62D}"/>
                </a:ext>
              </a:extLst>
            </p:cNvPr>
            <p:cNvGrpSpPr/>
            <p:nvPr/>
          </p:nvGrpSpPr>
          <p:grpSpPr>
            <a:xfrm>
              <a:off x="8124445" y="3825389"/>
              <a:ext cx="662522" cy="662522"/>
              <a:chOff x="9046990" y="3178891"/>
              <a:chExt cx="662522" cy="662522"/>
            </a:xfrm>
          </p:grpSpPr>
          <p:sp>
            <p:nvSpPr>
              <p:cNvPr id="1087" name="사각형: 둥근 모서리 1086">
                <a:extLst>
                  <a:ext uri="{FF2B5EF4-FFF2-40B4-BE49-F238E27FC236}">
                    <a16:creationId xmlns:a16="http://schemas.microsoft.com/office/drawing/2014/main" id="{A0C5FFFB-F471-1E81-5B66-62A70896AC67}"/>
                  </a:ext>
                </a:extLst>
              </p:cNvPr>
              <p:cNvSpPr/>
              <p:nvPr/>
            </p:nvSpPr>
            <p:spPr>
              <a:xfrm>
                <a:off x="9046990" y="3178891"/>
                <a:ext cx="662522" cy="662522"/>
              </a:xfrm>
              <a:prstGeom prst="roundRect">
                <a:avLst>
                  <a:gd name="adj" fmla="val 99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088" name="Picture 16" descr="네이버 스마트렌즈">
                <a:extLst>
                  <a:ext uri="{FF2B5EF4-FFF2-40B4-BE49-F238E27FC236}">
                    <a16:creationId xmlns:a16="http://schemas.microsoft.com/office/drawing/2014/main" id="{825A07C2-6277-899A-DB33-6B251F81E2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52427" y="3238310"/>
                <a:ext cx="451650" cy="4324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97" name="그룹 1096">
            <a:extLst>
              <a:ext uri="{FF2B5EF4-FFF2-40B4-BE49-F238E27FC236}">
                <a16:creationId xmlns:a16="http://schemas.microsoft.com/office/drawing/2014/main" id="{18067912-1249-C129-2D69-FF53950C1F76}"/>
              </a:ext>
            </a:extLst>
          </p:cNvPr>
          <p:cNvGrpSpPr/>
          <p:nvPr/>
        </p:nvGrpSpPr>
        <p:grpSpPr>
          <a:xfrm>
            <a:off x="1206070" y="3825389"/>
            <a:ext cx="2059954" cy="662654"/>
            <a:chOff x="1206070" y="3825389"/>
            <a:chExt cx="2059954" cy="662654"/>
          </a:xfrm>
        </p:grpSpPr>
        <p:pic>
          <p:nvPicPr>
            <p:cNvPr id="127" name="그림 126" descr="MangoPlate - Restaurant Search - 안드로이드용 APK 다운로드 | Aptoide">
              <a:extLst>
                <a:ext uri="{FF2B5EF4-FFF2-40B4-BE49-F238E27FC236}">
                  <a16:creationId xmlns:a16="http://schemas.microsoft.com/office/drawing/2014/main" id="{9160A87C-09AF-2249-82F6-E007D2F5C0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3" t="2862" r="2233" b="1604"/>
            <a:stretch>
              <a:fillRect/>
            </a:stretch>
          </p:blipFill>
          <p:spPr bwMode="auto">
            <a:xfrm>
              <a:off x="1206070" y="3825521"/>
              <a:ext cx="662522" cy="662522"/>
            </a:xfrm>
            <a:custGeom>
              <a:avLst/>
              <a:gdLst>
                <a:gd name="connsiteX0" fmla="*/ 65974 w 662522"/>
                <a:gd name="connsiteY0" fmla="*/ 0 h 662522"/>
                <a:gd name="connsiteX1" fmla="*/ 596548 w 662522"/>
                <a:gd name="connsiteY1" fmla="*/ 0 h 662522"/>
                <a:gd name="connsiteX2" fmla="*/ 662522 w 662522"/>
                <a:gd name="connsiteY2" fmla="*/ 65974 h 662522"/>
                <a:gd name="connsiteX3" fmla="*/ 662522 w 662522"/>
                <a:gd name="connsiteY3" fmla="*/ 596548 h 662522"/>
                <a:gd name="connsiteX4" fmla="*/ 596548 w 662522"/>
                <a:gd name="connsiteY4" fmla="*/ 662522 h 662522"/>
                <a:gd name="connsiteX5" fmla="*/ 65974 w 662522"/>
                <a:gd name="connsiteY5" fmla="*/ 662522 h 662522"/>
                <a:gd name="connsiteX6" fmla="*/ 0 w 662522"/>
                <a:gd name="connsiteY6" fmla="*/ 596548 h 662522"/>
                <a:gd name="connsiteX7" fmla="*/ 0 w 662522"/>
                <a:gd name="connsiteY7" fmla="*/ 65974 h 662522"/>
                <a:gd name="connsiteX8" fmla="*/ 65974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65974" y="0"/>
                  </a:moveTo>
                  <a:lnTo>
                    <a:pt x="596548" y="0"/>
                  </a:lnTo>
                  <a:cubicBezTo>
                    <a:pt x="632984" y="0"/>
                    <a:pt x="662522" y="29538"/>
                    <a:pt x="662522" y="65974"/>
                  </a:cubicBezTo>
                  <a:lnTo>
                    <a:pt x="662522" y="596548"/>
                  </a:lnTo>
                  <a:cubicBezTo>
                    <a:pt x="662522" y="632984"/>
                    <a:pt x="632984" y="662522"/>
                    <a:pt x="596548" y="662522"/>
                  </a:cubicBezTo>
                  <a:lnTo>
                    <a:pt x="65974" y="662522"/>
                  </a:lnTo>
                  <a:cubicBezTo>
                    <a:pt x="29538" y="662522"/>
                    <a:pt x="0" y="632984"/>
                    <a:pt x="0" y="596548"/>
                  </a:cubicBezTo>
                  <a:lnTo>
                    <a:pt x="0" y="65974"/>
                  </a:lnTo>
                  <a:cubicBezTo>
                    <a:pt x="0" y="29538"/>
                    <a:pt x="29538" y="0"/>
                    <a:pt x="65974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" name="그림 1024" descr="다이닝코드 - 빅데이터 맛집검색 - Apps on Google Play">
              <a:extLst>
                <a:ext uri="{FF2B5EF4-FFF2-40B4-BE49-F238E27FC236}">
                  <a16:creationId xmlns:a16="http://schemas.microsoft.com/office/drawing/2014/main" id="{F476E09C-2CB2-593E-D178-39495567CC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0" t="1088" r="1751" b="1493"/>
            <a:stretch>
              <a:fillRect/>
            </a:stretch>
          </p:blipFill>
          <p:spPr bwMode="auto">
            <a:xfrm flipH="1">
              <a:off x="1904847" y="3825389"/>
              <a:ext cx="662522" cy="662522"/>
            </a:xfrm>
            <a:custGeom>
              <a:avLst/>
              <a:gdLst>
                <a:gd name="connsiteX0" fmla="*/ 596548 w 662522"/>
                <a:gd name="connsiteY0" fmla="*/ 0 h 662522"/>
                <a:gd name="connsiteX1" fmla="*/ 65974 w 662522"/>
                <a:gd name="connsiteY1" fmla="*/ 0 h 662522"/>
                <a:gd name="connsiteX2" fmla="*/ 0 w 662522"/>
                <a:gd name="connsiteY2" fmla="*/ 65974 h 662522"/>
                <a:gd name="connsiteX3" fmla="*/ 0 w 662522"/>
                <a:gd name="connsiteY3" fmla="*/ 596548 h 662522"/>
                <a:gd name="connsiteX4" fmla="*/ 65974 w 662522"/>
                <a:gd name="connsiteY4" fmla="*/ 662522 h 662522"/>
                <a:gd name="connsiteX5" fmla="*/ 596548 w 662522"/>
                <a:gd name="connsiteY5" fmla="*/ 662522 h 662522"/>
                <a:gd name="connsiteX6" fmla="*/ 662522 w 662522"/>
                <a:gd name="connsiteY6" fmla="*/ 596548 h 662522"/>
                <a:gd name="connsiteX7" fmla="*/ 662522 w 662522"/>
                <a:gd name="connsiteY7" fmla="*/ 65974 h 662522"/>
                <a:gd name="connsiteX8" fmla="*/ 596548 w 662522"/>
                <a:gd name="connsiteY8" fmla="*/ 0 h 66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522" h="662522">
                  <a:moveTo>
                    <a:pt x="596548" y="0"/>
                  </a:moveTo>
                  <a:lnTo>
                    <a:pt x="65974" y="0"/>
                  </a:lnTo>
                  <a:cubicBezTo>
                    <a:pt x="29538" y="0"/>
                    <a:pt x="0" y="29538"/>
                    <a:pt x="0" y="65974"/>
                  </a:cubicBezTo>
                  <a:lnTo>
                    <a:pt x="0" y="596548"/>
                  </a:lnTo>
                  <a:cubicBezTo>
                    <a:pt x="0" y="632984"/>
                    <a:pt x="29538" y="662522"/>
                    <a:pt x="65974" y="662522"/>
                  </a:cubicBezTo>
                  <a:lnTo>
                    <a:pt x="596548" y="662522"/>
                  </a:lnTo>
                  <a:cubicBezTo>
                    <a:pt x="632984" y="662522"/>
                    <a:pt x="662522" y="632984"/>
                    <a:pt x="662522" y="596548"/>
                  </a:cubicBezTo>
                  <a:lnTo>
                    <a:pt x="662522" y="65974"/>
                  </a:lnTo>
                  <a:cubicBezTo>
                    <a:pt x="662522" y="29538"/>
                    <a:pt x="632984" y="0"/>
                    <a:pt x="59654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6" name="그림 1095" descr="소셜 언급량, 연관어, 감성분석 &lt;배달의 민족&gt;">
              <a:extLst>
                <a:ext uri="{FF2B5EF4-FFF2-40B4-BE49-F238E27FC236}">
                  <a16:creationId xmlns:a16="http://schemas.microsoft.com/office/drawing/2014/main" id="{E22B38F7-3946-471C-C26E-760E88344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" t="927" r="396"/>
            <a:stretch>
              <a:fillRect/>
            </a:stretch>
          </p:blipFill>
          <p:spPr bwMode="auto">
            <a:xfrm>
              <a:off x="2603624" y="3825389"/>
              <a:ext cx="662400" cy="661572"/>
            </a:xfrm>
            <a:custGeom>
              <a:avLst/>
              <a:gdLst>
                <a:gd name="connsiteX0" fmla="*/ 65160 w 662400"/>
                <a:gd name="connsiteY0" fmla="*/ 0 h 661572"/>
                <a:gd name="connsiteX1" fmla="*/ 597240 w 662400"/>
                <a:gd name="connsiteY1" fmla="*/ 0 h 661572"/>
                <a:gd name="connsiteX2" fmla="*/ 662400 w 662400"/>
                <a:gd name="connsiteY2" fmla="*/ 65160 h 661572"/>
                <a:gd name="connsiteX3" fmla="*/ 662400 w 662400"/>
                <a:gd name="connsiteY3" fmla="*/ 597240 h 661572"/>
                <a:gd name="connsiteX4" fmla="*/ 622604 w 662400"/>
                <a:gd name="connsiteY4" fmla="*/ 657280 h 661572"/>
                <a:gd name="connsiteX5" fmla="*/ 601342 w 662400"/>
                <a:gd name="connsiteY5" fmla="*/ 661572 h 661572"/>
                <a:gd name="connsiteX6" fmla="*/ 61059 w 662400"/>
                <a:gd name="connsiteY6" fmla="*/ 661572 h 661572"/>
                <a:gd name="connsiteX7" fmla="*/ 39797 w 662400"/>
                <a:gd name="connsiteY7" fmla="*/ 657280 h 661572"/>
                <a:gd name="connsiteX8" fmla="*/ 0 w 662400"/>
                <a:gd name="connsiteY8" fmla="*/ 597240 h 661572"/>
                <a:gd name="connsiteX9" fmla="*/ 0 w 662400"/>
                <a:gd name="connsiteY9" fmla="*/ 65160 h 661572"/>
                <a:gd name="connsiteX10" fmla="*/ 65160 w 662400"/>
                <a:gd name="connsiteY10" fmla="*/ 0 h 661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2400" h="661572">
                  <a:moveTo>
                    <a:pt x="65160" y="0"/>
                  </a:moveTo>
                  <a:lnTo>
                    <a:pt x="597240" y="0"/>
                  </a:lnTo>
                  <a:cubicBezTo>
                    <a:pt x="633227" y="0"/>
                    <a:pt x="662400" y="29173"/>
                    <a:pt x="662400" y="65160"/>
                  </a:cubicBezTo>
                  <a:lnTo>
                    <a:pt x="662400" y="597240"/>
                  </a:lnTo>
                  <a:cubicBezTo>
                    <a:pt x="662400" y="624231"/>
                    <a:pt x="645990" y="647388"/>
                    <a:pt x="622604" y="657280"/>
                  </a:cubicBezTo>
                  <a:lnTo>
                    <a:pt x="601342" y="661572"/>
                  </a:lnTo>
                  <a:lnTo>
                    <a:pt x="61059" y="661572"/>
                  </a:lnTo>
                  <a:lnTo>
                    <a:pt x="39797" y="657280"/>
                  </a:lnTo>
                  <a:cubicBezTo>
                    <a:pt x="16410" y="647388"/>
                    <a:pt x="0" y="624231"/>
                    <a:pt x="0" y="597240"/>
                  </a:cubicBezTo>
                  <a:lnTo>
                    <a:pt x="0" y="65160"/>
                  </a:lnTo>
                  <a:cubicBezTo>
                    <a:pt x="0" y="29173"/>
                    <a:pt x="29173" y="0"/>
                    <a:pt x="65160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98" name="직사각형 1097">
            <a:extLst>
              <a:ext uri="{FF2B5EF4-FFF2-40B4-BE49-F238E27FC236}">
                <a16:creationId xmlns:a16="http://schemas.microsoft.com/office/drawing/2014/main" id="{2CE4D5F7-6470-4EB0-645F-F1FEF66D180F}"/>
              </a:ext>
            </a:extLst>
          </p:cNvPr>
          <p:cNvSpPr/>
          <p:nvPr/>
        </p:nvSpPr>
        <p:spPr>
          <a:xfrm>
            <a:off x="8193798" y="4346843"/>
            <a:ext cx="514148" cy="111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>
                <a:solidFill>
                  <a:schemeClr val="tx1"/>
                </a:solidFill>
              </a:rPr>
              <a:t>네이버 스마트렌즈</a:t>
            </a:r>
          </a:p>
        </p:txBody>
      </p:sp>
      <p:sp>
        <p:nvSpPr>
          <p:cNvPr id="1099" name="직사각형 1098">
            <a:extLst>
              <a:ext uri="{FF2B5EF4-FFF2-40B4-BE49-F238E27FC236}">
                <a16:creationId xmlns:a16="http://schemas.microsoft.com/office/drawing/2014/main" id="{D97563A4-4F84-23B6-0877-9DD029EEC143}"/>
              </a:ext>
            </a:extLst>
          </p:cNvPr>
          <p:cNvSpPr/>
          <p:nvPr/>
        </p:nvSpPr>
        <p:spPr>
          <a:xfrm>
            <a:off x="8895452" y="4403264"/>
            <a:ext cx="514148" cy="111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>
                <a:solidFill>
                  <a:schemeClr val="tx1"/>
                </a:solidFill>
              </a:rPr>
              <a:t>삼성 </a:t>
            </a:r>
            <a:r>
              <a:rPr lang="ko-KR" altLang="en-US" sz="500" err="1">
                <a:solidFill>
                  <a:schemeClr val="tx1"/>
                </a:solidFill>
              </a:rPr>
              <a:t>푸드</a:t>
            </a:r>
            <a:endParaRPr lang="ko-KR" altLang="en-US" sz="500">
              <a:solidFill>
                <a:schemeClr val="tx1"/>
              </a:solidFill>
            </a:endParaRPr>
          </a:p>
        </p:txBody>
      </p:sp>
      <p:grpSp>
        <p:nvGrpSpPr>
          <p:cNvPr id="1109" name="그룹 1108">
            <a:extLst>
              <a:ext uri="{FF2B5EF4-FFF2-40B4-BE49-F238E27FC236}">
                <a16:creationId xmlns:a16="http://schemas.microsoft.com/office/drawing/2014/main" id="{A09080FE-FFF8-5C8D-430C-7BB7DA43A5F8}"/>
              </a:ext>
            </a:extLst>
          </p:cNvPr>
          <p:cNvGrpSpPr/>
          <p:nvPr/>
        </p:nvGrpSpPr>
        <p:grpSpPr>
          <a:xfrm>
            <a:off x="2236107" y="5293640"/>
            <a:ext cx="6219599" cy="995837"/>
            <a:chOff x="2236107" y="5293640"/>
            <a:chExt cx="6219599" cy="995837"/>
          </a:xfrm>
        </p:grpSpPr>
        <p:cxnSp>
          <p:nvCxnSpPr>
            <p:cNvPr id="1101" name="연결선: 꺾임 1100">
              <a:extLst>
                <a:ext uri="{FF2B5EF4-FFF2-40B4-BE49-F238E27FC236}">
                  <a16:creationId xmlns:a16="http://schemas.microsoft.com/office/drawing/2014/main" id="{9E1B44CC-6F7D-605D-B677-05F872CAE31F}"/>
                </a:ext>
              </a:extLst>
            </p:cNvPr>
            <p:cNvCxnSpPr>
              <a:cxnSpLocks/>
              <a:stCxn id="7" idx="2"/>
              <a:endCxn id="56" idx="0"/>
            </p:cNvCxnSpPr>
            <p:nvPr/>
          </p:nvCxnSpPr>
          <p:spPr>
            <a:xfrm rot="16200000" flipH="1">
              <a:off x="3293089" y="4236658"/>
              <a:ext cx="995836" cy="3109799"/>
            </a:xfrm>
            <a:prstGeom prst="bentConnector3">
              <a:avLst/>
            </a:prstGeom>
            <a:ln>
              <a:solidFill>
                <a:srgbClr val="9A8B8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연결선: 꺾임 1102">
              <a:extLst>
                <a:ext uri="{FF2B5EF4-FFF2-40B4-BE49-F238E27FC236}">
                  <a16:creationId xmlns:a16="http://schemas.microsoft.com/office/drawing/2014/main" id="{B0F96BA4-1125-6338-53BC-CF21337C4825}"/>
                </a:ext>
              </a:extLst>
            </p:cNvPr>
            <p:cNvCxnSpPr>
              <a:cxnSpLocks/>
              <a:stCxn id="50" idx="2"/>
              <a:endCxn id="56" idx="0"/>
            </p:cNvCxnSpPr>
            <p:nvPr/>
          </p:nvCxnSpPr>
          <p:spPr>
            <a:xfrm rot="5400000">
              <a:off x="6402889" y="4236659"/>
              <a:ext cx="995836" cy="310979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9A8B8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직선 연결선 1106">
              <a:extLst>
                <a:ext uri="{FF2B5EF4-FFF2-40B4-BE49-F238E27FC236}">
                  <a16:creationId xmlns:a16="http://schemas.microsoft.com/office/drawing/2014/main" id="{1AA3611D-51D7-A9B6-8A0B-8C4AFF09328E}"/>
                </a:ext>
              </a:extLst>
            </p:cNvPr>
            <p:cNvCxnSpPr>
              <a:cxnSpLocks/>
              <a:stCxn id="41" idx="2"/>
            </p:cNvCxnSpPr>
            <p:nvPr/>
          </p:nvCxnSpPr>
          <p:spPr>
            <a:xfrm flipH="1">
              <a:off x="5344425" y="5293640"/>
              <a:ext cx="1482" cy="903217"/>
            </a:xfrm>
            <a:prstGeom prst="line">
              <a:avLst/>
            </a:prstGeom>
            <a:ln>
              <a:solidFill>
                <a:srgbClr val="9A8B8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0" name="타원 1109">
            <a:extLst>
              <a:ext uri="{FF2B5EF4-FFF2-40B4-BE49-F238E27FC236}">
                <a16:creationId xmlns:a16="http://schemas.microsoft.com/office/drawing/2014/main" id="{3766C76D-F5A4-0F5F-D71D-C02A479054DE}"/>
              </a:ext>
            </a:extLst>
          </p:cNvPr>
          <p:cNvSpPr/>
          <p:nvPr/>
        </p:nvSpPr>
        <p:spPr>
          <a:xfrm>
            <a:off x="2160183" y="5189533"/>
            <a:ext cx="151852" cy="1518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1" name="타원 1110">
            <a:extLst>
              <a:ext uri="{FF2B5EF4-FFF2-40B4-BE49-F238E27FC236}">
                <a16:creationId xmlns:a16="http://schemas.microsoft.com/office/drawing/2014/main" id="{4B34F5A7-A5BB-C215-0FC1-A0C0D6058EA9}"/>
              </a:ext>
            </a:extLst>
          </p:cNvPr>
          <p:cNvSpPr/>
          <p:nvPr/>
        </p:nvSpPr>
        <p:spPr>
          <a:xfrm>
            <a:off x="5269979" y="5189533"/>
            <a:ext cx="151852" cy="1518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2" name="타원 1111">
            <a:extLst>
              <a:ext uri="{FF2B5EF4-FFF2-40B4-BE49-F238E27FC236}">
                <a16:creationId xmlns:a16="http://schemas.microsoft.com/office/drawing/2014/main" id="{498E2026-7EA6-C4AD-43D3-467DDD81B152}"/>
              </a:ext>
            </a:extLst>
          </p:cNvPr>
          <p:cNvSpPr/>
          <p:nvPr/>
        </p:nvSpPr>
        <p:spPr>
          <a:xfrm>
            <a:off x="8374946" y="5189533"/>
            <a:ext cx="151852" cy="151848"/>
          </a:xfrm>
          <a:prstGeom prst="ellipse">
            <a:avLst/>
          </a:prstGeom>
          <a:solidFill>
            <a:schemeClr val="bg1"/>
          </a:solidFill>
          <a:ln w="38100"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3" name="직사각형 1112">
            <a:extLst>
              <a:ext uri="{FF2B5EF4-FFF2-40B4-BE49-F238E27FC236}">
                <a16:creationId xmlns:a16="http://schemas.microsoft.com/office/drawing/2014/main" id="{33E0EB62-3823-E773-FEED-70866F7A87D2}"/>
              </a:ext>
            </a:extLst>
          </p:cNvPr>
          <p:cNvSpPr/>
          <p:nvPr/>
        </p:nvSpPr>
        <p:spPr>
          <a:xfrm>
            <a:off x="-655788" y="7550167"/>
            <a:ext cx="12642998" cy="24867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2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79E4-0215-784B-783F-EC53F0E1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62C9AF-2C0F-ACC0-6847-58E39689144B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Ⅰ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개요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CAE82B7-9847-55E2-CA9B-33B33B4454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01B4199-0BFC-E9FC-E0FD-032A43155BF8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F4E5652-3006-A41F-B7C8-B6E2FCE4A6CF}"/>
              </a:ext>
            </a:extLst>
          </p:cNvPr>
          <p:cNvSpPr/>
          <p:nvPr/>
        </p:nvSpPr>
        <p:spPr>
          <a:xfrm>
            <a:off x="436336" y="672703"/>
            <a:ext cx="2586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08845F-21B8-CCE7-EEED-9DCC35205098}"/>
              </a:ext>
            </a:extLst>
          </p:cNvPr>
          <p:cNvSpPr/>
          <p:nvPr/>
        </p:nvSpPr>
        <p:spPr>
          <a:xfrm>
            <a:off x="1025869" y="688851"/>
            <a:ext cx="1914181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프로젝트 목표 및 </a:t>
            </a:r>
            <a:r>
              <a:rPr lang="ko-KR" altLang="en-US" sz="1400" spc="-90" err="1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차별점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3E44A049-CBE5-AA18-72C7-81272A47570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9CA063-039D-7706-A35B-2A114B70BB5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144E17-7AC0-601A-ED1B-B924C0B18A0D}"/>
              </a:ext>
            </a:extLst>
          </p:cNvPr>
          <p:cNvSpPr/>
          <p:nvPr/>
        </p:nvSpPr>
        <p:spPr>
          <a:xfrm>
            <a:off x="943826" y="1430678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시장 현황에서 발견된 문제점 분석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</a:p>
          <a:p>
            <a:r>
              <a: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이를 극복하기 위해 </a:t>
            </a:r>
            <a:r>
              <a:rPr lang="ko-KR" altLang="en-US" sz="2400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핵심 전략</a:t>
            </a:r>
            <a:r>
              <a: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과</a:t>
            </a:r>
            <a:r>
              <a:rPr lang="ko-KR" altLang="en-US" sz="2400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 새로운 가치 </a:t>
            </a:r>
            <a:r>
              <a: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제시</a:t>
            </a:r>
            <a:endParaRPr lang="en-US" altLang="ko-KR" sz="2600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7E644049-9ED4-FF9B-0A39-66054FA8E43D}"/>
              </a:ext>
            </a:extLst>
          </p:cNvPr>
          <p:cNvSpPr/>
          <p:nvPr/>
        </p:nvSpPr>
        <p:spPr>
          <a:xfrm>
            <a:off x="6222389" y="4416631"/>
            <a:ext cx="3562350" cy="427321"/>
          </a:xfrm>
          <a:prstGeom prst="roundRect">
            <a:avLst>
              <a:gd name="adj" fmla="val 50000"/>
            </a:avLst>
          </a:prstGeom>
          <a:solidFill>
            <a:srgbClr val="9A8B80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02ED3AD-B853-4EC6-4600-CA341A9739B1}"/>
              </a:ext>
            </a:extLst>
          </p:cNvPr>
          <p:cNvSpPr/>
          <p:nvPr/>
        </p:nvSpPr>
        <p:spPr>
          <a:xfrm>
            <a:off x="6545901" y="4457319"/>
            <a:ext cx="3033205" cy="338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음식과 식재료 통합 정보 제공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EE9B651-C9A8-B0D7-2B76-0DCE6627145D}"/>
              </a:ext>
            </a:extLst>
          </p:cNvPr>
          <p:cNvSpPr/>
          <p:nvPr/>
        </p:nvSpPr>
        <p:spPr>
          <a:xfrm>
            <a:off x="6573522" y="4011489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이미지를 넘어 데이터를 제공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DA184E0-33CE-9876-3D0A-29F675C6F103}"/>
              </a:ext>
            </a:extLst>
          </p:cNvPr>
          <p:cNvGrpSpPr/>
          <p:nvPr/>
        </p:nvGrpSpPr>
        <p:grpSpPr>
          <a:xfrm>
            <a:off x="943826" y="2654357"/>
            <a:ext cx="8840913" cy="889814"/>
            <a:chOff x="943826" y="2654357"/>
            <a:chExt cx="8840913" cy="889814"/>
          </a:xfrm>
        </p:grpSpPr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47461751-1473-A5CD-52C6-0AF8118D4EC2}"/>
                </a:ext>
              </a:extLst>
            </p:cNvPr>
            <p:cNvGrpSpPr/>
            <p:nvPr/>
          </p:nvGrpSpPr>
          <p:grpSpPr>
            <a:xfrm>
              <a:off x="943826" y="2654357"/>
              <a:ext cx="4757565" cy="889814"/>
              <a:chOff x="943826" y="2654357"/>
              <a:chExt cx="4757565" cy="889814"/>
            </a:xfrm>
          </p:grpSpPr>
          <p:sp>
            <p:nvSpPr>
              <p:cNvPr id="150" name="자유형: 도형 149">
                <a:extLst>
                  <a:ext uri="{FF2B5EF4-FFF2-40B4-BE49-F238E27FC236}">
                    <a16:creationId xmlns:a16="http://schemas.microsoft.com/office/drawing/2014/main" id="{E80CA720-A0DF-D992-28A2-3C2981E75AFD}"/>
                  </a:ext>
                </a:extLst>
              </p:cNvPr>
              <p:cNvSpPr/>
              <p:nvPr/>
            </p:nvSpPr>
            <p:spPr>
              <a:xfrm>
                <a:off x="4243309" y="3276932"/>
                <a:ext cx="1458082" cy="107156"/>
              </a:xfrm>
              <a:custGeom>
                <a:avLst/>
                <a:gdLst>
                  <a:gd name="connsiteX0" fmla="*/ 0 w 1418161"/>
                  <a:gd name="connsiteY0" fmla="*/ 114300 h 114300"/>
                  <a:gd name="connsiteX1" fmla="*/ 1316831 w 1418161"/>
                  <a:gd name="connsiteY1" fmla="*/ 109537 h 114300"/>
                  <a:gd name="connsiteX2" fmla="*/ 1328737 w 1418161"/>
                  <a:gd name="connsiteY2" fmla="*/ 0 h 114300"/>
                  <a:gd name="connsiteX0" fmla="*/ 0 w 1418161"/>
                  <a:gd name="connsiteY0" fmla="*/ 114300 h 114300"/>
                  <a:gd name="connsiteX1" fmla="*/ 1316831 w 1418161"/>
                  <a:gd name="connsiteY1" fmla="*/ 109537 h 114300"/>
                  <a:gd name="connsiteX2" fmla="*/ 1328737 w 1418161"/>
                  <a:gd name="connsiteY2" fmla="*/ 0 h 114300"/>
                  <a:gd name="connsiteX0" fmla="*/ 0 w 1418161"/>
                  <a:gd name="connsiteY0" fmla="*/ 114300 h 114300"/>
                  <a:gd name="connsiteX1" fmla="*/ 1316831 w 1418161"/>
                  <a:gd name="connsiteY1" fmla="*/ 109537 h 114300"/>
                  <a:gd name="connsiteX2" fmla="*/ 1328737 w 1418161"/>
                  <a:gd name="connsiteY2" fmla="*/ 0 h 114300"/>
                  <a:gd name="connsiteX0" fmla="*/ 0 w 1405141"/>
                  <a:gd name="connsiteY0" fmla="*/ 107156 h 107156"/>
                  <a:gd name="connsiteX1" fmla="*/ 1316831 w 1405141"/>
                  <a:gd name="connsiteY1" fmla="*/ 102393 h 107156"/>
                  <a:gd name="connsiteX2" fmla="*/ 1288256 w 1405141"/>
                  <a:gd name="connsiteY2" fmla="*/ 0 h 107156"/>
                  <a:gd name="connsiteX0" fmla="*/ 0 w 1439029"/>
                  <a:gd name="connsiteY0" fmla="*/ 107156 h 107156"/>
                  <a:gd name="connsiteX1" fmla="*/ 1316831 w 1439029"/>
                  <a:gd name="connsiteY1" fmla="*/ 102393 h 107156"/>
                  <a:gd name="connsiteX2" fmla="*/ 1288256 w 1439029"/>
                  <a:gd name="connsiteY2" fmla="*/ 0 h 107156"/>
                  <a:gd name="connsiteX0" fmla="*/ 0 w 1440457"/>
                  <a:gd name="connsiteY0" fmla="*/ 107156 h 107156"/>
                  <a:gd name="connsiteX1" fmla="*/ 1316831 w 1440457"/>
                  <a:gd name="connsiteY1" fmla="*/ 102393 h 107156"/>
                  <a:gd name="connsiteX2" fmla="*/ 1288256 w 1440457"/>
                  <a:gd name="connsiteY2" fmla="*/ 0 h 107156"/>
                  <a:gd name="connsiteX0" fmla="*/ 0 w 1447584"/>
                  <a:gd name="connsiteY0" fmla="*/ 107156 h 107156"/>
                  <a:gd name="connsiteX1" fmla="*/ 1316831 w 1447584"/>
                  <a:gd name="connsiteY1" fmla="*/ 102393 h 107156"/>
                  <a:gd name="connsiteX2" fmla="*/ 1288256 w 1447584"/>
                  <a:gd name="connsiteY2" fmla="*/ 0 h 107156"/>
                  <a:gd name="connsiteX0" fmla="*/ 0 w 1447584"/>
                  <a:gd name="connsiteY0" fmla="*/ 107156 h 107156"/>
                  <a:gd name="connsiteX1" fmla="*/ 1316831 w 1447584"/>
                  <a:gd name="connsiteY1" fmla="*/ 102393 h 107156"/>
                  <a:gd name="connsiteX2" fmla="*/ 1288256 w 1447584"/>
                  <a:gd name="connsiteY2" fmla="*/ 0 h 107156"/>
                  <a:gd name="connsiteX0" fmla="*/ 0 w 1448604"/>
                  <a:gd name="connsiteY0" fmla="*/ 107156 h 107156"/>
                  <a:gd name="connsiteX1" fmla="*/ 1316831 w 1448604"/>
                  <a:gd name="connsiteY1" fmla="*/ 102393 h 107156"/>
                  <a:gd name="connsiteX2" fmla="*/ 1288256 w 1448604"/>
                  <a:gd name="connsiteY2" fmla="*/ 0 h 107156"/>
                  <a:gd name="connsiteX0" fmla="*/ 0 w 1458082"/>
                  <a:gd name="connsiteY0" fmla="*/ 107156 h 107156"/>
                  <a:gd name="connsiteX1" fmla="*/ 1316831 w 1458082"/>
                  <a:gd name="connsiteY1" fmla="*/ 102393 h 107156"/>
                  <a:gd name="connsiteX2" fmla="*/ 1288256 w 1458082"/>
                  <a:gd name="connsiteY2" fmla="*/ 0 h 107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58082" h="107156">
                    <a:moveTo>
                      <a:pt x="0" y="107156"/>
                    </a:moveTo>
                    <a:lnTo>
                      <a:pt x="1316831" y="102393"/>
                    </a:lnTo>
                    <a:cubicBezTo>
                      <a:pt x="1550590" y="103584"/>
                      <a:pt x="1460896" y="98028"/>
                      <a:pt x="1288256" y="0"/>
                    </a:cubicBezTo>
                  </a:path>
                </a:pathLst>
              </a:custGeom>
              <a:ln w="28575">
                <a:solidFill>
                  <a:srgbClr val="F7853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3F1D313-D129-E58C-F20F-778040C04B15}"/>
                  </a:ext>
                </a:extLst>
              </p:cNvPr>
              <p:cNvSpPr/>
              <p:nvPr/>
            </p:nvSpPr>
            <p:spPr>
              <a:xfrm>
                <a:off x="1037483" y="3116850"/>
                <a:ext cx="3562350" cy="427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EFC7F581-B082-C70B-2690-4399C8CB2952}"/>
                  </a:ext>
                </a:extLst>
              </p:cNvPr>
              <p:cNvGrpSpPr/>
              <p:nvPr/>
            </p:nvGrpSpPr>
            <p:grpSpPr>
              <a:xfrm>
                <a:off x="943826" y="2654357"/>
                <a:ext cx="459774" cy="596849"/>
                <a:chOff x="493490" y="2878502"/>
                <a:chExt cx="578973" cy="751586"/>
              </a:xfrm>
            </p:grpSpPr>
            <p:sp>
              <p:nvSpPr>
                <p:cNvPr id="19" name="자유형: 도형 18">
                  <a:extLst>
                    <a:ext uri="{FF2B5EF4-FFF2-40B4-BE49-F238E27FC236}">
                      <a16:creationId xmlns:a16="http://schemas.microsoft.com/office/drawing/2014/main" id="{B263D423-0CE4-76DB-E9B0-708F1C99B067}"/>
                    </a:ext>
                  </a:extLst>
                </p:cNvPr>
                <p:cNvSpPr/>
                <p:nvPr/>
              </p:nvSpPr>
              <p:spPr>
                <a:xfrm>
                  <a:off x="493490" y="2878502"/>
                  <a:ext cx="578973" cy="751586"/>
                </a:xfrm>
                <a:custGeom>
                  <a:avLst/>
                  <a:gdLst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502516 w 721788"/>
                    <a:gd name="connsiteY3" fmla="*/ 692805 h 936981"/>
                    <a:gd name="connsiteX4" fmla="*/ 360894 w 721788"/>
                    <a:gd name="connsiteY4" fmla="*/ 936981 h 936981"/>
                    <a:gd name="connsiteX5" fmla="*/ 219272 w 721788"/>
                    <a:gd name="connsiteY5" fmla="*/ 692805 h 936981"/>
                    <a:gd name="connsiteX6" fmla="*/ 159115 w 721788"/>
                    <a:gd name="connsiteY6" fmla="*/ 660153 h 936981"/>
                    <a:gd name="connsiteX7" fmla="*/ 0 w 721788"/>
                    <a:gd name="connsiteY7" fmla="*/ 360894 h 936981"/>
                    <a:gd name="connsiteX8" fmla="*/ 360894 w 721788"/>
                    <a:gd name="connsiteY8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502516 w 721788"/>
                    <a:gd name="connsiteY3" fmla="*/ 692805 h 936981"/>
                    <a:gd name="connsiteX4" fmla="*/ 360894 w 721788"/>
                    <a:gd name="connsiteY4" fmla="*/ 936981 h 936981"/>
                    <a:gd name="connsiteX5" fmla="*/ 159115 w 721788"/>
                    <a:gd name="connsiteY5" fmla="*/ 660153 h 936981"/>
                    <a:gd name="connsiteX6" fmla="*/ 0 w 721788"/>
                    <a:gd name="connsiteY6" fmla="*/ 360894 h 936981"/>
                    <a:gd name="connsiteX7" fmla="*/ 360894 w 721788"/>
                    <a:gd name="connsiteY7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360894 w 721788"/>
                    <a:gd name="connsiteY3" fmla="*/ 936981 h 936981"/>
                    <a:gd name="connsiteX4" fmla="*/ 159115 w 721788"/>
                    <a:gd name="connsiteY4" fmla="*/ 660153 h 936981"/>
                    <a:gd name="connsiteX5" fmla="*/ 0 w 721788"/>
                    <a:gd name="connsiteY5" fmla="*/ 360894 h 936981"/>
                    <a:gd name="connsiteX6" fmla="*/ 360894 w 721788"/>
                    <a:gd name="connsiteY6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360894 w 721788"/>
                    <a:gd name="connsiteY3" fmla="*/ 936981 h 936981"/>
                    <a:gd name="connsiteX4" fmla="*/ 159115 w 721788"/>
                    <a:gd name="connsiteY4" fmla="*/ 660153 h 936981"/>
                    <a:gd name="connsiteX5" fmla="*/ 0 w 721788"/>
                    <a:gd name="connsiteY5" fmla="*/ 360894 h 936981"/>
                    <a:gd name="connsiteX6" fmla="*/ 360894 w 721788"/>
                    <a:gd name="connsiteY6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360894 w 721788"/>
                    <a:gd name="connsiteY3" fmla="*/ 936981 h 936981"/>
                    <a:gd name="connsiteX4" fmla="*/ 159115 w 721788"/>
                    <a:gd name="connsiteY4" fmla="*/ 660153 h 936981"/>
                    <a:gd name="connsiteX5" fmla="*/ 0 w 721788"/>
                    <a:gd name="connsiteY5" fmla="*/ 360894 h 936981"/>
                    <a:gd name="connsiteX6" fmla="*/ 360894 w 721788"/>
                    <a:gd name="connsiteY6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360894 w 721788"/>
                    <a:gd name="connsiteY3" fmla="*/ 936981 h 936981"/>
                    <a:gd name="connsiteX4" fmla="*/ 159115 w 721788"/>
                    <a:gd name="connsiteY4" fmla="*/ 660153 h 936981"/>
                    <a:gd name="connsiteX5" fmla="*/ 0 w 721788"/>
                    <a:gd name="connsiteY5" fmla="*/ 360894 h 936981"/>
                    <a:gd name="connsiteX6" fmla="*/ 360894 w 721788"/>
                    <a:gd name="connsiteY6" fmla="*/ 0 h 936981"/>
                    <a:gd name="connsiteX0" fmla="*/ 360894 w 721788"/>
                    <a:gd name="connsiteY0" fmla="*/ 0 h 936981"/>
                    <a:gd name="connsiteX1" fmla="*/ 721788 w 721788"/>
                    <a:gd name="connsiteY1" fmla="*/ 360894 h 936981"/>
                    <a:gd name="connsiteX2" fmla="*/ 562673 w 721788"/>
                    <a:gd name="connsiteY2" fmla="*/ 660153 h 936981"/>
                    <a:gd name="connsiteX3" fmla="*/ 360894 w 721788"/>
                    <a:gd name="connsiteY3" fmla="*/ 936981 h 936981"/>
                    <a:gd name="connsiteX4" fmla="*/ 159115 w 721788"/>
                    <a:gd name="connsiteY4" fmla="*/ 660153 h 936981"/>
                    <a:gd name="connsiteX5" fmla="*/ 0 w 721788"/>
                    <a:gd name="connsiteY5" fmla="*/ 360894 h 936981"/>
                    <a:gd name="connsiteX6" fmla="*/ 360894 w 721788"/>
                    <a:gd name="connsiteY6" fmla="*/ 0 h 936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21788" h="936981">
                      <a:moveTo>
                        <a:pt x="360894" y="0"/>
                      </a:moveTo>
                      <a:cubicBezTo>
                        <a:pt x="560210" y="0"/>
                        <a:pt x="721788" y="161578"/>
                        <a:pt x="721788" y="360894"/>
                      </a:cubicBezTo>
                      <a:cubicBezTo>
                        <a:pt x="721788" y="485467"/>
                        <a:pt x="635327" y="589462"/>
                        <a:pt x="562673" y="660153"/>
                      </a:cubicBezTo>
                      <a:cubicBezTo>
                        <a:pt x="489577" y="749511"/>
                        <a:pt x="428154" y="844705"/>
                        <a:pt x="360894" y="936981"/>
                      </a:cubicBezTo>
                      <a:cubicBezTo>
                        <a:pt x="293634" y="844705"/>
                        <a:pt x="236589" y="752429"/>
                        <a:pt x="159115" y="660153"/>
                      </a:cubicBezTo>
                      <a:cubicBezTo>
                        <a:pt x="93757" y="596757"/>
                        <a:pt x="0" y="485467"/>
                        <a:pt x="0" y="360894"/>
                      </a:cubicBezTo>
                      <a:cubicBezTo>
                        <a:pt x="0" y="161578"/>
                        <a:pt x="161578" y="0"/>
                        <a:pt x="360894" y="0"/>
                      </a:cubicBezTo>
                      <a:close/>
                    </a:path>
                  </a:pathLst>
                </a:custGeom>
                <a:solidFill>
                  <a:srgbClr val="F7853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4D6E4CE2-8166-4AF6-BCAE-A0F8692AB2B7}"/>
                    </a:ext>
                  </a:extLst>
                </p:cNvPr>
                <p:cNvSpPr/>
                <p:nvPr/>
              </p:nvSpPr>
              <p:spPr>
                <a:xfrm>
                  <a:off x="571989" y="2950721"/>
                  <a:ext cx="427320" cy="4273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>
                      <a:solidFill>
                        <a:srgbClr val="F78535"/>
                      </a:solidFill>
                      <a:latin typeface="페이퍼로지 6 SemiBold" pitchFamily="2" charset="-127"/>
                      <a:ea typeface="페이퍼로지 6 SemiBold" pitchFamily="2" charset="-127"/>
                    </a:rPr>
                    <a:t>1</a:t>
                  </a:r>
                  <a:endParaRPr lang="ko-KR" altLang="en-US">
                    <a:solidFill>
                      <a:srgbClr val="F78535"/>
                    </a:solidFill>
                    <a:latin typeface="페이퍼로지 6 SemiBold" pitchFamily="2" charset="-127"/>
                    <a:ea typeface="페이퍼로지 6 SemiBold" pitchFamily="2" charset="-127"/>
                  </a:endParaRPr>
                </a:p>
              </p:txBody>
            </p:sp>
          </p:grp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875AF5DD-5D00-98D5-7580-198057323031}"/>
                  </a:ext>
                </a:extLst>
              </p:cNvPr>
              <p:cNvSpPr/>
              <p:nvPr/>
            </p:nvSpPr>
            <p:spPr>
              <a:xfrm>
                <a:off x="1360995" y="3157538"/>
                <a:ext cx="3033205" cy="338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pc="-80" dirty="0">
                    <a:solidFill>
                      <a:srgbClr val="9A8B8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이미지인식과 트렌드 분석 별개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B79A32CF-EA63-9D69-1FBE-C240B5E5ED6E}"/>
                  </a:ext>
                </a:extLst>
              </p:cNvPr>
              <p:cNvSpPr/>
              <p:nvPr/>
            </p:nvSpPr>
            <p:spPr>
              <a:xfrm>
                <a:off x="1461995" y="2853067"/>
                <a:ext cx="2947207" cy="1894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400" spc="-8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단절된 정보 제공 </a:t>
                </a:r>
              </a:p>
            </p:txBody>
          </p:sp>
        </p:grpSp>
        <p:sp>
          <p:nvSpPr>
            <p:cNvPr id="104" name="사각형: 둥근 모서리 103">
              <a:extLst>
                <a:ext uri="{FF2B5EF4-FFF2-40B4-BE49-F238E27FC236}">
                  <a16:creationId xmlns:a16="http://schemas.microsoft.com/office/drawing/2014/main" id="{E002D342-E8C4-0DA7-B2E3-D16D8F6C54FD}"/>
                </a:ext>
              </a:extLst>
            </p:cNvPr>
            <p:cNvSpPr/>
            <p:nvPr/>
          </p:nvSpPr>
          <p:spPr>
            <a:xfrm>
              <a:off x="6222389" y="3116850"/>
              <a:ext cx="3562350" cy="427321"/>
            </a:xfrm>
            <a:prstGeom prst="roundRect">
              <a:avLst>
                <a:gd name="adj" fmla="val 50000"/>
              </a:avLst>
            </a:prstGeom>
            <a:solidFill>
              <a:srgbClr val="9A8B80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87A77339-0747-50F7-0EBA-9BF846E9757E}"/>
                </a:ext>
              </a:extLst>
            </p:cNvPr>
            <p:cNvSpPr/>
            <p:nvPr/>
          </p:nvSpPr>
          <p:spPr>
            <a:xfrm>
              <a:off x="6545901" y="3157538"/>
              <a:ext cx="3033205" cy="3381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20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트렌드 정보 제공 서비스</a:t>
              </a: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1B79DDBE-9865-677F-5341-307B88F46E6A}"/>
                </a:ext>
              </a:extLst>
            </p:cNvPr>
            <p:cNvSpPr/>
            <p:nvPr/>
          </p:nvSpPr>
          <p:spPr>
            <a:xfrm>
              <a:off x="6573522" y="2711708"/>
              <a:ext cx="2947207" cy="330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pc="-80" dirty="0">
                  <a:solidFill>
                    <a:srgbClr val="F78535"/>
                  </a:solidFill>
                  <a:latin typeface="페이퍼로지 7 Bold" pitchFamily="2" charset="-127"/>
                  <a:ea typeface="페이퍼로지 7 Bold" pitchFamily="2" charset="-127"/>
                </a:rPr>
                <a:t>One Shot Insite </a:t>
              </a:r>
              <a:r>
                <a:rPr lang="ko-KR" altLang="en-US" spc="-80" dirty="0">
                  <a:solidFill>
                    <a:srgbClr val="F78535"/>
                  </a:solidFill>
                  <a:latin typeface="페이퍼로지 7 Bold" pitchFamily="2" charset="-127"/>
                  <a:ea typeface="페이퍼로지 7 Bold" pitchFamily="2" charset="-127"/>
                </a:rPr>
                <a:t>제공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A972A6C-FA67-83FE-5138-D96921EBFE3F}"/>
                </a:ext>
              </a:extLst>
            </p:cNvPr>
            <p:cNvGrpSpPr/>
            <p:nvPr/>
          </p:nvGrpSpPr>
          <p:grpSpPr>
            <a:xfrm>
              <a:off x="6191070" y="2711708"/>
              <a:ext cx="339343" cy="339343"/>
              <a:chOff x="6191070" y="2711708"/>
              <a:chExt cx="339343" cy="339343"/>
            </a:xfrm>
          </p:grpSpPr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0D66335A-C919-F6F6-0905-854892574943}"/>
                  </a:ext>
                </a:extLst>
              </p:cNvPr>
              <p:cNvSpPr/>
              <p:nvPr/>
            </p:nvSpPr>
            <p:spPr>
              <a:xfrm>
                <a:off x="6191070" y="2711708"/>
                <a:ext cx="339343" cy="339343"/>
              </a:xfrm>
              <a:prstGeom prst="ellips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pic>
            <p:nvPicPr>
              <p:cNvPr id="131" name="그림 130">
                <a:extLst>
                  <a:ext uri="{FF2B5EF4-FFF2-40B4-BE49-F238E27FC236}">
                    <a16:creationId xmlns:a16="http://schemas.microsoft.com/office/drawing/2014/main" id="{FCB04D63-292F-EEB6-7188-E917EF2F1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1518" y="2765704"/>
                <a:ext cx="158446" cy="231351"/>
              </a:xfrm>
              <a:prstGeom prst="rect">
                <a:avLst/>
              </a:prstGeom>
            </p:spPr>
          </p:pic>
        </p:grp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0899666D-AB03-4A50-98A3-D8A1F795AB5C}"/>
              </a:ext>
            </a:extLst>
          </p:cNvPr>
          <p:cNvGrpSpPr/>
          <p:nvPr/>
        </p:nvGrpSpPr>
        <p:grpSpPr>
          <a:xfrm>
            <a:off x="943826" y="3954138"/>
            <a:ext cx="5586587" cy="889814"/>
            <a:chOff x="943826" y="3954138"/>
            <a:chExt cx="5586587" cy="889814"/>
          </a:xfrm>
        </p:grpSpPr>
        <p:sp>
          <p:nvSpPr>
            <p:cNvPr id="151" name="자유형: 도형 150">
              <a:extLst>
                <a:ext uri="{FF2B5EF4-FFF2-40B4-BE49-F238E27FC236}">
                  <a16:creationId xmlns:a16="http://schemas.microsoft.com/office/drawing/2014/main" id="{25C01F53-8A5C-49A1-4373-D20F8270AF73}"/>
                </a:ext>
              </a:extLst>
            </p:cNvPr>
            <p:cNvSpPr/>
            <p:nvPr/>
          </p:nvSpPr>
          <p:spPr>
            <a:xfrm>
              <a:off x="4243309" y="4576713"/>
              <a:ext cx="1458082" cy="107156"/>
            </a:xfrm>
            <a:custGeom>
              <a:avLst/>
              <a:gdLst>
                <a:gd name="connsiteX0" fmla="*/ 0 w 1418161"/>
                <a:gd name="connsiteY0" fmla="*/ 114300 h 114300"/>
                <a:gd name="connsiteX1" fmla="*/ 1316831 w 1418161"/>
                <a:gd name="connsiteY1" fmla="*/ 109537 h 114300"/>
                <a:gd name="connsiteX2" fmla="*/ 1328737 w 1418161"/>
                <a:gd name="connsiteY2" fmla="*/ 0 h 114300"/>
                <a:gd name="connsiteX0" fmla="*/ 0 w 1418161"/>
                <a:gd name="connsiteY0" fmla="*/ 114300 h 114300"/>
                <a:gd name="connsiteX1" fmla="*/ 1316831 w 1418161"/>
                <a:gd name="connsiteY1" fmla="*/ 109537 h 114300"/>
                <a:gd name="connsiteX2" fmla="*/ 1328737 w 1418161"/>
                <a:gd name="connsiteY2" fmla="*/ 0 h 114300"/>
                <a:gd name="connsiteX0" fmla="*/ 0 w 1418161"/>
                <a:gd name="connsiteY0" fmla="*/ 114300 h 114300"/>
                <a:gd name="connsiteX1" fmla="*/ 1316831 w 1418161"/>
                <a:gd name="connsiteY1" fmla="*/ 109537 h 114300"/>
                <a:gd name="connsiteX2" fmla="*/ 1328737 w 1418161"/>
                <a:gd name="connsiteY2" fmla="*/ 0 h 114300"/>
                <a:gd name="connsiteX0" fmla="*/ 0 w 1405141"/>
                <a:gd name="connsiteY0" fmla="*/ 107156 h 107156"/>
                <a:gd name="connsiteX1" fmla="*/ 1316831 w 1405141"/>
                <a:gd name="connsiteY1" fmla="*/ 102393 h 107156"/>
                <a:gd name="connsiteX2" fmla="*/ 1288256 w 1405141"/>
                <a:gd name="connsiteY2" fmla="*/ 0 h 107156"/>
                <a:gd name="connsiteX0" fmla="*/ 0 w 1439029"/>
                <a:gd name="connsiteY0" fmla="*/ 107156 h 107156"/>
                <a:gd name="connsiteX1" fmla="*/ 1316831 w 1439029"/>
                <a:gd name="connsiteY1" fmla="*/ 102393 h 107156"/>
                <a:gd name="connsiteX2" fmla="*/ 1288256 w 1439029"/>
                <a:gd name="connsiteY2" fmla="*/ 0 h 107156"/>
                <a:gd name="connsiteX0" fmla="*/ 0 w 1440457"/>
                <a:gd name="connsiteY0" fmla="*/ 107156 h 107156"/>
                <a:gd name="connsiteX1" fmla="*/ 1316831 w 1440457"/>
                <a:gd name="connsiteY1" fmla="*/ 102393 h 107156"/>
                <a:gd name="connsiteX2" fmla="*/ 1288256 w 1440457"/>
                <a:gd name="connsiteY2" fmla="*/ 0 h 107156"/>
                <a:gd name="connsiteX0" fmla="*/ 0 w 1447584"/>
                <a:gd name="connsiteY0" fmla="*/ 107156 h 107156"/>
                <a:gd name="connsiteX1" fmla="*/ 1316831 w 1447584"/>
                <a:gd name="connsiteY1" fmla="*/ 102393 h 107156"/>
                <a:gd name="connsiteX2" fmla="*/ 1288256 w 1447584"/>
                <a:gd name="connsiteY2" fmla="*/ 0 h 107156"/>
                <a:gd name="connsiteX0" fmla="*/ 0 w 1447584"/>
                <a:gd name="connsiteY0" fmla="*/ 107156 h 107156"/>
                <a:gd name="connsiteX1" fmla="*/ 1316831 w 1447584"/>
                <a:gd name="connsiteY1" fmla="*/ 102393 h 107156"/>
                <a:gd name="connsiteX2" fmla="*/ 1288256 w 1447584"/>
                <a:gd name="connsiteY2" fmla="*/ 0 h 107156"/>
                <a:gd name="connsiteX0" fmla="*/ 0 w 1448604"/>
                <a:gd name="connsiteY0" fmla="*/ 107156 h 107156"/>
                <a:gd name="connsiteX1" fmla="*/ 1316831 w 1448604"/>
                <a:gd name="connsiteY1" fmla="*/ 102393 h 107156"/>
                <a:gd name="connsiteX2" fmla="*/ 1288256 w 1448604"/>
                <a:gd name="connsiteY2" fmla="*/ 0 h 107156"/>
                <a:gd name="connsiteX0" fmla="*/ 0 w 1458082"/>
                <a:gd name="connsiteY0" fmla="*/ 107156 h 107156"/>
                <a:gd name="connsiteX1" fmla="*/ 1316831 w 1458082"/>
                <a:gd name="connsiteY1" fmla="*/ 102393 h 107156"/>
                <a:gd name="connsiteX2" fmla="*/ 1288256 w 1458082"/>
                <a:gd name="connsiteY2" fmla="*/ 0 h 10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8082" h="107156">
                  <a:moveTo>
                    <a:pt x="0" y="107156"/>
                  </a:moveTo>
                  <a:lnTo>
                    <a:pt x="1316831" y="102393"/>
                  </a:lnTo>
                  <a:cubicBezTo>
                    <a:pt x="1550590" y="103584"/>
                    <a:pt x="1460896" y="98028"/>
                    <a:pt x="1288256" y="0"/>
                  </a:cubicBezTo>
                </a:path>
              </a:pathLst>
            </a:custGeom>
            <a:ln w="28575">
              <a:solidFill>
                <a:srgbClr val="F7853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6676C38-7113-FA04-8DCC-5F1C4EF9EB48}"/>
                </a:ext>
              </a:extLst>
            </p:cNvPr>
            <p:cNvSpPr/>
            <p:nvPr/>
          </p:nvSpPr>
          <p:spPr>
            <a:xfrm>
              <a:off x="1037483" y="4416631"/>
              <a:ext cx="3562350" cy="4273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1FD762A-0DAC-5E21-B7CC-169AF22B80C6}"/>
                </a:ext>
              </a:extLst>
            </p:cNvPr>
            <p:cNvGrpSpPr/>
            <p:nvPr/>
          </p:nvGrpSpPr>
          <p:grpSpPr>
            <a:xfrm>
              <a:off x="943826" y="3954138"/>
              <a:ext cx="459774" cy="596849"/>
              <a:chOff x="493490" y="2878502"/>
              <a:chExt cx="578973" cy="751586"/>
            </a:xfrm>
          </p:grpSpPr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0F8EF3BA-612A-20DE-B196-0C38B4DB0EB9}"/>
                  </a:ext>
                </a:extLst>
              </p:cNvPr>
              <p:cNvSpPr/>
              <p:nvPr/>
            </p:nvSpPr>
            <p:spPr>
              <a:xfrm>
                <a:off x="493490" y="2878502"/>
                <a:ext cx="578973" cy="751586"/>
              </a:xfrm>
              <a:custGeom>
                <a:avLst/>
                <a:gdLst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502516 w 721788"/>
                  <a:gd name="connsiteY3" fmla="*/ 692805 h 936981"/>
                  <a:gd name="connsiteX4" fmla="*/ 360894 w 721788"/>
                  <a:gd name="connsiteY4" fmla="*/ 936981 h 936981"/>
                  <a:gd name="connsiteX5" fmla="*/ 219272 w 721788"/>
                  <a:gd name="connsiteY5" fmla="*/ 692805 h 936981"/>
                  <a:gd name="connsiteX6" fmla="*/ 159115 w 721788"/>
                  <a:gd name="connsiteY6" fmla="*/ 660153 h 936981"/>
                  <a:gd name="connsiteX7" fmla="*/ 0 w 721788"/>
                  <a:gd name="connsiteY7" fmla="*/ 360894 h 936981"/>
                  <a:gd name="connsiteX8" fmla="*/ 360894 w 721788"/>
                  <a:gd name="connsiteY8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502516 w 721788"/>
                  <a:gd name="connsiteY3" fmla="*/ 692805 h 936981"/>
                  <a:gd name="connsiteX4" fmla="*/ 360894 w 721788"/>
                  <a:gd name="connsiteY4" fmla="*/ 936981 h 936981"/>
                  <a:gd name="connsiteX5" fmla="*/ 159115 w 721788"/>
                  <a:gd name="connsiteY5" fmla="*/ 660153 h 936981"/>
                  <a:gd name="connsiteX6" fmla="*/ 0 w 721788"/>
                  <a:gd name="connsiteY6" fmla="*/ 360894 h 936981"/>
                  <a:gd name="connsiteX7" fmla="*/ 360894 w 721788"/>
                  <a:gd name="connsiteY7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360894 w 721788"/>
                  <a:gd name="connsiteY3" fmla="*/ 936981 h 936981"/>
                  <a:gd name="connsiteX4" fmla="*/ 159115 w 721788"/>
                  <a:gd name="connsiteY4" fmla="*/ 660153 h 936981"/>
                  <a:gd name="connsiteX5" fmla="*/ 0 w 721788"/>
                  <a:gd name="connsiteY5" fmla="*/ 360894 h 936981"/>
                  <a:gd name="connsiteX6" fmla="*/ 360894 w 721788"/>
                  <a:gd name="connsiteY6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360894 w 721788"/>
                  <a:gd name="connsiteY3" fmla="*/ 936981 h 936981"/>
                  <a:gd name="connsiteX4" fmla="*/ 159115 w 721788"/>
                  <a:gd name="connsiteY4" fmla="*/ 660153 h 936981"/>
                  <a:gd name="connsiteX5" fmla="*/ 0 w 721788"/>
                  <a:gd name="connsiteY5" fmla="*/ 360894 h 936981"/>
                  <a:gd name="connsiteX6" fmla="*/ 360894 w 721788"/>
                  <a:gd name="connsiteY6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360894 w 721788"/>
                  <a:gd name="connsiteY3" fmla="*/ 936981 h 936981"/>
                  <a:gd name="connsiteX4" fmla="*/ 159115 w 721788"/>
                  <a:gd name="connsiteY4" fmla="*/ 660153 h 936981"/>
                  <a:gd name="connsiteX5" fmla="*/ 0 w 721788"/>
                  <a:gd name="connsiteY5" fmla="*/ 360894 h 936981"/>
                  <a:gd name="connsiteX6" fmla="*/ 360894 w 721788"/>
                  <a:gd name="connsiteY6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360894 w 721788"/>
                  <a:gd name="connsiteY3" fmla="*/ 936981 h 936981"/>
                  <a:gd name="connsiteX4" fmla="*/ 159115 w 721788"/>
                  <a:gd name="connsiteY4" fmla="*/ 660153 h 936981"/>
                  <a:gd name="connsiteX5" fmla="*/ 0 w 721788"/>
                  <a:gd name="connsiteY5" fmla="*/ 360894 h 936981"/>
                  <a:gd name="connsiteX6" fmla="*/ 360894 w 721788"/>
                  <a:gd name="connsiteY6" fmla="*/ 0 h 936981"/>
                  <a:gd name="connsiteX0" fmla="*/ 360894 w 721788"/>
                  <a:gd name="connsiteY0" fmla="*/ 0 h 936981"/>
                  <a:gd name="connsiteX1" fmla="*/ 721788 w 721788"/>
                  <a:gd name="connsiteY1" fmla="*/ 360894 h 936981"/>
                  <a:gd name="connsiteX2" fmla="*/ 562673 w 721788"/>
                  <a:gd name="connsiteY2" fmla="*/ 660153 h 936981"/>
                  <a:gd name="connsiteX3" fmla="*/ 360894 w 721788"/>
                  <a:gd name="connsiteY3" fmla="*/ 936981 h 936981"/>
                  <a:gd name="connsiteX4" fmla="*/ 159115 w 721788"/>
                  <a:gd name="connsiteY4" fmla="*/ 660153 h 936981"/>
                  <a:gd name="connsiteX5" fmla="*/ 0 w 721788"/>
                  <a:gd name="connsiteY5" fmla="*/ 360894 h 936981"/>
                  <a:gd name="connsiteX6" fmla="*/ 360894 w 721788"/>
                  <a:gd name="connsiteY6" fmla="*/ 0 h 936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1788" h="936981">
                    <a:moveTo>
                      <a:pt x="360894" y="0"/>
                    </a:moveTo>
                    <a:cubicBezTo>
                      <a:pt x="560210" y="0"/>
                      <a:pt x="721788" y="161578"/>
                      <a:pt x="721788" y="360894"/>
                    </a:cubicBezTo>
                    <a:cubicBezTo>
                      <a:pt x="721788" y="485467"/>
                      <a:pt x="635327" y="589462"/>
                      <a:pt x="562673" y="660153"/>
                    </a:cubicBezTo>
                    <a:cubicBezTo>
                      <a:pt x="489577" y="749511"/>
                      <a:pt x="428154" y="844705"/>
                      <a:pt x="360894" y="936981"/>
                    </a:cubicBezTo>
                    <a:cubicBezTo>
                      <a:pt x="293634" y="844705"/>
                      <a:pt x="236589" y="752429"/>
                      <a:pt x="159115" y="660153"/>
                    </a:cubicBezTo>
                    <a:cubicBezTo>
                      <a:pt x="93757" y="596757"/>
                      <a:pt x="0" y="485467"/>
                      <a:pt x="0" y="360894"/>
                    </a:cubicBezTo>
                    <a:cubicBezTo>
                      <a:pt x="0" y="161578"/>
                      <a:pt x="161578" y="0"/>
                      <a:pt x="360894" y="0"/>
                    </a:cubicBezTo>
                    <a:close/>
                  </a:path>
                </a:pathLst>
              </a:cu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41">
                <a:extLst>
                  <a:ext uri="{FF2B5EF4-FFF2-40B4-BE49-F238E27FC236}">
                    <a16:creationId xmlns:a16="http://schemas.microsoft.com/office/drawing/2014/main" id="{E6591B0A-9715-5ED6-AC7D-37A95FB4E82E}"/>
                  </a:ext>
                </a:extLst>
              </p:cNvPr>
              <p:cNvSpPr/>
              <p:nvPr/>
            </p:nvSpPr>
            <p:spPr>
              <a:xfrm>
                <a:off x="571989" y="2950721"/>
                <a:ext cx="427320" cy="4273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rgbClr val="F78535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2</a:t>
                </a:r>
                <a:endParaRPr lang="ko-KR" altLang="en-US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FEC102E-1DB1-8522-D35F-091161B628C9}"/>
                </a:ext>
              </a:extLst>
            </p:cNvPr>
            <p:cNvSpPr/>
            <p:nvPr/>
          </p:nvSpPr>
          <p:spPr>
            <a:xfrm>
              <a:off x="1360995" y="4457319"/>
              <a:ext cx="3033205" cy="3381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pc="-80" dirty="0">
                  <a:solidFill>
                    <a:srgbClr val="9A8B80"/>
                  </a:solidFill>
                  <a:latin typeface="페이퍼로지 4 Regular" pitchFamily="2" charset="-127"/>
                  <a:ea typeface="페이퍼로지 4 Regular" pitchFamily="2" charset="-127"/>
                </a:rPr>
                <a:t>단순한 음식 종류 인식만 가능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713DB3D-15E4-F8E7-BCE4-0082E58731D6}"/>
                </a:ext>
              </a:extLst>
            </p:cNvPr>
            <p:cNvSpPr/>
            <p:nvPr/>
          </p:nvSpPr>
          <p:spPr>
            <a:xfrm>
              <a:off x="1461995" y="4152848"/>
              <a:ext cx="2947207" cy="189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이미지 인식의 한계</a:t>
              </a:r>
            </a:p>
          </p:txBody>
        </p: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8C383E62-E354-CD7D-E3D0-654C7537B655}"/>
                </a:ext>
              </a:extLst>
            </p:cNvPr>
            <p:cNvGrpSpPr/>
            <p:nvPr/>
          </p:nvGrpSpPr>
          <p:grpSpPr>
            <a:xfrm>
              <a:off x="6191070" y="4011489"/>
              <a:ext cx="339343" cy="339343"/>
              <a:chOff x="6191070" y="2711708"/>
              <a:chExt cx="339343" cy="339343"/>
            </a:xfrm>
          </p:grpSpPr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D6C85692-4FBD-D4BA-9D42-AD0BEAFDB514}"/>
                  </a:ext>
                </a:extLst>
              </p:cNvPr>
              <p:cNvSpPr/>
              <p:nvPr/>
            </p:nvSpPr>
            <p:spPr>
              <a:xfrm>
                <a:off x="6191070" y="2711708"/>
                <a:ext cx="339343" cy="339343"/>
              </a:xfrm>
              <a:prstGeom prst="ellips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pic>
            <p:nvPicPr>
              <p:cNvPr id="141" name="그림 140">
                <a:extLst>
                  <a:ext uri="{FF2B5EF4-FFF2-40B4-BE49-F238E27FC236}">
                    <a16:creationId xmlns:a16="http://schemas.microsoft.com/office/drawing/2014/main" id="{CE9B2025-BBE2-A5BE-E8E0-7810F0D23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1518" y="2765704"/>
                <a:ext cx="158446" cy="2313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75888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F826-1371-9D47-7CB6-913F42C09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음식에 담긴 한국의 색, 오방색">
            <a:extLst>
              <a:ext uri="{FF2B5EF4-FFF2-40B4-BE49-F238E27FC236}">
                <a16:creationId xmlns:a16="http://schemas.microsoft.com/office/drawing/2014/main" id="{3898E0FA-537E-AFA6-CF6A-66358C5AE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7" r="34074" b="982"/>
          <a:stretch>
            <a:fillRect/>
          </a:stretch>
        </p:blipFill>
        <p:spPr bwMode="auto">
          <a:xfrm>
            <a:off x="5974449" y="1"/>
            <a:ext cx="4717364" cy="7559675"/>
          </a:xfrm>
          <a:custGeom>
            <a:avLst/>
            <a:gdLst>
              <a:gd name="connsiteX0" fmla="*/ 0 w 4717364"/>
              <a:gd name="connsiteY0" fmla="*/ 0 h 7559675"/>
              <a:gd name="connsiteX1" fmla="*/ 4717364 w 4717364"/>
              <a:gd name="connsiteY1" fmla="*/ 0 h 7559675"/>
              <a:gd name="connsiteX2" fmla="*/ 4717364 w 4717364"/>
              <a:gd name="connsiteY2" fmla="*/ 7559675 h 7559675"/>
              <a:gd name="connsiteX3" fmla="*/ 0 w 4717364"/>
              <a:gd name="connsiteY3" fmla="*/ 7559675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7364" h="7559675">
                <a:moveTo>
                  <a:pt x="0" y="0"/>
                </a:moveTo>
                <a:lnTo>
                  <a:pt x="4717364" y="0"/>
                </a:lnTo>
                <a:lnTo>
                  <a:pt x="4717364" y="7559675"/>
                </a:lnTo>
                <a:lnTo>
                  <a:pt x="0" y="755967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5EC5BD-7912-9111-70DC-3F35E8CB131C}"/>
              </a:ext>
            </a:extLst>
          </p:cNvPr>
          <p:cNvSpPr/>
          <p:nvPr/>
        </p:nvSpPr>
        <p:spPr>
          <a:xfrm>
            <a:off x="5974448" y="4"/>
            <a:ext cx="4717369" cy="7559675"/>
          </a:xfrm>
          <a:prstGeom prst="rect">
            <a:avLst/>
          </a:prstGeom>
          <a:gradFill>
            <a:gsLst>
              <a:gs pos="39402">
                <a:srgbClr val="2A2A2A">
                  <a:alpha val="50000"/>
                </a:srgbClr>
              </a:gs>
              <a:gs pos="0">
                <a:srgbClr val="2A2A2A">
                  <a:alpha val="81000"/>
                </a:srgbClr>
              </a:gs>
              <a:gs pos="99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85" name="자유형: 도형 1084">
            <a:extLst>
              <a:ext uri="{FF2B5EF4-FFF2-40B4-BE49-F238E27FC236}">
                <a16:creationId xmlns:a16="http://schemas.microsoft.com/office/drawing/2014/main" id="{22C60400-25AC-11C6-7851-CBD8FAF3E2BB}"/>
              </a:ext>
            </a:extLst>
          </p:cNvPr>
          <p:cNvSpPr/>
          <p:nvPr/>
        </p:nvSpPr>
        <p:spPr>
          <a:xfrm flipV="1">
            <a:off x="-13605" y="0"/>
            <a:ext cx="6862244" cy="3779838"/>
          </a:xfrm>
          <a:custGeom>
            <a:avLst/>
            <a:gdLst>
              <a:gd name="connsiteX0" fmla="*/ 0 w 6197659"/>
              <a:gd name="connsiteY0" fmla="*/ 3779838 h 3779838"/>
              <a:gd name="connsiteX1" fmla="*/ 6197659 w 6197659"/>
              <a:gd name="connsiteY1" fmla="*/ 3779838 h 3779838"/>
              <a:gd name="connsiteX2" fmla="*/ 6197659 w 6197659"/>
              <a:gd name="connsiteY2" fmla="*/ 991943 h 3779838"/>
              <a:gd name="connsiteX3" fmla="*/ 5233716 w 6197659"/>
              <a:gd name="connsiteY3" fmla="*/ 0 h 3779838"/>
              <a:gd name="connsiteX4" fmla="*/ 0 w 6197659"/>
              <a:gd name="connsiteY4" fmla="*/ 0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59" h="3779838">
                <a:moveTo>
                  <a:pt x="0" y="3779838"/>
                </a:moveTo>
                <a:lnTo>
                  <a:pt x="6197659" y="3779838"/>
                </a:lnTo>
                <a:lnTo>
                  <a:pt x="6197659" y="991943"/>
                </a:lnTo>
                <a:cubicBezTo>
                  <a:pt x="6197659" y="444108"/>
                  <a:pt x="5766087" y="0"/>
                  <a:pt x="52337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BB9235DC-356A-6F8A-E4BA-A9BE0B66EA54}"/>
              </a:ext>
            </a:extLst>
          </p:cNvPr>
          <p:cNvSpPr/>
          <p:nvPr/>
        </p:nvSpPr>
        <p:spPr>
          <a:xfrm>
            <a:off x="-13607" y="3642614"/>
            <a:ext cx="6862245" cy="3917067"/>
          </a:xfrm>
          <a:custGeom>
            <a:avLst/>
            <a:gdLst>
              <a:gd name="connsiteX0" fmla="*/ 0 w 6197660"/>
              <a:gd name="connsiteY0" fmla="*/ 0 h 3779838"/>
              <a:gd name="connsiteX1" fmla="*/ 5233717 w 6197660"/>
              <a:gd name="connsiteY1" fmla="*/ 0 h 3779838"/>
              <a:gd name="connsiteX2" fmla="*/ 6197660 w 6197660"/>
              <a:gd name="connsiteY2" fmla="*/ 991943 h 3779838"/>
              <a:gd name="connsiteX3" fmla="*/ 6197660 w 6197660"/>
              <a:gd name="connsiteY3" fmla="*/ 3779838 h 3779838"/>
              <a:gd name="connsiteX4" fmla="*/ 0 w 6197660"/>
              <a:gd name="connsiteY4" fmla="*/ 3779838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60" h="3779838">
                <a:moveTo>
                  <a:pt x="0" y="0"/>
                </a:moveTo>
                <a:lnTo>
                  <a:pt x="5233717" y="0"/>
                </a:lnTo>
                <a:cubicBezTo>
                  <a:pt x="5766088" y="0"/>
                  <a:pt x="6197660" y="444108"/>
                  <a:pt x="6197660" y="991943"/>
                </a:cubicBezTo>
                <a:lnTo>
                  <a:pt x="6197660" y="3779838"/>
                </a:lnTo>
                <a:lnTo>
                  <a:pt x="0" y="3779838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0" name="직사각형 1089">
            <a:extLst>
              <a:ext uri="{FF2B5EF4-FFF2-40B4-BE49-F238E27FC236}">
                <a16:creationId xmlns:a16="http://schemas.microsoft.com/office/drawing/2014/main" id="{514E3C0B-A2FD-CD69-8514-AC01D8E8BA49}"/>
              </a:ext>
            </a:extLst>
          </p:cNvPr>
          <p:cNvSpPr/>
          <p:nvPr/>
        </p:nvSpPr>
        <p:spPr>
          <a:xfrm>
            <a:off x="1206955" y="1842556"/>
            <a:ext cx="2404836" cy="1280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>
                <a:latin typeface="페이퍼로지 9 Black" pitchFamily="2" charset="-127"/>
                <a:ea typeface="페이퍼로지 9 Black" pitchFamily="2" charset="-127"/>
              </a:rPr>
              <a:t>Ⅱ</a:t>
            </a:r>
            <a:endParaRPr lang="ko-KR" altLang="en-US" sz="8800">
              <a:latin typeface="페이퍼로지 9 Black" pitchFamily="2" charset="-127"/>
              <a:ea typeface="페이퍼로지 9 Black" pitchFamily="2" charset="-127"/>
            </a:endParaRPr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ADEEF1F8-1F14-8B59-0D86-17378D4D9171}"/>
              </a:ext>
            </a:extLst>
          </p:cNvPr>
          <p:cNvGrpSpPr/>
          <p:nvPr/>
        </p:nvGrpSpPr>
        <p:grpSpPr>
          <a:xfrm>
            <a:off x="399146" y="980435"/>
            <a:ext cx="4020454" cy="712177"/>
            <a:chOff x="-20863" y="1282164"/>
            <a:chExt cx="4020454" cy="712177"/>
          </a:xfrm>
        </p:grpSpPr>
        <p:sp>
          <p:nvSpPr>
            <p:cNvPr id="1126" name="직사각형 1125">
              <a:extLst>
                <a:ext uri="{FF2B5EF4-FFF2-40B4-BE49-F238E27FC236}">
                  <a16:creationId xmlns:a16="http://schemas.microsoft.com/office/drawing/2014/main" id="{1D6D029B-5839-E1B9-C2FD-842CA1938E2C}"/>
                </a:ext>
              </a:extLst>
            </p:cNvPr>
            <p:cNvSpPr/>
            <p:nvPr/>
          </p:nvSpPr>
          <p:spPr>
            <a:xfrm>
              <a:off x="-20863" y="1282164"/>
              <a:ext cx="4020454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기업맞춤형 </a:t>
              </a:r>
              <a:r>
                <a:rPr lang="en-US" altLang="ko-KR" sz="1900">
                  <a:latin typeface="페이퍼로지 6 SemiBold" pitchFamily="2" charset="-127"/>
                  <a:ea typeface="페이퍼로지 6 SemiBold" pitchFamily="2" charset="-127"/>
                </a:rPr>
                <a:t>AI-X </a:t>
              </a:r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융복합 인재 양성 교육</a:t>
              </a:r>
            </a:p>
          </p:txBody>
        </p:sp>
        <p:sp>
          <p:nvSpPr>
            <p:cNvPr id="1127" name="직사각형 1126">
              <a:extLst>
                <a:ext uri="{FF2B5EF4-FFF2-40B4-BE49-F238E27FC236}">
                  <a16:creationId xmlns:a16="http://schemas.microsoft.com/office/drawing/2014/main" id="{F9D481C0-DB1A-4354-AC89-6E86BC349DC3}"/>
                </a:ext>
              </a:extLst>
            </p:cNvPr>
            <p:cNvSpPr/>
            <p:nvPr/>
          </p:nvSpPr>
          <p:spPr>
            <a:xfrm>
              <a:off x="206828" y="1611925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페이퍼로지 4 Regular" pitchFamily="2" charset="-127"/>
                  <a:ea typeface="페이퍼로지 4 Regular" pitchFamily="2" charset="-127"/>
                </a:rPr>
                <a:t>B2B </a:t>
              </a:r>
              <a:r>
                <a:rPr lang="ko-KR" altLang="en-US" sz="1400">
                  <a:latin typeface="페이퍼로지 4 Regular" pitchFamily="2" charset="-127"/>
                  <a:ea typeface="페이퍼로지 4 Regular" pitchFamily="2" charset="-127"/>
                </a:rPr>
                <a:t>고객 제품 수요량 예측 기반 재고 최적화</a:t>
              </a: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id="{3941D885-052A-6BE8-C1D1-E52672B639B0}"/>
              </a:ext>
            </a:extLst>
          </p:cNvPr>
          <p:cNvGrpSpPr/>
          <p:nvPr/>
        </p:nvGrpSpPr>
        <p:grpSpPr>
          <a:xfrm>
            <a:off x="626837" y="3334507"/>
            <a:ext cx="3565072" cy="705186"/>
            <a:chOff x="206828" y="3622608"/>
            <a:chExt cx="3565072" cy="705186"/>
          </a:xfrm>
        </p:grpSpPr>
        <p:sp>
          <p:nvSpPr>
            <p:cNvPr id="1128" name="직사각형 1127">
              <a:extLst>
                <a:ext uri="{FF2B5EF4-FFF2-40B4-BE49-F238E27FC236}">
                  <a16:creationId xmlns:a16="http://schemas.microsoft.com/office/drawing/2014/main" id="{B58DCCB5-7DA4-1992-34D6-FF2E33381AF0}"/>
                </a:ext>
              </a:extLst>
            </p:cNvPr>
            <p:cNvSpPr/>
            <p:nvPr/>
          </p:nvSpPr>
          <p:spPr>
            <a:xfrm>
              <a:off x="206828" y="362260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>
                  <a:latin typeface="페이퍼로지 6 SemiBold" pitchFamily="2" charset="-127"/>
                  <a:ea typeface="페이퍼로지 6 SemiBold" pitchFamily="2" charset="-127"/>
                </a:rPr>
                <a:t>프로젝트 세부 내용</a:t>
              </a:r>
            </a:p>
          </p:txBody>
        </p:sp>
        <p:sp>
          <p:nvSpPr>
            <p:cNvPr id="1130" name="직사각형 1129">
              <a:extLst>
                <a:ext uri="{FF2B5EF4-FFF2-40B4-BE49-F238E27FC236}">
                  <a16:creationId xmlns:a16="http://schemas.microsoft.com/office/drawing/2014/main" id="{B6F8D6F8-CD9B-7AC4-FEBA-76ED1D4E530C}"/>
                </a:ext>
              </a:extLst>
            </p:cNvPr>
            <p:cNvSpPr/>
            <p:nvPr/>
          </p:nvSpPr>
          <p:spPr>
            <a:xfrm>
              <a:off x="206828" y="394537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Project  Details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51BB12F7-DA33-3529-2ACB-6B68256562C8}"/>
              </a:ext>
            </a:extLst>
          </p:cNvPr>
          <p:cNvSpPr/>
          <p:nvPr/>
        </p:nvSpPr>
        <p:spPr>
          <a:xfrm>
            <a:off x="1421494" y="4409453"/>
            <a:ext cx="2998105" cy="130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01.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프로젝트 과정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02.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데이터 수집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03.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데이터 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전처리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04.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사용 모델 분석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EAF55DC-7145-E50E-1FED-81D0DEC6A22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896" y="5975658"/>
            <a:ext cx="1162954" cy="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1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387F-636E-EEE6-513E-BD04B2E3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F0CBE08-A17C-01AD-5ECA-4E073DA556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2255" y="78846"/>
            <a:ext cx="2422203" cy="81161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BAB123FC-7885-0087-7852-8C52EC18857B}"/>
              </a:ext>
            </a:extLst>
          </p:cNvPr>
          <p:cNvGrpSpPr/>
          <p:nvPr/>
        </p:nvGrpSpPr>
        <p:grpSpPr>
          <a:xfrm>
            <a:off x="910912" y="2907089"/>
            <a:ext cx="9025978" cy="4021756"/>
            <a:chOff x="327969" y="2647343"/>
            <a:chExt cx="10191864" cy="454124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F292FAC-BD20-8002-A6C2-A8CF9E64A9D6}"/>
                </a:ext>
              </a:extLst>
            </p:cNvPr>
            <p:cNvGrpSpPr/>
            <p:nvPr/>
          </p:nvGrpSpPr>
          <p:grpSpPr>
            <a:xfrm>
              <a:off x="327969" y="2647343"/>
              <a:ext cx="3331712" cy="2098455"/>
              <a:chOff x="327969" y="2647343"/>
              <a:chExt cx="3331712" cy="2098455"/>
            </a:xfrm>
          </p:grpSpPr>
          <p:grpSp>
            <p:nvGrpSpPr>
              <p:cNvPr id="1027" name="그룹 1026">
                <a:extLst>
                  <a:ext uri="{FF2B5EF4-FFF2-40B4-BE49-F238E27FC236}">
                    <a16:creationId xmlns:a16="http://schemas.microsoft.com/office/drawing/2014/main" id="{17791878-B4E4-99AF-A346-3FD56FC94CF2}"/>
                  </a:ext>
                </a:extLst>
              </p:cNvPr>
              <p:cNvGrpSpPr/>
              <p:nvPr/>
            </p:nvGrpSpPr>
            <p:grpSpPr>
              <a:xfrm>
                <a:off x="327969" y="2647343"/>
                <a:ext cx="3331712" cy="2098455"/>
                <a:chOff x="323879" y="2478258"/>
                <a:chExt cx="3331712" cy="2098455"/>
              </a:xfrm>
            </p:grpSpPr>
            <p:sp>
              <p:nvSpPr>
                <p:cNvPr id="1025" name="사각형: 둥근 모서리 1024">
                  <a:extLst>
                    <a:ext uri="{FF2B5EF4-FFF2-40B4-BE49-F238E27FC236}">
                      <a16:creationId xmlns:a16="http://schemas.microsoft.com/office/drawing/2014/main" id="{73D6BDA9-B639-0E7F-D3F8-A3B1EFAFC219}"/>
                    </a:ext>
                  </a:extLst>
                </p:cNvPr>
                <p:cNvSpPr/>
                <p:nvPr/>
              </p:nvSpPr>
              <p:spPr>
                <a:xfrm>
                  <a:off x="712984" y="2956367"/>
                  <a:ext cx="2693156" cy="1620346"/>
                </a:xfrm>
                <a:prstGeom prst="roundRect">
                  <a:avLst>
                    <a:gd name="adj" fmla="val 5381"/>
                  </a:avLst>
                </a:prstGeom>
                <a:noFill/>
                <a:ln w="57150"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024" name="자유형: 도형 1023">
                  <a:extLst>
                    <a:ext uri="{FF2B5EF4-FFF2-40B4-BE49-F238E27FC236}">
                      <a16:creationId xmlns:a16="http://schemas.microsoft.com/office/drawing/2014/main" id="{6525AFEA-EC64-E535-AD5E-A1E9CEBF93A4}"/>
                    </a:ext>
                  </a:extLst>
                </p:cNvPr>
                <p:cNvSpPr/>
                <p:nvPr/>
              </p:nvSpPr>
              <p:spPr>
                <a:xfrm>
                  <a:off x="323879" y="2478258"/>
                  <a:ext cx="3331712" cy="772954"/>
                </a:xfrm>
                <a:custGeom>
                  <a:avLst/>
                  <a:gdLst>
                    <a:gd name="connsiteX0" fmla="*/ 2979300 w 3331712"/>
                    <a:gd name="connsiteY0" fmla="*/ 3 h 772954"/>
                    <a:gd name="connsiteX1" fmla="*/ 3331712 w 3331712"/>
                    <a:gd name="connsiteY1" fmla="*/ 396004 h 772954"/>
                    <a:gd name="connsiteX2" fmla="*/ 2979300 w 3331712"/>
                    <a:gd name="connsiteY2" fmla="*/ 772954 h 772954"/>
                    <a:gd name="connsiteX3" fmla="*/ 0 w 3331712"/>
                    <a:gd name="connsiteY3" fmla="*/ 0 h 772954"/>
                    <a:gd name="connsiteX4" fmla="*/ 2979299 w 3331712"/>
                    <a:gd name="connsiteY4" fmla="*/ 0 h 772954"/>
                    <a:gd name="connsiteX5" fmla="*/ 2979299 w 3331712"/>
                    <a:gd name="connsiteY5" fmla="*/ 772952 h 772954"/>
                    <a:gd name="connsiteX6" fmla="*/ 0 w 3331712"/>
                    <a:gd name="connsiteY6" fmla="*/ 772952 h 772954"/>
                    <a:gd name="connsiteX7" fmla="*/ 0 w 3331712"/>
                    <a:gd name="connsiteY7" fmla="*/ 772951 h 772954"/>
                    <a:gd name="connsiteX8" fmla="*/ 352411 w 3331712"/>
                    <a:gd name="connsiteY8" fmla="*/ 396003 h 772954"/>
                    <a:gd name="connsiteX9" fmla="*/ 0 w 3331712"/>
                    <a:gd name="connsiteY9" fmla="*/ 3 h 7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31712" h="772954">
                      <a:moveTo>
                        <a:pt x="2979300" y="3"/>
                      </a:moveTo>
                      <a:lnTo>
                        <a:pt x="3331712" y="396004"/>
                      </a:lnTo>
                      <a:lnTo>
                        <a:pt x="2979300" y="772954"/>
                      </a:lnTo>
                      <a:close/>
                      <a:moveTo>
                        <a:pt x="0" y="0"/>
                      </a:moveTo>
                      <a:lnTo>
                        <a:pt x="2979299" y="0"/>
                      </a:lnTo>
                      <a:lnTo>
                        <a:pt x="2979299" y="772952"/>
                      </a:lnTo>
                      <a:lnTo>
                        <a:pt x="0" y="772952"/>
                      </a:lnTo>
                      <a:lnTo>
                        <a:pt x="0" y="772951"/>
                      </a:lnTo>
                      <a:lnTo>
                        <a:pt x="352411" y="39600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A8B80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600" dirty="0"/>
                </a:p>
              </p:txBody>
            </p:sp>
          </p:grpSp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AF3CE819-007C-04BA-5FC8-3AD534D28210}"/>
                  </a:ext>
                </a:extLst>
              </p:cNvPr>
              <p:cNvGrpSpPr/>
              <p:nvPr/>
            </p:nvGrpSpPr>
            <p:grpSpPr>
              <a:xfrm>
                <a:off x="717075" y="2718484"/>
                <a:ext cx="2631364" cy="1900966"/>
                <a:chOff x="717075" y="2718484"/>
                <a:chExt cx="2631364" cy="1900966"/>
              </a:xfrm>
            </p:grpSpPr>
            <p:sp>
              <p:nvSpPr>
                <p:cNvPr id="1104" name="직사각형 1103">
                  <a:extLst>
                    <a:ext uri="{FF2B5EF4-FFF2-40B4-BE49-F238E27FC236}">
                      <a16:creationId xmlns:a16="http://schemas.microsoft.com/office/drawing/2014/main" id="{D1BAEB37-FC16-A824-EE43-72B0875DA5E5}"/>
                    </a:ext>
                  </a:extLst>
                </p:cNvPr>
                <p:cNvSpPr/>
                <p:nvPr/>
              </p:nvSpPr>
              <p:spPr>
                <a:xfrm>
                  <a:off x="717075" y="2718484"/>
                  <a:ext cx="2631364" cy="63067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dirty="0">
                      <a:latin typeface="페이퍼로지 6 SemiBold" pitchFamily="2" charset="-127"/>
                      <a:ea typeface="페이퍼로지 6 SemiBold" pitchFamily="2" charset="-127"/>
                    </a:rPr>
                    <a:t>STEP1. </a:t>
                  </a:r>
                  <a:r>
                    <a:rPr lang="ko-KR" altLang="en-US" sz="1600" dirty="0">
                      <a:latin typeface="페이퍼로지 6 SemiBold" pitchFamily="2" charset="-127"/>
                      <a:ea typeface="페이퍼로지 6 SemiBold" pitchFamily="2" charset="-127"/>
                    </a:rPr>
                    <a:t>데이터 수집</a:t>
                  </a:r>
                </a:p>
              </p:txBody>
            </p:sp>
            <p:sp>
              <p:nvSpPr>
                <p:cNvPr id="1109" name="사각형: 둥근 모서리 1108">
                  <a:extLst>
                    <a:ext uri="{FF2B5EF4-FFF2-40B4-BE49-F238E27FC236}">
                      <a16:creationId xmlns:a16="http://schemas.microsoft.com/office/drawing/2014/main" id="{AC9D2F8A-8462-2B26-D7AA-10093C74B407}"/>
                    </a:ext>
                  </a:extLst>
                </p:cNvPr>
                <p:cNvSpPr/>
                <p:nvPr/>
              </p:nvSpPr>
              <p:spPr>
                <a:xfrm>
                  <a:off x="801875" y="3603831"/>
                  <a:ext cx="2500856" cy="1015619"/>
                </a:xfrm>
                <a:prstGeom prst="roundRect">
                  <a:avLst>
                    <a:gd name="adj" fmla="val 0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marL="88900" indent="-88900"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독립변수 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 / 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종속 변수 확인</a:t>
                  </a:r>
                  <a:endPara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pPr marL="88900" indent="-88900">
                    <a:buFont typeface="Arial" panose="020B0604020202020204" pitchFamily="34" charset="0"/>
                    <a:buChar char="•"/>
                  </a:pPr>
                  <a:r>
                    <a:rPr lang="ko-KR" altLang="en-US" sz="1400" dirty="0">
                      <a:solidFill>
                        <a:schemeClr val="tx1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적용 가능한 분석 모델 확인</a:t>
                  </a:r>
                  <a:endPara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endPara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</p:grp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935FDAC-9CD2-1558-A5F5-C2E8A0C7E850}"/>
                </a:ext>
              </a:extLst>
            </p:cNvPr>
            <p:cNvGrpSpPr/>
            <p:nvPr/>
          </p:nvGrpSpPr>
          <p:grpSpPr>
            <a:xfrm>
              <a:off x="3798776" y="2647343"/>
              <a:ext cx="3331712" cy="2098455"/>
              <a:chOff x="3798776" y="2647343"/>
              <a:chExt cx="3331712" cy="2098455"/>
            </a:xfrm>
          </p:grpSpPr>
          <p:grpSp>
            <p:nvGrpSpPr>
              <p:cNvPr id="1029" name="그룹 1028">
                <a:extLst>
                  <a:ext uri="{FF2B5EF4-FFF2-40B4-BE49-F238E27FC236}">
                    <a16:creationId xmlns:a16="http://schemas.microsoft.com/office/drawing/2014/main" id="{3F21C790-021C-2608-6254-AF0A965F924A}"/>
                  </a:ext>
                </a:extLst>
              </p:cNvPr>
              <p:cNvGrpSpPr/>
              <p:nvPr/>
            </p:nvGrpSpPr>
            <p:grpSpPr>
              <a:xfrm>
                <a:off x="3798776" y="2647343"/>
                <a:ext cx="3331712" cy="2098455"/>
                <a:chOff x="323879" y="2478258"/>
                <a:chExt cx="3331712" cy="2098455"/>
              </a:xfrm>
            </p:grpSpPr>
            <p:sp>
              <p:nvSpPr>
                <p:cNvPr id="1030" name="자유형: 도형 1029">
                  <a:extLst>
                    <a:ext uri="{FF2B5EF4-FFF2-40B4-BE49-F238E27FC236}">
                      <a16:creationId xmlns:a16="http://schemas.microsoft.com/office/drawing/2014/main" id="{B63A32A6-8FC4-7D8D-32F7-94D18B7735FD}"/>
                    </a:ext>
                  </a:extLst>
                </p:cNvPr>
                <p:cNvSpPr/>
                <p:nvPr/>
              </p:nvSpPr>
              <p:spPr>
                <a:xfrm>
                  <a:off x="323879" y="2478258"/>
                  <a:ext cx="3331712" cy="772954"/>
                </a:xfrm>
                <a:custGeom>
                  <a:avLst/>
                  <a:gdLst>
                    <a:gd name="connsiteX0" fmla="*/ 2979300 w 3331712"/>
                    <a:gd name="connsiteY0" fmla="*/ 3 h 772954"/>
                    <a:gd name="connsiteX1" fmla="*/ 3331712 w 3331712"/>
                    <a:gd name="connsiteY1" fmla="*/ 396004 h 772954"/>
                    <a:gd name="connsiteX2" fmla="*/ 2979300 w 3331712"/>
                    <a:gd name="connsiteY2" fmla="*/ 772954 h 772954"/>
                    <a:gd name="connsiteX3" fmla="*/ 0 w 3331712"/>
                    <a:gd name="connsiteY3" fmla="*/ 0 h 772954"/>
                    <a:gd name="connsiteX4" fmla="*/ 2979299 w 3331712"/>
                    <a:gd name="connsiteY4" fmla="*/ 0 h 772954"/>
                    <a:gd name="connsiteX5" fmla="*/ 2979299 w 3331712"/>
                    <a:gd name="connsiteY5" fmla="*/ 772952 h 772954"/>
                    <a:gd name="connsiteX6" fmla="*/ 0 w 3331712"/>
                    <a:gd name="connsiteY6" fmla="*/ 772952 h 772954"/>
                    <a:gd name="connsiteX7" fmla="*/ 0 w 3331712"/>
                    <a:gd name="connsiteY7" fmla="*/ 772951 h 772954"/>
                    <a:gd name="connsiteX8" fmla="*/ 352411 w 3331712"/>
                    <a:gd name="connsiteY8" fmla="*/ 396003 h 772954"/>
                    <a:gd name="connsiteX9" fmla="*/ 0 w 3331712"/>
                    <a:gd name="connsiteY9" fmla="*/ 3 h 7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31712" h="772954">
                      <a:moveTo>
                        <a:pt x="2979300" y="3"/>
                      </a:moveTo>
                      <a:lnTo>
                        <a:pt x="3331712" y="396004"/>
                      </a:lnTo>
                      <a:lnTo>
                        <a:pt x="2979300" y="772954"/>
                      </a:lnTo>
                      <a:close/>
                      <a:moveTo>
                        <a:pt x="0" y="0"/>
                      </a:moveTo>
                      <a:lnTo>
                        <a:pt x="2979299" y="0"/>
                      </a:lnTo>
                      <a:lnTo>
                        <a:pt x="2979299" y="772952"/>
                      </a:lnTo>
                      <a:lnTo>
                        <a:pt x="0" y="772952"/>
                      </a:lnTo>
                      <a:lnTo>
                        <a:pt x="0" y="772951"/>
                      </a:lnTo>
                      <a:lnTo>
                        <a:pt x="352411" y="39600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A8B80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600" dirty="0"/>
                </a:p>
              </p:txBody>
            </p:sp>
            <p:sp>
              <p:nvSpPr>
                <p:cNvPr id="1031" name="사각형: 둥근 모서리 1030">
                  <a:extLst>
                    <a:ext uri="{FF2B5EF4-FFF2-40B4-BE49-F238E27FC236}">
                      <a16:creationId xmlns:a16="http://schemas.microsoft.com/office/drawing/2014/main" id="{D03CC67C-2551-F893-3A27-C33ADBA2159F}"/>
                    </a:ext>
                  </a:extLst>
                </p:cNvPr>
                <p:cNvSpPr/>
                <p:nvPr/>
              </p:nvSpPr>
              <p:spPr>
                <a:xfrm>
                  <a:off x="712984" y="2956367"/>
                  <a:ext cx="2693156" cy="1620346"/>
                </a:xfrm>
                <a:prstGeom prst="roundRect">
                  <a:avLst>
                    <a:gd name="adj" fmla="val 5381"/>
                  </a:avLst>
                </a:prstGeom>
                <a:noFill/>
                <a:ln w="57150"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1105" name="직사각형 1104">
                <a:extLst>
                  <a:ext uri="{FF2B5EF4-FFF2-40B4-BE49-F238E27FC236}">
                    <a16:creationId xmlns:a16="http://schemas.microsoft.com/office/drawing/2014/main" id="{04013498-2A07-5100-FD2D-938307AADFDE}"/>
                  </a:ext>
                </a:extLst>
              </p:cNvPr>
              <p:cNvSpPr/>
              <p:nvPr/>
            </p:nvSpPr>
            <p:spPr>
              <a:xfrm>
                <a:off x="4144772" y="2718484"/>
                <a:ext cx="2631364" cy="6306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페이퍼로지 6 SemiBold" pitchFamily="2" charset="-127"/>
                    <a:ea typeface="페이퍼로지 6 SemiBold" pitchFamily="2" charset="-127"/>
                  </a:rPr>
                  <a:t>STEP2. </a:t>
                </a:r>
                <a:r>
                  <a:rPr lang="ko-KR" altLang="en-US" sz="1600" dirty="0">
                    <a:latin typeface="페이퍼로지 6 SemiBold" pitchFamily="2" charset="-127"/>
                    <a:ea typeface="페이퍼로지 6 SemiBold" pitchFamily="2" charset="-127"/>
                  </a:rPr>
                  <a:t>데이터 </a:t>
                </a:r>
                <a:r>
                  <a:rPr lang="ko-KR" altLang="en-US" sz="1600" dirty="0" err="1">
                    <a:latin typeface="페이퍼로지 6 SemiBold" pitchFamily="2" charset="-127"/>
                    <a:ea typeface="페이퍼로지 6 SemiBold" pitchFamily="2" charset="-127"/>
                  </a:rPr>
                  <a:t>전처리</a:t>
                </a:r>
                <a:endParaRPr lang="ko-KR" altLang="en-US" sz="1600" dirty="0"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1110" name="사각형: 둥근 모서리 1109">
                <a:extLst>
                  <a:ext uri="{FF2B5EF4-FFF2-40B4-BE49-F238E27FC236}">
                    <a16:creationId xmlns:a16="http://schemas.microsoft.com/office/drawing/2014/main" id="{B259E92C-80E9-2078-62D7-B47DA7C217E7}"/>
                  </a:ext>
                </a:extLst>
              </p:cNvPr>
              <p:cNvSpPr/>
              <p:nvPr/>
            </p:nvSpPr>
            <p:spPr>
              <a:xfrm>
                <a:off x="4284031" y="3603831"/>
                <a:ext cx="2500856" cy="1015619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이미지 노이즈 필터링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/ 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정규화</a:t>
                </a:r>
                <a:endParaRPr lang="en-US" altLang="ko-KR" sz="14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불필요한 문자 제거 </a:t>
                </a: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123094D-E229-935D-4141-F26F432297A0}"/>
                </a:ext>
              </a:extLst>
            </p:cNvPr>
            <p:cNvGrpSpPr/>
            <p:nvPr/>
          </p:nvGrpSpPr>
          <p:grpSpPr>
            <a:xfrm>
              <a:off x="7188121" y="2647343"/>
              <a:ext cx="3331712" cy="2098455"/>
              <a:chOff x="7188121" y="2647343"/>
              <a:chExt cx="3331712" cy="2098455"/>
            </a:xfrm>
          </p:grpSpPr>
          <p:grpSp>
            <p:nvGrpSpPr>
              <p:cNvPr id="1032" name="그룹 1031">
                <a:extLst>
                  <a:ext uri="{FF2B5EF4-FFF2-40B4-BE49-F238E27FC236}">
                    <a16:creationId xmlns:a16="http://schemas.microsoft.com/office/drawing/2014/main" id="{AB5BED3C-7ADC-C908-2533-BF4E2C3E0A29}"/>
                  </a:ext>
                </a:extLst>
              </p:cNvPr>
              <p:cNvGrpSpPr/>
              <p:nvPr/>
            </p:nvGrpSpPr>
            <p:grpSpPr>
              <a:xfrm>
                <a:off x="7188121" y="2647343"/>
                <a:ext cx="3331712" cy="2098455"/>
                <a:chOff x="323879" y="2478258"/>
                <a:chExt cx="3331712" cy="2098455"/>
              </a:xfrm>
            </p:grpSpPr>
            <p:sp>
              <p:nvSpPr>
                <p:cNvPr id="1033" name="자유형: 도형 1032">
                  <a:extLst>
                    <a:ext uri="{FF2B5EF4-FFF2-40B4-BE49-F238E27FC236}">
                      <a16:creationId xmlns:a16="http://schemas.microsoft.com/office/drawing/2014/main" id="{3068D7B3-B3E9-ABCD-EDEC-1B56605CD7AE}"/>
                    </a:ext>
                  </a:extLst>
                </p:cNvPr>
                <p:cNvSpPr/>
                <p:nvPr/>
              </p:nvSpPr>
              <p:spPr>
                <a:xfrm>
                  <a:off x="323879" y="2478258"/>
                  <a:ext cx="3331712" cy="772954"/>
                </a:xfrm>
                <a:custGeom>
                  <a:avLst/>
                  <a:gdLst>
                    <a:gd name="connsiteX0" fmla="*/ 2979300 w 3331712"/>
                    <a:gd name="connsiteY0" fmla="*/ 3 h 772954"/>
                    <a:gd name="connsiteX1" fmla="*/ 3331712 w 3331712"/>
                    <a:gd name="connsiteY1" fmla="*/ 396004 h 772954"/>
                    <a:gd name="connsiteX2" fmla="*/ 2979300 w 3331712"/>
                    <a:gd name="connsiteY2" fmla="*/ 772954 h 772954"/>
                    <a:gd name="connsiteX3" fmla="*/ 0 w 3331712"/>
                    <a:gd name="connsiteY3" fmla="*/ 0 h 772954"/>
                    <a:gd name="connsiteX4" fmla="*/ 2979299 w 3331712"/>
                    <a:gd name="connsiteY4" fmla="*/ 0 h 772954"/>
                    <a:gd name="connsiteX5" fmla="*/ 2979299 w 3331712"/>
                    <a:gd name="connsiteY5" fmla="*/ 772952 h 772954"/>
                    <a:gd name="connsiteX6" fmla="*/ 0 w 3331712"/>
                    <a:gd name="connsiteY6" fmla="*/ 772952 h 772954"/>
                    <a:gd name="connsiteX7" fmla="*/ 0 w 3331712"/>
                    <a:gd name="connsiteY7" fmla="*/ 772951 h 772954"/>
                    <a:gd name="connsiteX8" fmla="*/ 352411 w 3331712"/>
                    <a:gd name="connsiteY8" fmla="*/ 396003 h 772954"/>
                    <a:gd name="connsiteX9" fmla="*/ 0 w 3331712"/>
                    <a:gd name="connsiteY9" fmla="*/ 3 h 7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31712" h="772954">
                      <a:moveTo>
                        <a:pt x="2979300" y="3"/>
                      </a:moveTo>
                      <a:lnTo>
                        <a:pt x="3331712" y="396004"/>
                      </a:lnTo>
                      <a:lnTo>
                        <a:pt x="2979300" y="772954"/>
                      </a:lnTo>
                      <a:close/>
                      <a:moveTo>
                        <a:pt x="0" y="0"/>
                      </a:moveTo>
                      <a:lnTo>
                        <a:pt x="2979299" y="0"/>
                      </a:lnTo>
                      <a:lnTo>
                        <a:pt x="2979299" y="772952"/>
                      </a:lnTo>
                      <a:lnTo>
                        <a:pt x="0" y="772952"/>
                      </a:lnTo>
                      <a:lnTo>
                        <a:pt x="0" y="772951"/>
                      </a:lnTo>
                      <a:lnTo>
                        <a:pt x="352411" y="39600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A8B80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034" name="사각형: 둥근 모서리 1033">
                  <a:extLst>
                    <a:ext uri="{FF2B5EF4-FFF2-40B4-BE49-F238E27FC236}">
                      <a16:creationId xmlns:a16="http://schemas.microsoft.com/office/drawing/2014/main" id="{6336F851-7006-D1F3-9341-86BEFF0A154F}"/>
                    </a:ext>
                  </a:extLst>
                </p:cNvPr>
                <p:cNvSpPr/>
                <p:nvPr/>
              </p:nvSpPr>
              <p:spPr>
                <a:xfrm>
                  <a:off x="712984" y="2956367"/>
                  <a:ext cx="2693156" cy="1620346"/>
                </a:xfrm>
                <a:prstGeom prst="roundRect">
                  <a:avLst>
                    <a:gd name="adj" fmla="val 5381"/>
                  </a:avLst>
                </a:prstGeom>
                <a:noFill/>
                <a:ln w="57150"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1106" name="직사각형 1105">
                <a:extLst>
                  <a:ext uri="{FF2B5EF4-FFF2-40B4-BE49-F238E27FC236}">
                    <a16:creationId xmlns:a16="http://schemas.microsoft.com/office/drawing/2014/main" id="{4FB6318B-8F5B-FEE0-6768-F63BE3221D70}"/>
                  </a:ext>
                </a:extLst>
              </p:cNvPr>
              <p:cNvSpPr/>
              <p:nvPr/>
            </p:nvSpPr>
            <p:spPr>
              <a:xfrm>
                <a:off x="7553787" y="2718484"/>
                <a:ext cx="2631364" cy="6306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페이퍼로지 6 SemiBold" pitchFamily="2" charset="-127"/>
                    <a:ea typeface="페이퍼로지 6 SemiBold" pitchFamily="2" charset="-127"/>
                  </a:rPr>
                  <a:t>STEP3. </a:t>
                </a:r>
                <a:r>
                  <a:rPr lang="ko-KR" altLang="en-US" sz="1600" dirty="0">
                    <a:latin typeface="페이퍼로지 6 SemiBold" pitchFamily="2" charset="-127"/>
                    <a:ea typeface="페이퍼로지 6 SemiBold" pitchFamily="2" charset="-127"/>
                  </a:rPr>
                  <a:t>데이터 분할</a:t>
                </a:r>
              </a:p>
            </p:txBody>
          </p:sp>
          <p:sp>
            <p:nvSpPr>
              <p:cNvPr id="1111" name="사각형: 둥근 모서리 1110">
                <a:extLst>
                  <a:ext uri="{FF2B5EF4-FFF2-40B4-BE49-F238E27FC236}">
                    <a16:creationId xmlns:a16="http://schemas.microsoft.com/office/drawing/2014/main" id="{64F07CBD-01D8-7ED8-73B1-8D13044C54D6}"/>
                  </a:ext>
                </a:extLst>
              </p:cNvPr>
              <p:cNvSpPr/>
              <p:nvPr/>
            </p:nvSpPr>
            <p:spPr>
              <a:xfrm>
                <a:off x="7673376" y="3603831"/>
                <a:ext cx="2500856" cy="1015619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Train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set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: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70~80%</a:t>
                </a: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Val / Test set : 10~15%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3F0C4A4-14D2-BFC2-C6AB-F2E8ED08B88C}"/>
                </a:ext>
              </a:extLst>
            </p:cNvPr>
            <p:cNvGrpSpPr/>
            <p:nvPr/>
          </p:nvGrpSpPr>
          <p:grpSpPr>
            <a:xfrm>
              <a:off x="2079540" y="5090135"/>
              <a:ext cx="3331712" cy="2098455"/>
              <a:chOff x="2079540" y="5090135"/>
              <a:chExt cx="3331712" cy="2098455"/>
            </a:xfrm>
          </p:grpSpPr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968267AB-1234-EA16-C49D-179363F39511}"/>
                  </a:ext>
                </a:extLst>
              </p:cNvPr>
              <p:cNvGrpSpPr/>
              <p:nvPr/>
            </p:nvGrpSpPr>
            <p:grpSpPr>
              <a:xfrm>
                <a:off x="2079540" y="5090135"/>
                <a:ext cx="3331712" cy="2098455"/>
                <a:chOff x="323879" y="2478258"/>
                <a:chExt cx="3331712" cy="2098455"/>
              </a:xfrm>
            </p:grpSpPr>
            <p:sp>
              <p:nvSpPr>
                <p:cNvPr id="1099" name="자유형: 도형 1098">
                  <a:extLst>
                    <a:ext uri="{FF2B5EF4-FFF2-40B4-BE49-F238E27FC236}">
                      <a16:creationId xmlns:a16="http://schemas.microsoft.com/office/drawing/2014/main" id="{9A2B3C00-4293-BBA1-6581-D6EF194CA860}"/>
                    </a:ext>
                  </a:extLst>
                </p:cNvPr>
                <p:cNvSpPr/>
                <p:nvPr/>
              </p:nvSpPr>
              <p:spPr>
                <a:xfrm>
                  <a:off x="323879" y="2478258"/>
                  <a:ext cx="3331712" cy="772954"/>
                </a:xfrm>
                <a:custGeom>
                  <a:avLst/>
                  <a:gdLst>
                    <a:gd name="connsiteX0" fmla="*/ 2979300 w 3331712"/>
                    <a:gd name="connsiteY0" fmla="*/ 3 h 772954"/>
                    <a:gd name="connsiteX1" fmla="*/ 3331712 w 3331712"/>
                    <a:gd name="connsiteY1" fmla="*/ 396004 h 772954"/>
                    <a:gd name="connsiteX2" fmla="*/ 2979300 w 3331712"/>
                    <a:gd name="connsiteY2" fmla="*/ 772954 h 772954"/>
                    <a:gd name="connsiteX3" fmla="*/ 0 w 3331712"/>
                    <a:gd name="connsiteY3" fmla="*/ 0 h 772954"/>
                    <a:gd name="connsiteX4" fmla="*/ 2979299 w 3331712"/>
                    <a:gd name="connsiteY4" fmla="*/ 0 h 772954"/>
                    <a:gd name="connsiteX5" fmla="*/ 2979299 w 3331712"/>
                    <a:gd name="connsiteY5" fmla="*/ 772952 h 772954"/>
                    <a:gd name="connsiteX6" fmla="*/ 0 w 3331712"/>
                    <a:gd name="connsiteY6" fmla="*/ 772952 h 772954"/>
                    <a:gd name="connsiteX7" fmla="*/ 0 w 3331712"/>
                    <a:gd name="connsiteY7" fmla="*/ 772951 h 772954"/>
                    <a:gd name="connsiteX8" fmla="*/ 352411 w 3331712"/>
                    <a:gd name="connsiteY8" fmla="*/ 396003 h 772954"/>
                    <a:gd name="connsiteX9" fmla="*/ 0 w 3331712"/>
                    <a:gd name="connsiteY9" fmla="*/ 3 h 7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31712" h="772954">
                      <a:moveTo>
                        <a:pt x="2979300" y="3"/>
                      </a:moveTo>
                      <a:lnTo>
                        <a:pt x="3331712" y="396004"/>
                      </a:lnTo>
                      <a:lnTo>
                        <a:pt x="2979300" y="772954"/>
                      </a:lnTo>
                      <a:close/>
                      <a:moveTo>
                        <a:pt x="0" y="0"/>
                      </a:moveTo>
                      <a:lnTo>
                        <a:pt x="2979299" y="0"/>
                      </a:lnTo>
                      <a:lnTo>
                        <a:pt x="2979299" y="772952"/>
                      </a:lnTo>
                      <a:lnTo>
                        <a:pt x="0" y="772952"/>
                      </a:lnTo>
                      <a:lnTo>
                        <a:pt x="0" y="772951"/>
                      </a:lnTo>
                      <a:lnTo>
                        <a:pt x="352411" y="39600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A8B80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600" dirty="0"/>
                </a:p>
              </p:txBody>
            </p:sp>
            <p:sp>
              <p:nvSpPr>
                <p:cNvPr id="1100" name="사각형: 둥근 모서리 1099">
                  <a:extLst>
                    <a:ext uri="{FF2B5EF4-FFF2-40B4-BE49-F238E27FC236}">
                      <a16:creationId xmlns:a16="http://schemas.microsoft.com/office/drawing/2014/main" id="{D672C0CC-9A17-F31E-7BE7-16A3479320E2}"/>
                    </a:ext>
                  </a:extLst>
                </p:cNvPr>
                <p:cNvSpPr/>
                <p:nvPr/>
              </p:nvSpPr>
              <p:spPr>
                <a:xfrm>
                  <a:off x="712984" y="2956367"/>
                  <a:ext cx="2693156" cy="1620346"/>
                </a:xfrm>
                <a:prstGeom prst="roundRect">
                  <a:avLst>
                    <a:gd name="adj" fmla="val 5381"/>
                  </a:avLst>
                </a:prstGeom>
                <a:noFill/>
                <a:ln w="57150"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1107" name="직사각형 1106">
                <a:extLst>
                  <a:ext uri="{FF2B5EF4-FFF2-40B4-BE49-F238E27FC236}">
                    <a16:creationId xmlns:a16="http://schemas.microsoft.com/office/drawing/2014/main" id="{6AC3D228-29E1-B250-D9CA-19F155A494B8}"/>
                  </a:ext>
                </a:extLst>
              </p:cNvPr>
              <p:cNvSpPr/>
              <p:nvPr/>
            </p:nvSpPr>
            <p:spPr>
              <a:xfrm>
                <a:off x="2499541" y="5172341"/>
                <a:ext cx="2631364" cy="6306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>
                    <a:latin typeface="페이퍼로지 6 SemiBold" pitchFamily="2" charset="-127"/>
                    <a:ea typeface="페이퍼로지 6 SemiBold" pitchFamily="2" charset="-127"/>
                  </a:rPr>
                  <a:t>STEP4.</a:t>
                </a:r>
                <a:r>
                  <a:rPr lang="ko-KR" altLang="en-US" sz="1600" dirty="0">
                    <a:latin typeface="페이퍼로지 6 SemiBold" pitchFamily="2" charset="-127"/>
                    <a:ea typeface="페이퍼로지 6 SemiBold" pitchFamily="2" charset="-127"/>
                  </a:rPr>
                  <a:t>모델 학습</a:t>
                </a:r>
              </a:p>
            </p:txBody>
          </p:sp>
          <p:sp>
            <p:nvSpPr>
              <p:cNvPr id="1112" name="사각형: 둥근 모서리 1111">
                <a:extLst>
                  <a:ext uri="{FF2B5EF4-FFF2-40B4-BE49-F238E27FC236}">
                    <a16:creationId xmlns:a16="http://schemas.microsoft.com/office/drawing/2014/main" id="{2DBE176E-8F99-AFCE-46D1-15F4E965BEE9}"/>
                  </a:ext>
                </a:extLst>
              </p:cNvPr>
              <p:cNvSpPr/>
              <p:nvPr/>
            </p:nvSpPr>
            <p:spPr>
              <a:xfrm>
                <a:off x="2594827" y="6062602"/>
                <a:ext cx="2500856" cy="1015619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dirty="0" err="1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머신러닝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알고리즘 적용 </a:t>
                </a:r>
                <a:endParaRPr lang="en-US" altLang="ko-KR" sz="14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최적모델 결정하기 위한 </a:t>
                </a:r>
                <a:r>
                  <a:rPr lang="ko-KR" altLang="en-US" sz="1400" dirty="0" err="1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하이퍼파라미터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탐색 및 조절</a:t>
                </a: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760BF0A-7BBD-997D-44D6-300FC789E7FE}"/>
                </a:ext>
              </a:extLst>
            </p:cNvPr>
            <p:cNvGrpSpPr/>
            <p:nvPr/>
          </p:nvGrpSpPr>
          <p:grpSpPr>
            <a:xfrm>
              <a:off x="5468885" y="5090135"/>
              <a:ext cx="3331712" cy="2098455"/>
              <a:chOff x="5468885" y="5090135"/>
              <a:chExt cx="3331712" cy="2098455"/>
            </a:xfrm>
          </p:grpSpPr>
          <p:grpSp>
            <p:nvGrpSpPr>
              <p:cNvPr id="1101" name="그룹 1100">
                <a:extLst>
                  <a:ext uri="{FF2B5EF4-FFF2-40B4-BE49-F238E27FC236}">
                    <a16:creationId xmlns:a16="http://schemas.microsoft.com/office/drawing/2014/main" id="{0AD9EF57-34FD-E16A-BE8E-F08529F23C5F}"/>
                  </a:ext>
                </a:extLst>
              </p:cNvPr>
              <p:cNvGrpSpPr/>
              <p:nvPr/>
            </p:nvGrpSpPr>
            <p:grpSpPr>
              <a:xfrm>
                <a:off x="5468885" y="5090135"/>
                <a:ext cx="3331712" cy="2098455"/>
                <a:chOff x="323879" y="2478258"/>
                <a:chExt cx="3331712" cy="2098455"/>
              </a:xfrm>
            </p:grpSpPr>
            <p:sp>
              <p:nvSpPr>
                <p:cNvPr id="1102" name="자유형: 도형 1101">
                  <a:extLst>
                    <a:ext uri="{FF2B5EF4-FFF2-40B4-BE49-F238E27FC236}">
                      <a16:creationId xmlns:a16="http://schemas.microsoft.com/office/drawing/2014/main" id="{BA182421-960E-83AA-603F-C5B52F5D8576}"/>
                    </a:ext>
                  </a:extLst>
                </p:cNvPr>
                <p:cNvSpPr/>
                <p:nvPr/>
              </p:nvSpPr>
              <p:spPr>
                <a:xfrm>
                  <a:off x="323879" y="2478258"/>
                  <a:ext cx="3331712" cy="772954"/>
                </a:xfrm>
                <a:custGeom>
                  <a:avLst/>
                  <a:gdLst>
                    <a:gd name="connsiteX0" fmla="*/ 2979300 w 3331712"/>
                    <a:gd name="connsiteY0" fmla="*/ 3 h 772954"/>
                    <a:gd name="connsiteX1" fmla="*/ 3331712 w 3331712"/>
                    <a:gd name="connsiteY1" fmla="*/ 396004 h 772954"/>
                    <a:gd name="connsiteX2" fmla="*/ 2979300 w 3331712"/>
                    <a:gd name="connsiteY2" fmla="*/ 772954 h 772954"/>
                    <a:gd name="connsiteX3" fmla="*/ 0 w 3331712"/>
                    <a:gd name="connsiteY3" fmla="*/ 0 h 772954"/>
                    <a:gd name="connsiteX4" fmla="*/ 2979299 w 3331712"/>
                    <a:gd name="connsiteY4" fmla="*/ 0 h 772954"/>
                    <a:gd name="connsiteX5" fmla="*/ 2979299 w 3331712"/>
                    <a:gd name="connsiteY5" fmla="*/ 772952 h 772954"/>
                    <a:gd name="connsiteX6" fmla="*/ 0 w 3331712"/>
                    <a:gd name="connsiteY6" fmla="*/ 772952 h 772954"/>
                    <a:gd name="connsiteX7" fmla="*/ 0 w 3331712"/>
                    <a:gd name="connsiteY7" fmla="*/ 772951 h 772954"/>
                    <a:gd name="connsiteX8" fmla="*/ 352411 w 3331712"/>
                    <a:gd name="connsiteY8" fmla="*/ 396003 h 772954"/>
                    <a:gd name="connsiteX9" fmla="*/ 0 w 3331712"/>
                    <a:gd name="connsiteY9" fmla="*/ 3 h 772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31712" h="772954">
                      <a:moveTo>
                        <a:pt x="2979300" y="3"/>
                      </a:moveTo>
                      <a:lnTo>
                        <a:pt x="3331712" y="396004"/>
                      </a:lnTo>
                      <a:lnTo>
                        <a:pt x="2979300" y="772954"/>
                      </a:lnTo>
                      <a:close/>
                      <a:moveTo>
                        <a:pt x="0" y="0"/>
                      </a:moveTo>
                      <a:lnTo>
                        <a:pt x="2979299" y="0"/>
                      </a:lnTo>
                      <a:lnTo>
                        <a:pt x="2979299" y="772952"/>
                      </a:lnTo>
                      <a:lnTo>
                        <a:pt x="0" y="772952"/>
                      </a:lnTo>
                      <a:lnTo>
                        <a:pt x="0" y="772951"/>
                      </a:lnTo>
                      <a:lnTo>
                        <a:pt x="352411" y="39600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9A8B80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1600" dirty="0"/>
                </a:p>
              </p:txBody>
            </p:sp>
            <p:sp>
              <p:nvSpPr>
                <p:cNvPr id="1103" name="사각형: 둥근 모서리 1102">
                  <a:extLst>
                    <a:ext uri="{FF2B5EF4-FFF2-40B4-BE49-F238E27FC236}">
                      <a16:creationId xmlns:a16="http://schemas.microsoft.com/office/drawing/2014/main" id="{16140D9A-D5FE-C8E9-2AA1-08FD06D6D73D}"/>
                    </a:ext>
                  </a:extLst>
                </p:cNvPr>
                <p:cNvSpPr/>
                <p:nvPr/>
              </p:nvSpPr>
              <p:spPr>
                <a:xfrm>
                  <a:off x="712984" y="2956367"/>
                  <a:ext cx="2693156" cy="1620346"/>
                </a:xfrm>
                <a:prstGeom prst="roundRect">
                  <a:avLst>
                    <a:gd name="adj" fmla="val 5381"/>
                  </a:avLst>
                </a:prstGeom>
                <a:noFill/>
                <a:ln w="57150"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sp>
            <p:nvSpPr>
              <p:cNvPr id="1108" name="직사각형 1107">
                <a:extLst>
                  <a:ext uri="{FF2B5EF4-FFF2-40B4-BE49-F238E27FC236}">
                    <a16:creationId xmlns:a16="http://schemas.microsoft.com/office/drawing/2014/main" id="{236C6773-D06F-C38A-8E2A-6C2DE1F3848E}"/>
                  </a:ext>
                </a:extLst>
              </p:cNvPr>
              <p:cNvSpPr/>
              <p:nvPr/>
            </p:nvSpPr>
            <p:spPr>
              <a:xfrm>
                <a:off x="5799595" y="5172341"/>
                <a:ext cx="2631364" cy="6306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dirty="0">
                    <a:latin typeface="페이퍼로지 6 SemiBold" pitchFamily="2" charset="-127"/>
                    <a:ea typeface="페이퍼로지 6 SemiBold" pitchFamily="2" charset="-127"/>
                  </a:rPr>
                  <a:t>STEP5.</a:t>
                </a:r>
                <a:r>
                  <a:rPr lang="ko-KR" altLang="en-US" sz="1600" dirty="0">
                    <a:latin typeface="페이퍼로지 6 SemiBold" pitchFamily="2" charset="-127"/>
                    <a:ea typeface="페이퍼로지 6 SemiBold" pitchFamily="2" charset="-127"/>
                  </a:rPr>
                  <a:t>성능 평가</a:t>
                </a:r>
              </a:p>
            </p:txBody>
          </p:sp>
          <p:sp>
            <p:nvSpPr>
              <p:cNvPr id="1113" name="사각형: 둥근 모서리 1112">
                <a:extLst>
                  <a:ext uri="{FF2B5EF4-FFF2-40B4-BE49-F238E27FC236}">
                    <a16:creationId xmlns:a16="http://schemas.microsoft.com/office/drawing/2014/main" id="{6C24B164-9AF6-6B89-2C02-235AA3215F38}"/>
                  </a:ext>
                </a:extLst>
              </p:cNvPr>
              <p:cNvSpPr/>
              <p:nvPr/>
            </p:nvSpPr>
            <p:spPr>
              <a:xfrm>
                <a:off x="5984172" y="6062602"/>
                <a:ext cx="2500856" cy="1015619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Test set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에 최종 모델 적용</a:t>
                </a:r>
                <a:endParaRPr lang="en-US" altLang="ko-KR" sz="1400" dirty="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marL="88900" indent="-88900">
                  <a:buFont typeface="Arial" panose="020B0604020202020204" pitchFamily="34" charset="0"/>
                  <a:buChar char="•"/>
                </a:pPr>
                <a:r>
                  <a:rPr lang="en-US" altLang="ko-KR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Test set</a:t>
                </a:r>
                <a:r>
                  <a:rPr lang="ko-KR" altLang="en-US" sz="140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에 대한 성능 확인</a:t>
                </a:r>
              </a:p>
            </p:txBody>
          </p:sp>
        </p:grp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AB2B82-A77A-EB14-9349-680827FE1DC9}"/>
              </a:ext>
            </a:extLst>
          </p:cNvPr>
          <p:cNvCxnSpPr>
            <a:cxnSpLocks/>
          </p:cNvCxnSpPr>
          <p:nvPr/>
        </p:nvCxnSpPr>
        <p:spPr>
          <a:xfrm>
            <a:off x="508004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4" name="직사각형 1113">
            <a:extLst>
              <a:ext uri="{FF2B5EF4-FFF2-40B4-BE49-F238E27FC236}">
                <a16:creationId xmlns:a16="http://schemas.microsoft.com/office/drawing/2014/main" id="{D6089CC1-28D1-8CBF-A8B7-BFD8A1DF2AAD}"/>
              </a:ext>
            </a:extLst>
          </p:cNvPr>
          <p:cNvSpPr/>
          <p:nvPr/>
        </p:nvSpPr>
        <p:spPr>
          <a:xfrm>
            <a:off x="943826" y="1430678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이미지 모델을 생성하기 위한 과정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</a:p>
          <a:p>
            <a:r>
              <a: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데이터 확보부터 최적의 모델 결정과정</a:t>
            </a:r>
            <a:endParaRPr lang="en-US" altLang="ko-KR" sz="2600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15" name="직사각형 1114">
            <a:extLst>
              <a:ext uri="{FF2B5EF4-FFF2-40B4-BE49-F238E27FC236}">
                <a16:creationId xmlns:a16="http://schemas.microsoft.com/office/drawing/2014/main" id="{12590E93-8B03-E99E-C071-8E0324CB61C3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sp>
        <p:nvSpPr>
          <p:cNvPr id="1116" name="사각형: 둥근 모서리 1115">
            <a:extLst>
              <a:ext uri="{FF2B5EF4-FFF2-40B4-BE49-F238E27FC236}">
                <a16:creationId xmlns:a16="http://schemas.microsoft.com/office/drawing/2014/main" id="{AC733880-7A22-5A92-0955-ABA300FF4A26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7" name="직사각형 1116">
            <a:extLst>
              <a:ext uri="{FF2B5EF4-FFF2-40B4-BE49-F238E27FC236}">
                <a16:creationId xmlns:a16="http://schemas.microsoft.com/office/drawing/2014/main" id="{5D99CB0A-9857-9B82-28C7-27CD321D80B6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프로젝트 과정</a:t>
            </a:r>
            <a:endParaRPr lang="en-US" altLang="ko-KR" sz="1400" spc="-9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18" name="자유형: 도형 1117">
            <a:extLst>
              <a:ext uri="{FF2B5EF4-FFF2-40B4-BE49-F238E27FC236}">
                <a16:creationId xmlns:a16="http://schemas.microsoft.com/office/drawing/2014/main" id="{34A64747-8834-AA12-3603-79241DD7C292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19" name="직사각형 1118">
            <a:extLst>
              <a:ext uri="{FF2B5EF4-FFF2-40B4-BE49-F238E27FC236}">
                <a16:creationId xmlns:a16="http://schemas.microsoft.com/office/drawing/2014/main" id="{BE737E44-8A7E-EA36-C25E-1DE3BCC002D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801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31E0-D116-45A2-716C-C7AE6CFD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C5E511A-F164-3AA5-F6DE-9896439F1D31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9C0185F-3516-5CB7-D194-6001C9C02A69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DA8C32F-FED2-5E71-5FFD-9C8E79C9748D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777310-3369-EC92-0836-2548CC0373D3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데이터 수집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DA71A2E3-841E-E1BA-38F2-A3D6B43551DD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C7265E-A4CB-8ED5-E234-523FB64512F0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4CD57BC-106E-3A7E-789F-C52B1DC4E0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A2E584EB-2537-95BA-6C26-2A560ABC1C2F}"/>
              </a:ext>
            </a:extLst>
          </p:cNvPr>
          <p:cNvSpPr/>
          <p:nvPr/>
        </p:nvSpPr>
        <p:spPr>
          <a:xfrm>
            <a:off x="943826" y="1199752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수집 데이터 유형 및 목적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545151D-BC5A-12AF-1664-E9F8C23CA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587123"/>
              </p:ext>
            </p:extLst>
          </p:nvPr>
        </p:nvGraphicFramePr>
        <p:xfrm>
          <a:off x="978695" y="1727200"/>
          <a:ext cx="8734423" cy="4469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105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88506386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  <a:gridCol w="4785518">
                  <a:extLst>
                    <a:ext uri="{9D8B030D-6E8A-4147-A177-3AD203B41FA5}">
                      <a16:colId xmlns:a16="http://schemas.microsoft.com/office/drawing/2014/main" val="1717869835"/>
                    </a:ext>
                  </a:extLst>
                </a:gridCol>
              </a:tblGrid>
              <a:tr h="362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수집 사이트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수집 방법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수집 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842728">
                <a:tc rowSpan="4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spc="-80" baseline="0">
                          <a:latin typeface="페이퍼로지 6 SemiBold" pitchFamily="2" charset="-127"/>
                          <a:ea typeface="페이퍼로지 6 SemiBold" pitchFamily="2" charset="-127"/>
                        </a:rPr>
                        <a:t>이미지 데이터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 err="1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셀렉트스타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파일 다운로드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l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모델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 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생성을 위한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100,000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음식 이미지 수집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9027458"/>
                  </a:ext>
                </a:extLst>
              </a:tr>
              <a:tr h="842728">
                <a:tc vMerge="1">
                  <a:txBody>
                    <a:bodyPr/>
                    <a:lstStyle/>
                    <a:p>
                      <a:pPr lvl="0" algn="ctr" latinLnBrk="1"/>
                      <a:endParaRPr lang="ko-KR" altLang="en-US" sz="1400" spc="-80" baseline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네이버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웹크롤링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lvl="0" algn="l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모델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2 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생성을 위한 특정 브랜드 메뉴 이미지 수집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lvl="0" algn="l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목표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브랜드별 개당 이미지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1000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수집 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  <a:p>
                      <a:pPr marL="0" lvl="0" algn="l" defTabSz="1007943" rtl="0" eaLnBrk="1" latinLnBrk="1" hangingPunct="1"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실제 수집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데이터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: 12,700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개 수집 완료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181119"/>
                  </a:ext>
                </a:extLst>
              </a:tr>
              <a:tr h="842728">
                <a:tc vMerge="1">
                  <a:txBody>
                    <a:bodyPr/>
                    <a:lstStyle/>
                    <a:p>
                      <a:pPr lvl="0" algn="ctr" latinLnBrk="1"/>
                      <a:endParaRPr lang="ko-KR" altLang="en-US" sz="1400" spc="-80" baseline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다음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웹크롤링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200221"/>
                  </a:ext>
                </a:extLst>
              </a:tr>
              <a:tr h="842728">
                <a:tc vMerge="1">
                  <a:txBody>
                    <a:bodyPr/>
                    <a:lstStyle/>
                    <a:p>
                      <a:pPr lvl="0" algn="ctr" latinLnBrk="1"/>
                      <a:endParaRPr lang="ko-KR" altLang="en-US" sz="1400" spc="-80" baseline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en-US" altLang="ko-KR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Google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웹크롤링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045931"/>
                  </a:ext>
                </a:extLst>
              </a:tr>
              <a:tr h="735257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pc="-80" baseline="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메타 데이터</a:t>
                      </a:r>
                      <a:endParaRPr lang="en-US" altLang="ko-KR" sz="1400" spc="-80" baseline="0" dirty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네이버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algn="ctr" defTabSz="1007943" rtl="0" eaLnBrk="1" latinLnBrk="1" hangingPunct="1">
                        <a:defRPr/>
                      </a:pPr>
                      <a:r>
                        <a:rPr lang="ko-KR" altLang="en-US" sz="1400" kern="1200" spc="-80" baseline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웹크롤링</a:t>
                      </a:r>
                      <a:endParaRPr lang="en-US" altLang="ko-KR" sz="1400" kern="1200" spc="-80" baseline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794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네이버 검색 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API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를 활용하여 뉴스</a:t>
                      </a:r>
                      <a:r>
                        <a:rPr lang="en-US" altLang="ko-KR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spc="-80" baseline="0" dirty="0">
                          <a:solidFill>
                            <a:schemeClr val="tx1"/>
                          </a:solidFill>
                          <a:latin typeface="페이퍼로지 4 Regular" pitchFamily="2" charset="-127"/>
                          <a:ea typeface="페이퍼로지 4 Regular" pitchFamily="2" charset="-127"/>
                          <a:cs typeface="+mn-cs"/>
                        </a:rPr>
                        <a:t>네이버에서 특정 검색어 수집</a:t>
                      </a:r>
                      <a:endParaRPr lang="en-US" altLang="ko-KR" sz="1400" kern="1200" spc="-80" baseline="0" dirty="0">
                        <a:solidFill>
                          <a:schemeClr val="tx1"/>
                        </a:solidFill>
                        <a:latin typeface="페이퍼로지 4 Regular" pitchFamily="2" charset="-127"/>
                        <a:ea typeface="페이퍼로지 4 Regular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71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09E2-9AE0-3B38-5868-1CB1F015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9AF710-FFEF-C86E-01BC-0CA2C2E93331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E92F15A-3A8D-330A-4B37-2C068CB045C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BD4123-08F9-2246-8984-7AC23BBEE98C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AA4D021-35EA-BAC5-AA87-55ABBA5F60AE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AB1BE7-85A1-3CE6-5DDB-F9E1028D225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데이터 전처리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7F0D927-77CF-D76D-0C09-9DE16AB8CE0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E98CF3-92E2-2EA7-D698-1A828300AB35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D21F05A8-EC3B-3A1F-2A36-B0DC04217820}"/>
              </a:ext>
            </a:extLst>
          </p:cNvPr>
          <p:cNvGrpSpPr/>
          <p:nvPr/>
        </p:nvGrpSpPr>
        <p:grpSpPr>
          <a:xfrm>
            <a:off x="852691" y="1727984"/>
            <a:ext cx="9077860" cy="7725371"/>
            <a:chOff x="852691" y="1956584"/>
            <a:chExt cx="9077860" cy="7725371"/>
          </a:xfrm>
        </p:grpSpPr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4993FF6-8E81-9E86-0DA4-81F2B79A0671}"/>
                </a:ext>
              </a:extLst>
            </p:cNvPr>
            <p:cNvGrpSpPr/>
            <p:nvPr/>
          </p:nvGrpSpPr>
          <p:grpSpPr>
            <a:xfrm>
              <a:off x="1666146" y="2172258"/>
              <a:ext cx="7359520" cy="7509697"/>
              <a:chOff x="1666146" y="2172258"/>
              <a:chExt cx="7359520" cy="7509697"/>
            </a:xfrm>
          </p:grpSpPr>
          <p:sp>
            <p:nvSpPr>
              <p:cNvPr id="97" name="원호 96">
                <a:extLst>
                  <a:ext uri="{FF2B5EF4-FFF2-40B4-BE49-F238E27FC236}">
                    <a16:creationId xmlns:a16="http://schemas.microsoft.com/office/drawing/2014/main" id="{46414FD4-4B36-1517-A358-2A72EBFF78D5}"/>
                  </a:ext>
                </a:extLst>
              </p:cNvPr>
              <p:cNvSpPr/>
              <p:nvPr/>
            </p:nvSpPr>
            <p:spPr>
              <a:xfrm>
                <a:off x="1666146" y="2322435"/>
                <a:ext cx="7359520" cy="7359520"/>
              </a:xfrm>
              <a:prstGeom prst="arc">
                <a:avLst>
                  <a:gd name="adj1" fmla="val 10262319"/>
                  <a:gd name="adj2" fmla="val 0"/>
                </a:avLst>
              </a:prstGeom>
              <a:ln>
                <a:solidFill>
                  <a:srgbClr val="F78535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이등변 삼각형 98">
                <a:extLst>
                  <a:ext uri="{FF2B5EF4-FFF2-40B4-BE49-F238E27FC236}">
                    <a16:creationId xmlns:a16="http://schemas.microsoft.com/office/drawing/2014/main" id="{954AA37C-C286-3EC8-65E6-3E2A19DCC845}"/>
                  </a:ext>
                </a:extLst>
              </p:cNvPr>
              <p:cNvSpPr/>
              <p:nvPr/>
            </p:nvSpPr>
            <p:spPr>
              <a:xfrm rot="1800000">
                <a:off x="1968417" y="4045974"/>
                <a:ext cx="353568" cy="304800"/>
              </a:xfrm>
              <a:prstGeom prst="triangl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이등변 삼각형 99">
                <a:extLst>
                  <a:ext uri="{FF2B5EF4-FFF2-40B4-BE49-F238E27FC236}">
                    <a16:creationId xmlns:a16="http://schemas.microsoft.com/office/drawing/2014/main" id="{E000F7A0-AC82-A369-AB0C-315C1CB3F3BB}"/>
                  </a:ext>
                </a:extLst>
              </p:cNvPr>
              <p:cNvSpPr/>
              <p:nvPr/>
            </p:nvSpPr>
            <p:spPr>
              <a:xfrm rot="5400000">
                <a:off x="5173205" y="2196642"/>
                <a:ext cx="353568" cy="304800"/>
              </a:xfrm>
              <a:prstGeom prst="triangl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이등변 삼각형 102">
                <a:extLst>
                  <a:ext uri="{FF2B5EF4-FFF2-40B4-BE49-F238E27FC236}">
                    <a16:creationId xmlns:a16="http://schemas.microsoft.com/office/drawing/2014/main" id="{6722F02D-C9C3-3259-AD47-D0E47FADB8B9}"/>
                  </a:ext>
                </a:extLst>
              </p:cNvPr>
              <p:cNvSpPr/>
              <p:nvPr/>
            </p:nvSpPr>
            <p:spPr>
              <a:xfrm rot="1800000">
                <a:off x="8423312" y="4045975"/>
                <a:ext cx="353568" cy="304800"/>
              </a:xfrm>
              <a:prstGeom prst="triangle">
                <a:avLst/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505935E1-7105-76A2-4035-30AEAA938122}"/>
                </a:ext>
              </a:extLst>
            </p:cNvPr>
            <p:cNvGrpSpPr/>
            <p:nvPr/>
          </p:nvGrpSpPr>
          <p:grpSpPr>
            <a:xfrm>
              <a:off x="2148865" y="1956584"/>
              <a:ext cx="1663576" cy="1663576"/>
              <a:chOff x="2148865" y="1956584"/>
              <a:chExt cx="1663576" cy="1663576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674E89F5-9504-7FC6-1725-86839CA35B0F}"/>
                  </a:ext>
                </a:extLst>
              </p:cNvPr>
              <p:cNvSpPr/>
              <p:nvPr/>
            </p:nvSpPr>
            <p:spPr>
              <a:xfrm>
                <a:off x="2148865" y="1956584"/>
                <a:ext cx="1663576" cy="1663576"/>
              </a:xfrm>
              <a:prstGeom prst="ellipse">
                <a:avLst/>
              </a:prstGeom>
              <a:solidFill>
                <a:srgbClr val="9A8B8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236ABE95-B640-9CE5-BDD9-8844EEA84837}"/>
                  </a:ext>
                </a:extLst>
              </p:cNvPr>
              <p:cNvSpPr/>
              <p:nvPr/>
            </p:nvSpPr>
            <p:spPr>
              <a:xfrm>
                <a:off x="2301265" y="2108984"/>
                <a:ext cx="1358776" cy="13587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50800" dir="5400000" sx="104000" sy="104000" algn="ctr" rotWithShape="0">
                  <a:srgbClr val="2A2A2A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249A3588-39C4-0F58-B6FC-3775903327B5}"/>
                </a:ext>
              </a:extLst>
            </p:cNvPr>
            <p:cNvGrpSpPr/>
            <p:nvPr/>
          </p:nvGrpSpPr>
          <p:grpSpPr>
            <a:xfrm>
              <a:off x="6823552" y="1956584"/>
              <a:ext cx="1663576" cy="1663576"/>
              <a:chOff x="2148865" y="1956584"/>
              <a:chExt cx="1663576" cy="1663576"/>
            </a:xfrm>
          </p:grpSpPr>
          <p:sp>
            <p:nvSpPr>
              <p:cNvPr id="76" name="타원 75">
                <a:extLst>
                  <a:ext uri="{FF2B5EF4-FFF2-40B4-BE49-F238E27FC236}">
                    <a16:creationId xmlns:a16="http://schemas.microsoft.com/office/drawing/2014/main" id="{4CF84738-C1F8-277E-D744-313B55485978}"/>
                  </a:ext>
                </a:extLst>
              </p:cNvPr>
              <p:cNvSpPr/>
              <p:nvPr/>
            </p:nvSpPr>
            <p:spPr>
              <a:xfrm>
                <a:off x="2148865" y="1956584"/>
                <a:ext cx="1663576" cy="1663576"/>
              </a:xfrm>
              <a:prstGeom prst="ellipse">
                <a:avLst/>
              </a:prstGeom>
              <a:solidFill>
                <a:srgbClr val="9A8B8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46CB94CD-5761-FF9B-1E31-F5916CCF5541}"/>
                  </a:ext>
                </a:extLst>
              </p:cNvPr>
              <p:cNvSpPr/>
              <p:nvPr/>
            </p:nvSpPr>
            <p:spPr>
              <a:xfrm>
                <a:off x="2301265" y="2108984"/>
                <a:ext cx="1358776" cy="13587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50800" dir="5400000" sx="104000" sy="104000" algn="ctr" rotWithShape="0">
                  <a:srgbClr val="2A2A2A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CA3EFF65-46AE-48B2-40F5-99F0DBB2F0A5}"/>
                </a:ext>
              </a:extLst>
            </p:cNvPr>
            <p:cNvGrpSpPr/>
            <p:nvPr/>
          </p:nvGrpSpPr>
          <p:grpSpPr>
            <a:xfrm>
              <a:off x="8266975" y="5112018"/>
              <a:ext cx="1663576" cy="1663576"/>
              <a:chOff x="1142389" y="5112018"/>
              <a:chExt cx="1663576" cy="1663576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025492A0-CA6E-50D6-AE26-21BABCA81176}"/>
                  </a:ext>
                </a:extLst>
              </p:cNvPr>
              <p:cNvSpPr/>
              <p:nvPr/>
            </p:nvSpPr>
            <p:spPr>
              <a:xfrm>
                <a:off x="1142389" y="5112018"/>
                <a:ext cx="1663576" cy="1663576"/>
              </a:xfrm>
              <a:prstGeom prst="ellipse">
                <a:avLst/>
              </a:prstGeom>
              <a:solidFill>
                <a:srgbClr val="9A8B8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21D2D402-E42A-C186-77C7-CC02D2BB86DE}"/>
                  </a:ext>
                </a:extLst>
              </p:cNvPr>
              <p:cNvSpPr/>
              <p:nvPr/>
            </p:nvSpPr>
            <p:spPr>
              <a:xfrm>
                <a:off x="1294789" y="5264418"/>
                <a:ext cx="1358776" cy="135877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27000" dist="50800" dir="5400000" sx="104000" sy="104000" algn="ctr" rotWithShape="0">
                  <a:srgbClr val="2A2A2A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E3D80A8-EBF8-3FEB-DF1B-7C2BCE22B3BC}"/>
                </a:ext>
              </a:extLst>
            </p:cNvPr>
            <p:cNvGrpSpPr/>
            <p:nvPr/>
          </p:nvGrpSpPr>
          <p:grpSpPr>
            <a:xfrm>
              <a:off x="3312979" y="3429140"/>
              <a:ext cx="4065854" cy="4065854"/>
              <a:chOff x="3733016" y="3251061"/>
              <a:chExt cx="3225780" cy="3225780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F186D92D-A10A-DE1C-758C-DAE70C2781A7}"/>
                  </a:ext>
                </a:extLst>
              </p:cNvPr>
              <p:cNvGrpSpPr/>
              <p:nvPr/>
            </p:nvGrpSpPr>
            <p:grpSpPr>
              <a:xfrm>
                <a:off x="3733016" y="3251061"/>
                <a:ext cx="3225780" cy="3225780"/>
                <a:chOff x="3175160" y="3251061"/>
                <a:chExt cx="3225780" cy="3225780"/>
              </a:xfrm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7EE85924-1017-1484-0D1D-00480BED3A8B}"/>
                    </a:ext>
                  </a:extLst>
                </p:cNvPr>
                <p:cNvSpPr/>
                <p:nvPr/>
              </p:nvSpPr>
              <p:spPr>
                <a:xfrm>
                  <a:off x="3175160" y="3251061"/>
                  <a:ext cx="3225780" cy="3225780"/>
                </a:xfrm>
                <a:prstGeom prst="ellipse">
                  <a:avLst/>
                </a:prstGeom>
                <a:solidFill>
                  <a:srgbClr val="F78535">
                    <a:alpha val="4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타원 56">
                  <a:extLst>
                    <a:ext uri="{FF2B5EF4-FFF2-40B4-BE49-F238E27FC236}">
                      <a16:creationId xmlns:a16="http://schemas.microsoft.com/office/drawing/2014/main" id="{B08035B9-76B7-FE39-291E-534D03D5D389}"/>
                    </a:ext>
                  </a:extLst>
                </p:cNvPr>
                <p:cNvSpPr/>
                <p:nvPr/>
              </p:nvSpPr>
              <p:spPr>
                <a:xfrm>
                  <a:off x="3441860" y="3517761"/>
                  <a:ext cx="2692380" cy="26923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DF33A4FB-42AF-5053-FC9A-5C0163A3B888}"/>
                    </a:ext>
                  </a:extLst>
                </p:cNvPr>
                <p:cNvSpPr/>
                <p:nvPr/>
              </p:nvSpPr>
              <p:spPr>
                <a:xfrm>
                  <a:off x="3637513" y="3713414"/>
                  <a:ext cx="2301074" cy="230107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CD2B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2E57E037-6C91-27A9-E44C-62D8970FBE36}"/>
                    </a:ext>
                  </a:extLst>
                </p:cNvPr>
                <p:cNvSpPr/>
                <p:nvPr/>
              </p:nvSpPr>
              <p:spPr>
                <a:xfrm>
                  <a:off x="3911008" y="3986909"/>
                  <a:ext cx="1754084" cy="1754084"/>
                </a:xfrm>
                <a:prstGeom prst="ellipse">
                  <a:avLst/>
                </a:prstGeom>
                <a:solidFill>
                  <a:srgbClr val="F7853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43C48729-7713-461E-5A84-B8C71108C832}"/>
                  </a:ext>
                </a:extLst>
              </p:cNvPr>
              <p:cNvSpPr/>
              <p:nvPr/>
            </p:nvSpPr>
            <p:spPr>
              <a:xfrm>
                <a:off x="4320173" y="4230871"/>
                <a:ext cx="2051466" cy="12663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데이터 </a:t>
                </a:r>
                <a:r>
                  <a:rPr lang="ko-KR" altLang="en-US" sz="2000" dirty="0" err="1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전처리</a:t>
                </a:r>
                <a:r>
                  <a:rPr lang="ko-KR" altLang="en-US" sz="200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 과정 </a:t>
                </a: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E83D60A4-3DEC-F9D6-5557-7D979F36FC9C}"/>
                </a:ext>
              </a:extLst>
            </p:cNvPr>
            <p:cNvGrpSpPr/>
            <p:nvPr/>
          </p:nvGrpSpPr>
          <p:grpSpPr>
            <a:xfrm>
              <a:off x="852691" y="5112018"/>
              <a:ext cx="1663576" cy="1663576"/>
              <a:chOff x="1142389" y="5112018"/>
              <a:chExt cx="1663576" cy="1663576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500055DF-288F-7D1C-1900-6EB1F61EC664}"/>
                  </a:ext>
                </a:extLst>
              </p:cNvPr>
              <p:cNvGrpSpPr/>
              <p:nvPr/>
            </p:nvGrpSpPr>
            <p:grpSpPr>
              <a:xfrm>
                <a:off x="1142389" y="5112018"/>
                <a:ext cx="1663576" cy="1663576"/>
                <a:chOff x="1142389" y="5112018"/>
                <a:chExt cx="1663576" cy="1663576"/>
              </a:xfrm>
            </p:grpSpPr>
            <p:sp>
              <p:nvSpPr>
                <p:cNvPr id="47" name="타원 46">
                  <a:extLst>
                    <a:ext uri="{FF2B5EF4-FFF2-40B4-BE49-F238E27FC236}">
                      <a16:creationId xmlns:a16="http://schemas.microsoft.com/office/drawing/2014/main" id="{D38A9100-8CAA-6E3D-26FF-AF38C724FD4C}"/>
                    </a:ext>
                  </a:extLst>
                </p:cNvPr>
                <p:cNvSpPr/>
                <p:nvPr/>
              </p:nvSpPr>
              <p:spPr>
                <a:xfrm>
                  <a:off x="1142389" y="5112018"/>
                  <a:ext cx="1663576" cy="1663576"/>
                </a:xfrm>
                <a:prstGeom prst="ellipse">
                  <a:avLst/>
                </a:prstGeom>
                <a:solidFill>
                  <a:srgbClr val="9A8B80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FFA8060B-B5EF-3C23-F898-F5AD8A0ED7A3}"/>
                    </a:ext>
                  </a:extLst>
                </p:cNvPr>
                <p:cNvSpPr/>
                <p:nvPr/>
              </p:nvSpPr>
              <p:spPr>
                <a:xfrm>
                  <a:off x="1294789" y="5264418"/>
                  <a:ext cx="1358776" cy="135877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27000" dist="50800" dir="5400000" sx="104000" sy="104000" algn="ctr" rotWithShape="0">
                    <a:srgbClr val="2A2A2A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61034057-F69B-FA8D-9875-A89153F47AEB}"/>
                  </a:ext>
                </a:extLst>
              </p:cNvPr>
              <p:cNvSpPr/>
              <p:nvPr/>
            </p:nvSpPr>
            <p:spPr>
              <a:xfrm>
                <a:off x="1270930" y="5503539"/>
                <a:ext cx="1370594" cy="90620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90" dirty="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노이즈 이미지 </a:t>
                </a:r>
                <a:endParaRPr lang="en-US" altLang="ko-KR" sz="1400" spc="-9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  <a:p>
                <a:pPr algn="ctr"/>
                <a:r>
                  <a:rPr lang="ko-KR" altLang="en-US" sz="1400" spc="-90" dirty="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필터링 </a:t>
                </a:r>
              </a:p>
            </p:txBody>
          </p:sp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514363D2-33C8-824D-C7A5-49AD25A7CB83}"/>
                </a:ext>
              </a:extLst>
            </p:cNvPr>
            <p:cNvSpPr/>
            <p:nvPr/>
          </p:nvSpPr>
          <p:spPr>
            <a:xfrm>
              <a:off x="2302956" y="2351568"/>
              <a:ext cx="1370594" cy="9062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9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이미지  </a:t>
              </a:r>
              <a:r>
                <a:rPr lang="ko-KR" altLang="en-US" sz="1400" spc="-9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조정</a:t>
              </a:r>
              <a:endParaRPr lang="en-US" altLang="ko-KR" sz="1400" spc="-9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E33456C6-D371-7D60-9CB9-4368AD90046A}"/>
                </a:ext>
              </a:extLst>
            </p:cNvPr>
            <p:cNvSpPr/>
            <p:nvPr/>
          </p:nvSpPr>
          <p:spPr>
            <a:xfrm>
              <a:off x="6975952" y="2351568"/>
              <a:ext cx="1370594" cy="9062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9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훈련 데이터 증강</a:t>
              </a:r>
              <a:endParaRPr lang="en-US" altLang="ko-KR" sz="1400" spc="-9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CCB68A12-D686-150C-FABA-698F3AE91370}"/>
                </a:ext>
              </a:extLst>
            </p:cNvPr>
            <p:cNvSpPr/>
            <p:nvPr/>
          </p:nvSpPr>
          <p:spPr>
            <a:xfrm>
              <a:off x="8413133" y="5501739"/>
              <a:ext cx="1370594" cy="9062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9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메타 데이터 정제 </a:t>
              </a:r>
              <a:endParaRPr lang="en-US" altLang="ko-KR" sz="1400" spc="-9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71BC87F5-DF8A-8510-EC1B-753135F035BD}"/>
              </a:ext>
            </a:extLst>
          </p:cNvPr>
          <p:cNvSpPr/>
          <p:nvPr/>
        </p:nvSpPr>
        <p:spPr>
          <a:xfrm>
            <a:off x="1122716" y="5156200"/>
            <a:ext cx="1081968" cy="237321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STEP1</a:t>
            </a:r>
            <a:endParaRPr lang="ko-KR" altLang="en-US" sz="1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0F47AEBF-4B45-A15D-1402-DB3F5C8E5FE4}"/>
              </a:ext>
            </a:extLst>
          </p:cNvPr>
          <p:cNvSpPr/>
          <p:nvPr/>
        </p:nvSpPr>
        <p:spPr>
          <a:xfrm>
            <a:off x="8551190" y="5156200"/>
            <a:ext cx="1081968" cy="237321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STEP 4</a:t>
            </a:r>
            <a:endParaRPr lang="ko-KR" altLang="en-US" sz="1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ED91CB68-D289-96C9-9895-ECFF7CE8C91E}"/>
              </a:ext>
            </a:extLst>
          </p:cNvPr>
          <p:cNvSpPr/>
          <p:nvPr/>
        </p:nvSpPr>
        <p:spPr>
          <a:xfrm>
            <a:off x="2447269" y="1927662"/>
            <a:ext cx="1081968" cy="237321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STEP 2</a:t>
            </a:r>
            <a:endParaRPr lang="ko-KR" altLang="en-US" sz="1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301198B8-6681-1F55-12E4-CD9DCFE8122A}"/>
              </a:ext>
            </a:extLst>
          </p:cNvPr>
          <p:cNvSpPr/>
          <p:nvPr/>
        </p:nvSpPr>
        <p:spPr>
          <a:xfrm>
            <a:off x="7095773" y="1927662"/>
            <a:ext cx="1081968" cy="237321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STEP 3</a:t>
            </a:r>
            <a:endParaRPr lang="ko-KR" altLang="en-US" sz="14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106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8" name="그룹 2067">
            <a:extLst>
              <a:ext uri="{FF2B5EF4-FFF2-40B4-BE49-F238E27FC236}">
                <a16:creationId xmlns:a16="http://schemas.microsoft.com/office/drawing/2014/main" id="{F19FB8D4-22AA-9E88-65EC-F58822DF7AA7}"/>
              </a:ext>
            </a:extLst>
          </p:cNvPr>
          <p:cNvGrpSpPr/>
          <p:nvPr/>
        </p:nvGrpSpPr>
        <p:grpSpPr>
          <a:xfrm>
            <a:off x="701946" y="2354757"/>
            <a:ext cx="9287921" cy="4586706"/>
            <a:chOff x="701946" y="2354757"/>
            <a:chExt cx="9287921" cy="4586706"/>
          </a:xfrm>
        </p:grpSpPr>
        <p:pic>
          <p:nvPicPr>
            <p:cNvPr id="2063" name="그림 2062">
              <a:extLst>
                <a:ext uri="{FF2B5EF4-FFF2-40B4-BE49-F238E27FC236}">
                  <a16:creationId xmlns:a16="http://schemas.microsoft.com/office/drawing/2014/main" id="{E133BF27-5C9E-08C4-7714-706D8688B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1946" y="2354757"/>
              <a:ext cx="9287920" cy="4586706"/>
            </a:xfrm>
            <a:prstGeom prst="rect">
              <a:avLst/>
            </a:prstGeom>
          </p:spPr>
        </p:pic>
        <p:pic>
          <p:nvPicPr>
            <p:cNvPr id="2065" name="그림 2064">
              <a:extLst>
                <a:ext uri="{FF2B5EF4-FFF2-40B4-BE49-F238E27FC236}">
                  <a16:creationId xmlns:a16="http://schemas.microsoft.com/office/drawing/2014/main" id="{BC64FD69-FB5F-CED8-57B8-20681FA72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1440" t="68908" b="2152"/>
            <a:stretch>
              <a:fillRect/>
            </a:stretch>
          </p:blipFill>
          <p:spPr>
            <a:xfrm>
              <a:off x="6408420" y="5515370"/>
              <a:ext cx="3581446" cy="1327390"/>
            </a:xfrm>
            <a:custGeom>
              <a:avLst/>
              <a:gdLst>
                <a:gd name="connsiteX0" fmla="*/ 0 w 3581446"/>
                <a:gd name="connsiteY0" fmla="*/ 0 h 1327390"/>
                <a:gd name="connsiteX1" fmla="*/ 3581446 w 3581446"/>
                <a:gd name="connsiteY1" fmla="*/ 0 h 1327390"/>
                <a:gd name="connsiteX2" fmla="*/ 3581446 w 3581446"/>
                <a:gd name="connsiteY2" fmla="*/ 1327390 h 1327390"/>
                <a:gd name="connsiteX3" fmla="*/ 0 w 3581446"/>
                <a:gd name="connsiteY3" fmla="*/ 1327390 h 1327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81446" h="1327390">
                  <a:moveTo>
                    <a:pt x="0" y="0"/>
                  </a:moveTo>
                  <a:lnTo>
                    <a:pt x="3581446" y="0"/>
                  </a:lnTo>
                  <a:lnTo>
                    <a:pt x="3581446" y="1327390"/>
                  </a:lnTo>
                  <a:lnTo>
                    <a:pt x="0" y="1327390"/>
                  </a:lnTo>
                  <a:close/>
                </a:path>
              </a:pathLst>
            </a:custGeom>
            <a:ln>
              <a:noFill/>
            </a:ln>
          </p:spPr>
        </p:pic>
        <p:pic>
          <p:nvPicPr>
            <p:cNvPr id="2066" name="그림 2065">
              <a:extLst>
                <a:ext uri="{FF2B5EF4-FFF2-40B4-BE49-F238E27FC236}">
                  <a16:creationId xmlns:a16="http://schemas.microsoft.com/office/drawing/2014/main" id="{A7456E1A-337C-F0EB-DBAC-80B320969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9614" t="2455" b="72218"/>
            <a:stretch>
              <a:fillRect/>
            </a:stretch>
          </p:blipFill>
          <p:spPr>
            <a:xfrm>
              <a:off x="6238876" y="2467370"/>
              <a:ext cx="3750991" cy="1161656"/>
            </a:xfrm>
            <a:custGeom>
              <a:avLst/>
              <a:gdLst>
                <a:gd name="connsiteX0" fmla="*/ 0 w 3750991"/>
                <a:gd name="connsiteY0" fmla="*/ 0 h 1161656"/>
                <a:gd name="connsiteX1" fmla="*/ 3750991 w 3750991"/>
                <a:gd name="connsiteY1" fmla="*/ 0 h 1161656"/>
                <a:gd name="connsiteX2" fmla="*/ 3750991 w 3750991"/>
                <a:gd name="connsiteY2" fmla="*/ 1161656 h 1161656"/>
                <a:gd name="connsiteX3" fmla="*/ 0 w 3750991"/>
                <a:gd name="connsiteY3" fmla="*/ 1161656 h 116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50991" h="1161656">
                  <a:moveTo>
                    <a:pt x="0" y="0"/>
                  </a:moveTo>
                  <a:lnTo>
                    <a:pt x="3750991" y="0"/>
                  </a:lnTo>
                  <a:lnTo>
                    <a:pt x="3750991" y="1161656"/>
                  </a:lnTo>
                  <a:lnTo>
                    <a:pt x="0" y="1161656"/>
                  </a:lnTo>
                  <a:close/>
                </a:path>
              </a:pathLst>
            </a:custGeom>
            <a:ln>
              <a:noFill/>
            </a:ln>
          </p:spPr>
        </p:pic>
        <p:pic>
          <p:nvPicPr>
            <p:cNvPr id="2067" name="그림 2066">
              <a:extLst>
                <a:ext uri="{FF2B5EF4-FFF2-40B4-BE49-F238E27FC236}">
                  <a16:creationId xmlns:a16="http://schemas.microsoft.com/office/drawing/2014/main" id="{E4E2CAE1-6E7B-2EFC-D60E-0A44F7231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232" t="2455" r="56620" b="72218"/>
            <a:stretch>
              <a:fillRect/>
            </a:stretch>
          </p:blipFill>
          <p:spPr>
            <a:xfrm>
              <a:off x="2302473" y="2467370"/>
              <a:ext cx="2428554" cy="1161656"/>
            </a:xfrm>
            <a:custGeom>
              <a:avLst/>
              <a:gdLst>
                <a:gd name="connsiteX0" fmla="*/ 0 w 2428554"/>
                <a:gd name="connsiteY0" fmla="*/ 0 h 1161656"/>
                <a:gd name="connsiteX1" fmla="*/ 2428554 w 2428554"/>
                <a:gd name="connsiteY1" fmla="*/ 0 h 1161656"/>
                <a:gd name="connsiteX2" fmla="*/ 2428554 w 2428554"/>
                <a:gd name="connsiteY2" fmla="*/ 1161656 h 1161656"/>
                <a:gd name="connsiteX3" fmla="*/ 0 w 2428554"/>
                <a:gd name="connsiteY3" fmla="*/ 1161656 h 116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554" h="1161656">
                  <a:moveTo>
                    <a:pt x="0" y="0"/>
                  </a:moveTo>
                  <a:lnTo>
                    <a:pt x="2428554" y="0"/>
                  </a:lnTo>
                  <a:lnTo>
                    <a:pt x="2428554" y="1161656"/>
                  </a:lnTo>
                  <a:lnTo>
                    <a:pt x="0" y="1161656"/>
                  </a:lnTo>
                  <a:close/>
                </a:path>
              </a:pathLst>
            </a:custGeom>
          </p:spPr>
        </p:pic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D6B7CA-86A4-FED8-131E-8F8C92A1E1B3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ECD494-8C63-3770-ACA5-B3662A47905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A4631A3-A06D-13AA-7947-0A576E3DC8C5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515EF-83A5-2707-AE97-ABEFD8E4A074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EB930A-3ACC-FBF3-00F7-D45EA1C4007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데이터 전처리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1FB54629-A4A1-38B3-60D6-EBF5D2879CA5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CB9B65-ED30-600D-38E3-83923905579E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DDBF582-508E-8062-DF35-A1EA0E568A30}"/>
              </a:ext>
            </a:extLst>
          </p:cNvPr>
          <p:cNvGrpSpPr/>
          <p:nvPr/>
        </p:nvGrpSpPr>
        <p:grpSpPr>
          <a:xfrm>
            <a:off x="3157408" y="1780882"/>
            <a:ext cx="2003299" cy="427321"/>
            <a:chOff x="6019547" y="2193257"/>
            <a:chExt cx="2003299" cy="42732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68EC79B-CC21-166B-5F3A-3C7C94AEFB4C}"/>
                </a:ext>
              </a:extLst>
            </p:cNvPr>
            <p:cNvGrpSpPr/>
            <p:nvPr/>
          </p:nvGrpSpPr>
          <p:grpSpPr>
            <a:xfrm>
              <a:off x="6019547" y="2193257"/>
              <a:ext cx="2003299" cy="427321"/>
              <a:chOff x="6019547" y="3116850"/>
              <a:chExt cx="2003299" cy="427321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87134F6C-D933-1EB8-B4BC-0FE9B33910DA}"/>
                  </a:ext>
                </a:extLst>
              </p:cNvPr>
              <p:cNvSpPr/>
              <p:nvPr/>
            </p:nvSpPr>
            <p:spPr>
              <a:xfrm>
                <a:off x="6019547" y="3116850"/>
                <a:ext cx="2003299" cy="427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8E753509-D1D8-74EA-49FB-8D4C5674A2DD}"/>
                  </a:ext>
                </a:extLst>
              </p:cNvPr>
              <p:cNvSpPr/>
              <p:nvPr/>
            </p:nvSpPr>
            <p:spPr>
              <a:xfrm>
                <a:off x="6095365" y="3157538"/>
                <a:ext cx="925831" cy="338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pc="-80" dirty="0">
                    <a:solidFill>
                      <a:srgbClr val="9A8B80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햄버거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FA576D6-88B7-E765-AA18-F41044CC5FCF}"/>
                </a:ext>
              </a:extLst>
            </p:cNvPr>
            <p:cNvGrpSpPr/>
            <p:nvPr/>
          </p:nvGrpSpPr>
          <p:grpSpPr>
            <a:xfrm>
              <a:off x="7636289" y="2285077"/>
              <a:ext cx="287751" cy="274060"/>
              <a:chOff x="7636289" y="2285077"/>
              <a:chExt cx="287751" cy="274060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2A3ABEE2-BA6F-472F-5EB3-0A408B309F54}"/>
                  </a:ext>
                </a:extLst>
              </p:cNvPr>
              <p:cNvSpPr/>
              <p:nvPr/>
            </p:nvSpPr>
            <p:spPr>
              <a:xfrm>
                <a:off x="7636289" y="2285077"/>
                <a:ext cx="243681" cy="243681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CA02713E-B0DD-86F8-AA87-5A86B2266A8E}"/>
                  </a:ext>
                </a:extLst>
              </p:cNvPr>
              <p:cNvCxnSpPr>
                <a:cxnSpLocks/>
                <a:stCxn id="28" idx="5"/>
              </p:cNvCxnSpPr>
              <p:nvPr/>
            </p:nvCxnSpPr>
            <p:spPr>
              <a:xfrm>
                <a:off x="7844284" y="2493072"/>
                <a:ext cx="79756" cy="66065"/>
              </a:xfrm>
              <a:prstGeom prst="line">
                <a:avLst/>
              </a:prstGeom>
              <a:solidFill>
                <a:schemeClr val="bg1"/>
              </a:solidFill>
              <a:ln w="38100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F6624F9-FD07-D2EF-2510-A2C4AEE91EDC}"/>
              </a:ext>
            </a:extLst>
          </p:cNvPr>
          <p:cNvGrpSpPr/>
          <p:nvPr/>
        </p:nvGrpSpPr>
        <p:grpSpPr>
          <a:xfrm>
            <a:off x="887711" y="1162082"/>
            <a:ext cx="4965007" cy="278746"/>
            <a:chOff x="887711" y="1162082"/>
            <a:chExt cx="4965007" cy="278746"/>
          </a:xfrm>
        </p:grpSpPr>
        <p:sp>
          <p:nvSpPr>
            <p:cNvPr id="2070" name="사각형: 둥근 모서리 2069">
              <a:extLst>
                <a:ext uri="{FF2B5EF4-FFF2-40B4-BE49-F238E27FC236}">
                  <a16:creationId xmlns:a16="http://schemas.microsoft.com/office/drawing/2014/main" id="{780659D0-1376-ADD8-5431-427A73B56AE0}"/>
                </a:ext>
              </a:extLst>
            </p:cNvPr>
            <p:cNvSpPr/>
            <p:nvPr/>
          </p:nvSpPr>
          <p:spPr>
            <a:xfrm>
              <a:off x="887711" y="1162082"/>
              <a:ext cx="4965007" cy="27874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2F89C20-4699-3598-B218-F5B3A0449F28}"/>
                </a:ext>
              </a:extLst>
            </p:cNvPr>
            <p:cNvGrpSpPr/>
            <p:nvPr/>
          </p:nvGrpSpPr>
          <p:grpSpPr>
            <a:xfrm>
              <a:off x="894693" y="1162082"/>
              <a:ext cx="1200807" cy="278746"/>
              <a:chOff x="894693" y="1162082"/>
              <a:chExt cx="1200807" cy="278746"/>
            </a:xfrm>
          </p:grpSpPr>
          <p:sp>
            <p:nvSpPr>
              <p:cNvPr id="2073" name="사각형: 둥근 모서리 2072">
                <a:extLst>
                  <a:ext uri="{FF2B5EF4-FFF2-40B4-BE49-F238E27FC236}">
                    <a16:creationId xmlns:a16="http://schemas.microsoft.com/office/drawing/2014/main" id="{954C4E43-753E-9859-5858-3B14F9410873}"/>
                  </a:ext>
                </a:extLst>
              </p:cNvPr>
              <p:cNvSpPr/>
              <p:nvPr/>
            </p:nvSpPr>
            <p:spPr>
              <a:xfrm>
                <a:off x="894693" y="1162082"/>
                <a:ext cx="1200807" cy="278746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74" name="타원 2073">
                <a:extLst>
                  <a:ext uri="{FF2B5EF4-FFF2-40B4-BE49-F238E27FC236}">
                    <a16:creationId xmlns:a16="http://schemas.microsoft.com/office/drawing/2014/main" id="{A4288F6F-4BAF-9C14-39D6-AA0E264188DC}"/>
                  </a:ext>
                </a:extLst>
              </p:cNvPr>
              <p:cNvSpPr/>
              <p:nvPr/>
            </p:nvSpPr>
            <p:spPr>
              <a:xfrm>
                <a:off x="965497" y="1215861"/>
                <a:ext cx="171188" cy="171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75" name="직사각형 2074">
              <a:extLst>
                <a:ext uri="{FF2B5EF4-FFF2-40B4-BE49-F238E27FC236}">
                  <a16:creationId xmlns:a16="http://schemas.microsoft.com/office/drawing/2014/main" id="{4564A27E-A057-7402-3808-C10B907A3181}"/>
                </a:ext>
              </a:extLst>
            </p:cNvPr>
            <p:cNvSpPr/>
            <p:nvPr/>
          </p:nvSpPr>
          <p:spPr>
            <a:xfrm>
              <a:off x="943826" y="1162082"/>
              <a:ext cx="1268750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STEP1 </a:t>
              </a:r>
              <a:endParaRPr lang="ko-KR" altLang="en-US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072" name="직사각형 2071">
              <a:extLst>
                <a:ext uri="{FF2B5EF4-FFF2-40B4-BE49-F238E27FC236}">
                  <a16:creationId xmlns:a16="http://schemas.microsoft.com/office/drawing/2014/main" id="{476611DA-84D7-0D2C-CD6C-598C3A5D3AED}"/>
                </a:ext>
              </a:extLst>
            </p:cNvPr>
            <p:cNvSpPr/>
            <p:nvPr/>
          </p:nvSpPr>
          <p:spPr>
            <a:xfrm>
              <a:off x="4602968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STEP4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076" name="직사각형 2075">
              <a:extLst>
                <a:ext uri="{FF2B5EF4-FFF2-40B4-BE49-F238E27FC236}">
                  <a16:creationId xmlns:a16="http://schemas.microsoft.com/office/drawing/2014/main" id="{3C4105AA-F47C-37FC-7BD6-7047C837590B}"/>
                </a:ext>
              </a:extLst>
            </p:cNvPr>
            <p:cNvSpPr/>
            <p:nvPr/>
          </p:nvSpPr>
          <p:spPr>
            <a:xfrm>
              <a:off x="2156462" y="1162082"/>
              <a:ext cx="1241326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STEP2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C1AFF40-9699-9888-E05B-B647C370D51A}"/>
                </a:ext>
              </a:extLst>
            </p:cNvPr>
            <p:cNvSpPr/>
            <p:nvPr/>
          </p:nvSpPr>
          <p:spPr>
            <a:xfrm>
              <a:off x="3339811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STEP3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575E8DF-0193-86F2-E37E-B2C76B4665BD}"/>
              </a:ext>
            </a:extLst>
          </p:cNvPr>
          <p:cNvSpPr/>
          <p:nvPr/>
        </p:nvSpPr>
        <p:spPr>
          <a:xfrm>
            <a:off x="918342" y="1895929"/>
            <a:ext cx="2947207" cy="18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노이즈 이미지  필터링 </a:t>
            </a:r>
          </a:p>
        </p:txBody>
      </p:sp>
      <p:pic>
        <p:nvPicPr>
          <p:cNvPr id="2057" name="그림 2056">
            <a:extLst>
              <a:ext uri="{FF2B5EF4-FFF2-40B4-BE49-F238E27FC236}">
                <a16:creationId xmlns:a16="http://schemas.microsoft.com/office/drawing/2014/main" id="{9DE9630E-C976-3904-3735-9559FEB77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46" y="2354757"/>
            <a:ext cx="9287301" cy="458640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D632278B-3225-E758-056E-3F0638324822}"/>
              </a:ext>
            </a:extLst>
          </p:cNvPr>
          <p:cNvSpPr/>
          <p:nvPr/>
        </p:nvSpPr>
        <p:spPr>
          <a:xfrm>
            <a:off x="2344280" y="2435089"/>
            <a:ext cx="2426461" cy="158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5A4CC58-DFE4-954F-D3E2-EA4D52B4C78E}"/>
              </a:ext>
            </a:extLst>
          </p:cNvPr>
          <p:cNvSpPr/>
          <p:nvPr/>
        </p:nvSpPr>
        <p:spPr>
          <a:xfrm>
            <a:off x="6138770" y="2435089"/>
            <a:ext cx="3850477" cy="158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159EE86-7809-6085-BC94-0D3D110A2612}"/>
              </a:ext>
            </a:extLst>
          </p:cNvPr>
          <p:cNvSpPr/>
          <p:nvPr/>
        </p:nvSpPr>
        <p:spPr>
          <a:xfrm>
            <a:off x="6531535" y="5359783"/>
            <a:ext cx="3457712" cy="1581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CE358F4-51CC-DC2E-96C5-35612FD08994}"/>
              </a:ext>
            </a:extLst>
          </p:cNvPr>
          <p:cNvSpPr/>
          <p:nvPr/>
        </p:nvSpPr>
        <p:spPr>
          <a:xfrm>
            <a:off x="663089" y="5546115"/>
            <a:ext cx="2203936" cy="1395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7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BABA-CF5D-CF8E-0481-7D00FCD7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7E4DC2-F862-3C34-6155-F93D57E30300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F397A6-F8A0-1256-710C-BB6E331E378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8BC32C-168D-3DB6-208B-FBCEC310EF0D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10B246-7770-1545-48E5-13850595A3FA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FE5F1A-5EF7-F57A-0D4F-2D16811A7A9F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데이터 전처리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45D6F863-886F-6FE7-A8CF-659ACF40E024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F75BF-27A4-A3AD-5A14-F4B15928F530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755CBB-EC62-5A5D-3CFB-3C726629DCBF}"/>
              </a:ext>
            </a:extLst>
          </p:cNvPr>
          <p:cNvSpPr/>
          <p:nvPr/>
        </p:nvSpPr>
        <p:spPr>
          <a:xfrm>
            <a:off x="918342" y="1895929"/>
            <a:ext cx="3432678" cy="18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이미지 크기 조정 </a:t>
            </a:r>
            <a:r>
              <a:rPr lang="en-US" altLang="ko-KR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&amp; </a:t>
            </a:r>
            <a:r>
              <a: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훈련데이터 증강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A2D46DB-329B-8680-FDC0-28F97F1D1CEF}"/>
              </a:ext>
            </a:extLst>
          </p:cNvPr>
          <p:cNvGrpSpPr/>
          <p:nvPr/>
        </p:nvGrpSpPr>
        <p:grpSpPr>
          <a:xfrm>
            <a:off x="887711" y="1162082"/>
            <a:ext cx="4965007" cy="278746"/>
            <a:chOff x="887711" y="1162082"/>
            <a:chExt cx="4965007" cy="278746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24FD2A3-A23E-EB4B-D049-0157FA4895CB}"/>
                </a:ext>
              </a:extLst>
            </p:cNvPr>
            <p:cNvSpPr/>
            <p:nvPr/>
          </p:nvSpPr>
          <p:spPr>
            <a:xfrm>
              <a:off x="887711" y="1162082"/>
              <a:ext cx="4965007" cy="27874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82C7E3D7-907E-3FC1-FB89-F8F3F57FBBD8}"/>
                </a:ext>
              </a:extLst>
            </p:cNvPr>
            <p:cNvGrpSpPr/>
            <p:nvPr/>
          </p:nvGrpSpPr>
          <p:grpSpPr>
            <a:xfrm>
              <a:off x="2147099" y="1162082"/>
              <a:ext cx="2455869" cy="278746"/>
              <a:chOff x="2144192" y="1162082"/>
              <a:chExt cx="2455869" cy="278746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5F1ABFB7-89A7-492D-DF09-95FB07DD4BBA}"/>
                  </a:ext>
                </a:extLst>
              </p:cNvPr>
              <p:cNvSpPr/>
              <p:nvPr/>
            </p:nvSpPr>
            <p:spPr>
              <a:xfrm>
                <a:off x="2144192" y="1162082"/>
                <a:ext cx="2455869" cy="278746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F6EE953-26FF-D200-4A44-D28C35459180}"/>
                  </a:ext>
                </a:extLst>
              </p:cNvPr>
              <p:cNvSpPr/>
              <p:nvPr/>
            </p:nvSpPr>
            <p:spPr>
              <a:xfrm>
                <a:off x="2210145" y="1215861"/>
                <a:ext cx="171188" cy="171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B68C4B-279D-0239-1A83-8ACD7083DB43}"/>
                </a:ext>
              </a:extLst>
            </p:cNvPr>
            <p:cNvSpPr/>
            <p:nvPr/>
          </p:nvSpPr>
          <p:spPr>
            <a:xfrm>
              <a:off x="943826" y="1162082"/>
              <a:ext cx="1268750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STEP1 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9A475EF-0109-C124-4252-E6B91FD43F86}"/>
                </a:ext>
              </a:extLst>
            </p:cNvPr>
            <p:cNvSpPr/>
            <p:nvPr/>
          </p:nvSpPr>
          <p:spPr>
            <a:xfrm>
              <a:off x="4602968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STEP4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C1E7529-B338-7894-1BFC-61493727FF1D}"/>
                </a:ext>
              </a:extLst>
            </p:cNvPr>
            <p:cNvSpPr/>
            <p:nvPr/>
          </p:nvSpPr>
          <p:spPr>
            <a:xfrm>
              <a:off x="2156462" y="1162082"/>
              <a:ext cx="1241326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STEP2</a:t>
              </a:r>
              <a:endParaRPr lang="ko-KR" altLang="en-US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90F2D4F-8E74-C173-2C8E-0B22D3FF810C}"/>
                </a:ext>
              </a:extLst>
            </p:cNvPr>
            <p:cNvSpPr/>
            <p:nvPr/>
          </p:nvSpPr>
          <p:spPr>
            <a:xfrm>
              <a:off x="3339811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STEP3</a:t>
              </a:r>
              <a:endParaRPr lang="ko-KR" altLang="en-US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451FBBA-5363-52FB-14FE-4EB714C2369E}"/>
              </a:ext>
            </a:extLst>
          </p:cNvPr>
          <p:cNvSpPr/>
          <p:nvPr/>
        </p:nvSpPr>
        <p:spPr>
          <a:xfrm>
            <a:off x="788276" y="2427890"/>
            <a:ext cx="4306012" cy="21125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→ 밝기(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brightness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), 대비(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contrast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), 채도(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saturation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를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±10% 범위 내에서 무작위 조정</a:t>
            </a: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  → 다양한 조명 조건, 필터에 대응하는 학습 가능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874CF7-3480-69D4-D616-7C945FFC014D}"/>
              </a:ext>
            </a:extLst>
          </p:cNvPr>
          <p:cNvSpPr/>
          <p:nvPr/>
        </p:nvSpPr>
        <p:spPr>
          <a:xfrm>
            <a:off x="788276" y="4774393"/>
            <a:ext cx="4306012" cy="21125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→ </a:t>
            </a:r>
            <a:r>
              <a: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50% 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확률로 좌우반전 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→ 음식의 대칭적 특성 또는 비대칭적 특성에 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모두 대응 가능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→ 적은 데이터에서도 데이터 다양성 증가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0F2A758-6E66-2B32-AEC4-A8A7FD0B1CE8}"/>
              </a:ext>
            </a:extLst>
          </p:cNvPr>
          <p:cNvSpPr/>
          <p:nvPr/>
        </p:nvSpPr>
        <p:spPr>
          <a:xfrm>
            <a:off x="5681808" y="2427890"/>
            <a:ext cx="4306012" cy="21125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→ 좌우 반전 (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RandomHorizontalFlip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  → ±15도 회전 적용 (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RandomRotation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  → 실제 사용자가 찍은 이미지의 방향성 보완 </a:t>
            </a:r>
            <a:r>
              <a: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오버핏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방지 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CA5B908-4F19-92DF-2793-8A1031017700}"/>
              </a:ext>
            </a:extLst>
          </p:cNvPr>
          <p:cNvSpPr/>
          <p:nvPr/>
        </p:nvSpPr>
        <p:spPr>
          <a:xfrm>
            <a:off x="5681808" y="4774393"/>
            <a:ext cx="4306012" cy="21125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→ 원본 크기가 서로 다르기에 입력사이즈 통일 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→ 동시에 다양한 비율</a:t>
            </a:r>
            <a:r>
              <a: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프레임에서 객체 위치 학습</a:t>
            </a:r>
            <a:endParaRPr lang="en-US" altLang="ko-KR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97D94F4-5C3D-E1A0-6BE7-B011949E9E79}"/>
              </a:ext>
            </a:extLst>
          </p:cNvPr>
          <p:cNvSpPr/>
          <p:nvPr/>
        </p:nvSpPr>
        <p:spPr>
          <a:xfrm>
            <a:off x="943826" y="2540448"/>
            <a:ext cx="1762662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밝기 </a:t>
            </a:r>
            <a:r>
              <a:rPr lang="en-US" altLang="ko-KR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/ </a:t>
            </a:r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대비 조정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A7A9B3-3094-AAC8-FAFD-EF7440D3BB45}"/>
              </a:ext>
            </a:extLst>
          </p:cNvPr>
          <p:cNvSpPr/>
          <p:nvPr/>
        </p:nvSpPr>
        <p:spPr>
          <a:xfrm>
            <a:off x="5852718" y="2540448"/>
            <a:ext cx="1762662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이미지 회전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39B78E0-45B8-61A0-24EC-0AE9D01BD59B}"/>
              </a:ext>
            </a:extLst>
          </p:cNvPr>
          <p:cNvSpPr/>
          <p:nvPr/>
        </p:nvSpPr>
        <p:spPr>
          <a:xfrm>
            <a:off x="943826" y="4899282"/>
            <a:ext cx="1762662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좌우반전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28305BC-E430-1D8E-4561-3EFE9A403762}"/>
              </a:ext>
            </a:extLst>
          </p:cNvPr>
          <p:cNvSpPr/>
          <p:nvPr/>
        </p:nvSpPr>
        <p:spPr>
          <a:xfrm>
            <a:off x="5852718" y="4899282"/>
            <a:ext cx="1762662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크기조정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872BC1A-9755-08C2-0618-E452A2C2A0F0}"/>
              </a:ext>
            </a:extLst>
          </p:cNvPr>
          <p:cNvSpPr/>
          <p:nvPr/>
        </p:nvSpPr>
        <p:spPr>
          <a:xfrm>
            <a:off x="0" y="3628571"/>
            <a:ext cx="10691813" cy="1565933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공통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: I MAGENET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사전학습 모델 </a:t>
            </a:r>
            <a:r>
              <a:rPr lang="ko-KR" altLang="en-US" dirty="0" err="1">
                <a:latin typeface="페이퍼로지 6 SemiBold" pitchFamily="2" charset="-127"/>
                <a:ea typeface="페이퍼로지 6 SemiBold" pitchFamily="2" charset="-127"/>
              </a:rPr>
              <a:t>기준값</a:t>
            </a:r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 사용 </a:t>
            </a:r>
            <a:r>
              <a:rPr lang="en-US" altLang="ko-KR" dirty="0">
                <a:latin typeface="페이퍼로지 6 SemiBold" pitchFamily="2" charset="-127"/>
                <a:ea typeface="페이퍼로지 6 SemiBold" pitchFamily="2" charset="-127"/>
              </a:rPr>
              <a:t>,</a:t>
            </a:r>
          </a:p>
          <a:p>
            <a:pPr algn="ctr"/>
            <a:r>
              <a:rPr lang="ko-KR" altLang="en-US" dirty="0">
                <a:latin typeface="페이퍼로지 6 SemiBold" pitchFamily="2" charset="-127"/>
                <a:ea typeface="페이퍼로지 6 SemiBold" pitchFamily="2" charset="-127"/>
              </a:rPr>
              <a:t>훈련 데이터셋에만 적용하여 데이터 증강</a:t>
            </a:r>
            <a:endParaRPr lang="en-US" altLang="ko-KR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705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8985-9793-21F1-B5D8-8983AD26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86B51827-F266-D919-3A43-0C7AEBAE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69" y="2301949"/>
            <a:ext cx="8944352" cy="440313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02D75BE-A1EC-AF4C-B0A7-063D1E9D84BF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8D1C3C-CA67-53F1-E6AD-AD0601A32B7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28183F1-65FF-303A-7074-A9F92879806E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2D7A82-CD17-FE48-552F-C67AE83F7B60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19DC3B-0904-0A9F-C86C-BF964B47F5D1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데이터 전처리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76711AE8-37E8-BCAC-9D45-D4246B88198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027A1C-8537-A05C-3DF5-7EDC0FF4935C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210D7D0-AE39-A026-FF47-DE53A25F4134}"/>
              </a:ext>
            </a:extLst>
          </p:cNvPr>
          <p:cNvGrpSpPr/>
          <p:nvPr/>
        </p:nvGrpSpPr>
        <p:grpSpPr>
          <a:xfrm>
            <a:off x="1194707" y="2824608"/>
            <a:ext cx="3494465" cy="3909963"/>
            <a:chOff x="1495976" y="2824608"/>
            <a:chExt cx="3494465" cy="3909963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4293046-9394-0234-B346-65B96C32A9F8}"/>
                </a:ext>
              </a:extLst>
            </p:cNvPr>
            <p:cNvSpPr/>
            <p:nvPr/>
          </p:nvSpPr>
          <p:spPr>
            <a:xfrm>
              <a:off x="1663146" y="3001617"/>
              <a:ext cx="3327295" cy="3732954"/>
            </a:xfrm>
            <a:prstGeom prst="rect">
              <a:avLst/>
            </a:prstGeom>
            <a:solidFill>
              <a:srgbClr val="FCD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70C6D177-5B0B-CBFE-B62E-F1ABA957F8F3}"/>
                </a:ext>
              </a:extLst>
            </p:cNvPr>
            <p:cNvSpPr/>
            <p:nvPr/>
          </p:nvSpPr>
          <p:spPr>
            <a:xfrm>
              <a:off x="1495976" y="2824608"/>
              <a:ext cx="1762662" cy="295222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전체 텍스트 기준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47D28D5-E696-ECA1-47E1-6E756EB746AB}"/>
                </a:ext>
              </a:extLst>
            </p:cNvPr>
            <p:cNvSpPr/>
            <p:nvPr/>
          </p:nvSpPr>
          <p:spPr>
            <a:xfrm>
              <a:off x="1872530" y="3696843"/>
              <a:ext cx="3000930" cy="27007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dirty="0" err="1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주요맛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매콤달콤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 err="1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매운정도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en-US" altLang="ko-KR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단계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특징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한국대표볶음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영양효과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단백질보충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추천상황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매운음식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좋아할 때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안주효과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en-US" altLang="ko-KR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주요 특징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en-US" altLang="ko-KR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맛의 강도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en-US" altLang="ko-KR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</a:p>
            <a:p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endPara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04EE6C6-BE70-1049-6065-7725EA0B99DC}"/>
                </a:ext>
              </a:extLst>
            </p:cNvPr>
            <p:cNvSpPr/>
            <p:nvPr/>
          </p:nvSpPr>
          <p:spPr>
            <a:xfrm>
              <a:off x="1872530" y="3301576"/>
              <a:ext cx="3000930" cy="4417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[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제육볶음 기준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]</a:t>
              </a:r>
              <a:endPara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C3223F-5BB6-1DDA-953C-EC1942782F57}"/>
              </a:ext>
            </a:extLst>
          </p:cNvPr>
          <p:cNvGrpSpPr/>
          <p:nvPr/>
        </p:nvGrpSpPr>
        <p:grpSpPr>
          <a:xfrm>
            <a:off x="887711" y="1162082"/>
            <a:ext cx="4978414" cy="278746"/>
            <a:chOff x="887711" y="1162082"/>
            <a:chExt cx="4978414" cy="278746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3487E49-A6F5-80D6-8E68-0EEE83709ED1}"/>
                </a:ext>
              </a:extLst>
            </p:cNvPr>
            <p:cNvSpPr/>
            <p:nvPr/>
          </p:nvSpPr>
          <p:spPr>
            <a:xfrm>
              <a:off x="887711" y="1162082"/>
              <a:ext cx="4965007" cy="27874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2F0DCDD-0075-1A07-DAE1-CC912ED01164}"/>
                </a:ext>
              </a:extLst>
            </p:cNvPr>
            <p:cNvGrpSpPr/>
            <p:nvPr/>
          </p:nvGrpSpPr>
          <p:grpSpPr>
            <a:xfrm>
              <a:off x="4665318" y="1162082"/>
              <a:ext cx="1200807" cy="278746"/>
              <a:chOff x="4662411" y="1162082"/>
              <a:chExt cx="1200807" cy="278746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842303B2-F92C-E767-00B3-C8C2BDD4F1C3}"/>
                  </a:ext>
                </a:extLst>
              </p:cNvPr>
              <p:cNvSpPr/>
              <p:nvPr/>
            </p:nvSpPr>
            <p:spPr>
              <a:xfrm>
                <a:off x="4662411" y="1162082"/>
                <a:ext cx="1200807" cy="278746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81EC475-4970-7145-6C05-50E4748DEA67}"/>
                  </a:ext>
                </a:extLst>
              </p:cNvPr>
              <p:cNvSpPr/>
              <p:nvPr/>
            </p:nvSpPr>
            <p:spPr>
              <a:xfrm>
                <a:off x="5629945" y="1215861"/>
                <a:ext cx="171188" cy="171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642E729-BAEB-FB08-47F5-99739B3B7B55}"/>
                </a:ext>
              </a:extLst>
            </p:cNvPr>
            <p:cNvSpPr/>
            <p:nvPr/>
          </p:nvSpPr>
          <p:spPr>
            <a:xfrm>
              <a:off x="943826" y="1162082"/>
              <a:ext cx="1268750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STEP1 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7C62610-98CF-45D9-D0CD-771745B1C572}"/>
                </a:ext>
              </a:extLst>
            </p:cNvPr>
            <p:cNvSpPr/>
            <p:nvPr/>
          </p:nvSpPr>
          <p:spPr>
            <a:xfrm>
              <a:off x="4602968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STEP4</a:t>
              </a:r>
              <a:endParaRPr lang="ko-KR" altLang="en-US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4D387F-0ED0-7F74-D72B-1CD9A81F3D9B}"/>
                </a:ext>
              </a:extLst>
            </p:cNvPr>
            <p:cNvSpPr/>
            <p:nvPr/>
          </p:nvSpPr>
          <p:spPr>
            <a:xfrm>
              <a:off x="2156462" y="1162082"/>
              <a:ext cx="1241326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STEP2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D7BF1D7-185A-30EF-B7DF-C335C54C2D41}"/>
                </a:ext>
              </a:extLst>
            </p:cNvPr>
            <p:cNvSpPr/>
            <p:nvPr/>
          </p:nvSpPr>
          <p:spPr>
            <a:xfrm>
              <a:off x="3339811" y="1162082"/>
              <a:ext cx="1115478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STEP3</a:t>
              </a:r>
              <a:endParaRPr lang="ko-KR" altLang="en-US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EB992C-7BAC-437B-71E3-802D63F117A6}"/>
              </a:ext>
            </a:extLst>
          </p:cNvPr>
          <p:cNvSpPr/>
          <p:nvPr/>
        </p:nvSpPr>
        <p:spPr>
          <a:xfrm>
            <a:off x="918342" y="1895929"/>
            <a:ext cx="3432678" cy="189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>
                    <a:lumMod val="75000"/>
                    <a:lumOff val="25000"/>
                  </a:schemeClr>
                </a:solidFill>
                <a:latin typeface="페이퍼로지 4 Regular" pitchFamily="2" charset="-127"/>
                <a:ea typeface="페이퍼로지 4 Regular" pitchFamily="2" charset="-127"/>
              </a:rPr>
              <a:t>메타 데이터 정제</a:t>
            </a:r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62038A1-54CF-9901-AD20-E8CD47946611}"/>
              </a:ext>
            </a:extLst>
          </p:cNvPr>
          <p:cNvGrpSpPr/>
          <p:nvPr/>
        </p:nvGrpSpPr>
        <p:grpSpPr>
          <a:xfrm>
            <a:off x="5894377" y="2824608"/>
            <a:ext cx="3494465" cy="3909963"/>
            <a:chOff x="6164542" y="2824608"/>
            <a:chExt cx="3494465" cy="3909963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E02C7AA-32AE-4458-35D8-1514442C3529}"/>
                </a:ext>
              </a:extLst>
            </p:cNvPr>
            <p:cNvSpPr/>
            <p:nvPr/>
          </p:nvSpPr>
          <p:spPr>
            <a:xfrm>
              <a:off x="6331712" y="3001617"/>
              <a:ext cx="3327295" cy="3732954"/>
            </a:xfrm>
            <a:prstGeom prst="rect">
              <a:avLst/>
            </a:prstGeom>
            <a:solidFill>
              <a:srgbClr val="FCD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77971837-FEED-3C7D-2D58-AB002537C54D}"/>
                </a:ext>
              </a:extLst>
            </p:cNvPr>
            <p:cNvSpPr/>
            <p:nvPr/>
          </p:nvSpPr>
          <p:spPr>
            <a:xfrm>
              <a:off x="6164542" y="2824608"/>
              <a:ext cx="1762662" cy="295222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필요 텍스트 변환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2BAE82-8C01-3C24-EB3A-AA72C9940670}"/>
                </a:ext>
              </a:extLst>
            </p:cNvPr>
            <p:cNvSpPr/>
            <p:nvPr/>
          </p:nvSpPr>
          <p:spPr>
            <a:xfrm>
              <a:off x="6541096" y="3696843"/>
              <a:ext cx="3000930" cy="27007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dirty="0" err="1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주요맛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매콤달콤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 err="1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매운정도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en-US" altLang="ko-KR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단계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특징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한국대표볶음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영양효과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단백질보충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추천상황 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: </a:t>
              </a:r>
              <a:r>
                <a:rPr lang="ko-KR" altLang="en-US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매운음식</a:t>
              </a:r>
              <a:r>
                <a:rPr lang="ko-KR" altLang="en-US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좋아할 때</a:t>
              </a:r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endParaRPr lang="en-US" altLang="ko-KR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endPara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3A6FB42-4B46-57D0-C235-DB86ECB57BDF}"/>
                </a:ext>
              </a:extLst>
            </p:cNvPr>
            <p:cNvSpPr/>
            <p:nvPr/>
          </p:nvSpPr>
          <p:spPr>
            <a:xfrm>
              <a:off x="6541096" y="3301576"/>
              <a:ext cx="3000930" cy="3952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[</a:t>
              </a:r>
              <a:r>
                <a:rPr lang="ko-KR" altLang="en-US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제육볶음 기준</a:t>
              </a:r>
              <a:r>
                <a:rPr lang="en-US" altLang="ko-KR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]</a:t>
              </a:r>
              <a:endParaRPr lang="ko-KR" altLang="en-US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581F39-109A-8230-A6CA-E300B5F39673}"/>
              </a:ext>
            </a:extLst>
          </p:cNvPr>
          <p:cNvSpPr/>
          <p:nvPr/>
        </p:nvSpPr>
        <p:spPr>
          <a:xfrm>
            <a:off x="6141143" y="5415478"/>
            <a:ext cx="3168101" cy="51235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필요한 데이터만 추출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108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0B46-84EF-EF84-630B-592DDB15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3D1E64-48B6-9A03-66A3-3F1A513EB71E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C368979-2278-439C-A0DA-C96643269BFB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B3B95B-631D-F2C9-C819-D4E1A58D9411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B713A7-F7BB-23D8-D945-6CC004CB68B8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90796C9-D7C6-7E0F-7B6D-566072DFB5C1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2470B6-DD4A-9F8F-B39C-0C95FFB62954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5F31638-844F-E6CF-21CB-E6DA1707DD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F02820F-F2D5-9952-3B7A-63275C74CAD6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35A473-D32D-D0E8-F067-3644EDC8746C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88A85CA-9DF9-D1A5-5080-42DEDBB0D1A2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1FADF83-0156-05D7-6069-ABDB5A8DBE78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F9E7F60-9875-010F-7B1F-E6FB2BDA84F1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8B26015-762E-817A-E4A9-1DAF08B7251F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017A0C-6DEC-A8D1-8E09-3E52F5C57841}"/>
              </a:ext>
            </a:extLst>
          </p:cNvPr>
          <p:cNvSpPr/>
          <p:nvPr/>
        </p:nvSpPr>
        <p:spPr>
          <a:xfrm>
            <a:off x="0" y="1772971"/>
            <a:ext cx="10691813" cy="126613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페이퍼로지 6 SemiBold" pitchFamily="2" charset="-127"/>
              <a:ea typeface="페이퍼로지 6 SemiBold" pitchFamily="2" charset="-127"/>
            </a:endParaRPr>
          </a:p>
        </p:txBody>
      </p:sp>
      <p:pic>
        <p:nvPicPr>
          <p:cNvPr id="12" name="그림 11" descr="그래픽, 그래픽 디자인, 클립아트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870D55-2807-F51E-4948-36D19718B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99" y="1881785"/>
            <a:ext cx="1099266" cy="109926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FE806E-7E00-560A-1722-246B859AE939}"/>
              </a:ext>
            </a:extLst>
          </p:cNvPr>
          <p:cNvSpPr/>
          <p:nvPr/>
        </p:nvSpPr>
        <p:spPr>
          <a:xfrm>
            <a:off x="2356178" y="2447176"/>
            <a:ext cx="8243766" cy="597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A. 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이미지의 시각적 특징 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색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질감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형태 등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r>
              <a:rPr lang="ko-KR" altLang="en-US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을 분석하여 어떤 음식인지 분류할 수 있습니다</a:t>
            </a:r>
            <a:r>
              <a:rPr lang="en-US" altLang="ko-KR" spc="-8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EE6547-8CCF-ED8F-E70E-08F020B060C5}"/>
              </a:ext>
            </a:extLst>
          </p:cNvPr>
          <p:cNvSpPr/>
          <p:nvPr/>
        </p:nvSpPr>
        <p:spPr>
          <a:xfrm>
            <a:off x="2283258" y="1989346"/>
            <a:ext cx="5965372" cy="597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400" dirty="0">
                <a:latin typeface="페이퍼로지 6 SemiBold" pitchFamily="2" charset="-127"/>
                <a:ea typeface="페이퍼로지 6 SemiBold" pitchFamily="2" charset="-127"/>
              </a:rPr>
              <a:t>Q. </a:t>
            </a:r>
            <a:r>
              <a:rPr lang="ko-KR" altLang="en-US" sz="2400" dirty="0">
                <a:latin typeface="페이퍼로지 6 SemiBold" pitchFamily="2" charset="-127"/>
                <a:ea typeface="페이퍼로지 6 SemiBold" pitchFamily="2" charset="-127"/>
              </a:rPr>
              <a:t>이미지를 통해 어떤 음식을 맞출 수 있다</a:t>
            </a:r>
            <a:r>
              <a:rPr lang="en-US" altLang="ko-KR" sz="2400" dirty="0">
                <a:latin typeface="페이퍼로지 6 SemiBold" pitchFamily="2" charset="-127"/>
                <a:ea typeface="페이퍼로지 6 SemiBold" pitchFamily="2" charset="-127"/>
              </a:rPr>
              <a:t>?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15B1545-A6B4-9C6D-AEAB-2C79699DDACF}"/>
              </a:ext>
            </a:extLst>
          </p:cNvPr>
          <p:cNvGrpSpPr/>
          <p:nvPr/>
        </p:nvGrpSpPr>
        <p:grpSpPr>
          <a:xfrm>
            <a:off x="4049498" y="3515081"/>
            <a:ext cx="2861855" cy="5707063"/>
            <a:chOff x="4049498" y="3515081"/>
            <a:chExt cx="2861855" cy="5707063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2D4EE1DF-2E5B-DD7C-4713-20A47D30B432}"/>
                </a:ext>
              </a:extLst>
            </p:cNvPr>
            <p:cNvSpPr/>
            <p:nvPr/>
          </p:nvSpPr>
          <p:spPr>
            <a:xfrm>
              <a:off x="4049498" y="3515081"/>
              <a:ext cx="2861855" cy="5707063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9449B0D-7805-C694-E836-30BE11DCA042}"/>
                </a:ext>
              </a:extLst>
            </p:cNvPr>
            <p:cNvSpPr/>
            <p:nvPr/>
          </p:nvSpPr>
          <p:spPr>
            <a:xfrm>
              <a:off x="4613650" y="3921615"/>
              <a:ext cx="1733550" cy="4675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데이터구성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CA54A1D-7A36-307C-9B92-94E9B00ADCCB}"/>
                </a:ext>
              </a:extLst>
            </p:cNvPr>
            <p:cNvSpPr/>
            <p:nvPr/>
          </p:nvSpPr>
          <p:spPr>
            <a:xfrm>
              <a:off x="4218082" y="4472712"/>
              <a:ext cx="2464072" cy="10606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이미지 데이터셋</a:t>
              </a:r>
              <a:endParaRPr lang="en-US" altLang="ko-KR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8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만  </a:t>
              </a:r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~ 10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만장으로 구성 </a:t>
              </a:r>
              <a:endParaRPr lang="en-US" altLang="ko-KR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endParaRPr lang="ko-KR" altLang="en-US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45BAF4D-2640-5253-AD05-290D79D2CCF0}"/>
                </a:ext>
              </a:extLst>
            </p:cNvPr>
            <p:cNvCxnSpPr>
              <a:cxnSpLocks/>
            </p:cNvCxnSpPr>
            <p:nvPr/>
          </p:nvCxnSpPr>
          <p:spPr>
            <a:xfrm>
              <a:off x="4340942" y="5371463"/>
              <a:ext cx="2278966" cy="0"/>
            </a:xfrm>
            <a:prstGeom prst="line">
              <a:avLst/>
            </a:prstGeom>
            <a:ln w="57150">
              <a:solidFill>
                <a:schemeClr val="bg1"/>
              </a:solidFill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1BBFB7D-F92B-8997-87D3-789FA4A5A9FF}"/>
                </a:ext>
              </a:extLst>
            </p:cNvPr>
            <p:cNvSpPr/>
            <p:nvPr/>
          </p:nvSpPr>
          <p:spPr>
            <a:xfrm>
              <a:off x="4218082" y="5533388"/>
              <a:ext cx="2464072" cy="1230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 CNN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모델은 수백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~ </a:t>
              </a:r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수천만장의 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이미지로 학습해야 </a:t>
              </a:r>
              <a:r>
                <a:rPr lang="ko-KR" altLang="en-US" spc="-80" dirty="0" err="1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의미있는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feature </a:t>
              </a:r>
              <a:r>
                <a:rPr lang="ko-KR" altLang="en-US" spc="-80" dirty="0" err="1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추출가능하나</a:t>
              </a:r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</a:p>
            <a:p>
              <a:pPr algn="ctr"/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데이터를 모을 시간</a:t>
              </a:r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 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학습시간</a:t>
              </a:r>
              <a: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  <a:r>
                <a:rPr lang="ko-KR" altLang="en-US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용량 등 물리적 불가 한 상황</a:t>
              </a:r>
              <a:br>
                <a:rPr lang="en-US" altLang="ko-KR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endParaRPr lang="en-US" altLang="ko-KR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C6525F-0D96-B676-FCA3-BC224CB65D17}"/>
              </a:ext>
            </a:extLst>
          </p:cNvPr>
          <p:cNvGrpSpPr/>
          <p:nvPr/>
        </p:nvGrpSpPr>
        <p:grpSpPr>
          <a:xfrm>
            <a:off x="7341350" y="3515081"/>
            <a:ext cx="2861856" cy="5707063"/>
            <a:chOff x="7341350" y="3515081"/>
            <a:chExt cx="2861856" cy="5707063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C403FF1F-CE75-49CE-C48C-3B046377741F}"/>
                </a:ext>
              </a:extLst>
            </p:cNvPr>
            <p:cNvGrpSpPr/>
            <p:nvPr/>
          </p:nvGrpSpPr>
          <p:grpSpPr>
            <a:xfrm>
              <a:off x="7341350" y="3515081"/>
              <a:ext cx="2861856" cy="5707063"/>
              <a:chOff x="7341350" y="3515081"/>
              <a:chExt cx="2861856" cy="5707063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5AC91454-C18F-790C-259C-96FB8B157473}"/>
                  </a:ext>
                </a:extLst>
              </p:cNvPr>
              <p:cNvSpPr/>
              <p:nvPr/>
            </p:nvSpPr>
            <p:spPr>
              <a:xfrm>
                <a:off x="7341351" y="3515081"/>
                <a:ext cx="2861855" cy="57070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FBE20A8-C259-E6D9-B26C-48C3A642AB85}"/>
                  </a:ext>
                </a:extLst>
              </p:cNvPr>
              <p:cNvSpPr/>
              <p:nvPr/>
            </p:nvSpPr>
            <p:spPr>
              <a:xfrm>
                <a:off x="7905503" y="3921615"/>
                <a:ext cx="1733550" cy="4675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전이학습</a:t>
                </a: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142C9AE4-9B7E-2C31-A810-2EBC1D980C1F}"/>
                  </a:ext>
                </a:extLst>
              </p:cNvPr>
              <p:cNvSpPr/>
              <p:nvPr/>
            </p:nvSpPr>
            <p:spPr>
              <a:xfrm>
                <a:off x="7341350" y="4472712"/>
                <a:ext cx="2861856" cy="1060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ImageNet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에서 학습된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algn="ctr"/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CNN 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모델의 </a:t>
                </a:r>
                <a:r>
                  <a:rPr lang="ko-KR" altLang="en-US" spc="-8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가중치 사용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F1712522-7B51-1FAA-81F7-E8F0D1527526}"/>
                  </a:ext>
                </a:extLst>
              </p:cNvPr>
              <p:cNvSpPr/>
              <p:nvPr/>
            </p:nvSpPr>
            <p:spPr>
              <a:xfrm>
                <a:off x="7610388" y="5533388"/>
                <a:ext cx="2323780" cy="1060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음식 이미지 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algn="ctr"/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데이터셋 </a:t>
                </a:r>
                <a:r>
                  <a:rPr lang="ko-KR" altLang="en-US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으로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algn="ctr"/>
                <a:r>
                  <a:rPr lang="ko-KR" altLang="en-US" spc="-8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재학습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70A92198-6D56-EAB4-BACF-A01511DCFED3}"/>
                </a:ext>
              </a:extLst>
            </p:cNvPr>
            <p:cNvCxnSpPr>
              <a:cxnSpLocks/>
            </p:cNvCxnSpPr>
            <p:nvPr/>
          </p:nvCxnSpPr>
          <p:spPr>
            <a:xfrm>
              <a:off x="7655202" y="5371463"/>
              <a:ext cx="2278966" cy="0"/>
            </a:xfrm>
            <a:prstGeom prst="line">
              <a:avLst/>
            </a:prstGeom>
            <a:ln w="57150">
              <a:solidFill>
                <a:srgbClr val="F78535"/>
              </a:solidFill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A9FA7D0-B883-432E-08F1-DB0DA43D17B3}"/>
              </a:ext>
            </a:extLst>
          </p:cNvPr>
          <p:cNvGrpSpPr/>
          <p:nvPr/>
        </p:nvGrpSpPr>
        <p:grpSpPr>
          <a:xfrm>
            <a:off x="757644" y="3515081"/>
            <a:ext cx="2861856" cy="5707063"/>
            <a:chOff x="757644" y="3515081"/>
            <a:chExt cx="2861856" cy="570706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0DCBA92D-08FF-C8CA-2310-8226026A0134}"/>
                </a:ext>
              </a:extLst>
            </p:cNvPr>
            <p:cNvGrpSpPr/>
            <p:nvPr/>
          </p:nvGrpSpPr>
          <p:grpSpPr>
            <a:xfrm>
              <a:off x="757644" y="3515081"/>
              <a:ext cx="2861856" cy="5707063"/>
              <a:chOff x="757644" y="3515081"/>
              <a:chExt cx="2861856" cy="5707063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30A309CE-1798-B93E-EDDD-47D62CD8D073}"/>
                  </a:ext>
                </a:extLst>
              </p:cNvPr>
              <p:cNvSpPr/>
              <p:nvPr/>
            </p:nvSpPr>
            <p:spPr>
              <a:xfrm>
                <a:off x="757645" y="3515081"/>
                <a:ext cx="2861855" cy="570706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3BB21817-FCF0-831B-B861-6555116C44A6}"/>
                  </a:ext>
                </a:extLst>
              </p:cNvPr>
              <p:cNvSpPr/>
              <p:nvPr/>
            </p:nvSpPr>
            <p:spPr>
              <a:xfrm>
                <a:off x="1321797" y="3921615"/>
                <a:ext cx="1733550" cy="4675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rgbClr val="2A2A2A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모델 특징 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7117E6A4-4E81-CA07-D089-96B3258294C9}"/>
                  </a:ext>
                </a:extLst>
              </p:cNvPr>
              <p:cNvSpPr/>
              <p:nvPr/>
            </p:nvSpPr>
            <p:spPr>
              <a:xfrm>
                <a:off x="935444" y="4472712"/>
                <a:ext cx="2506256" cy="1060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이미지의 특징을 잘 추출하는 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CNN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모델 사용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F38B0AA8-BE23-3BD2-5994-91271BD7A9CB}"/>
                  </a:ext>
                </a:extLst>
              </p:cNvPr>
              <p:cNvSpPr/>
              <p:nvPr/>
            </p:nvSpPr>
            <p:spPr>
              <a:xfrm>
                <a:off x="757644" y="5618274"/>
                <a:ext cx="2861856" cy="16672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&lt;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앙상블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&gt;</a:t>
                </a:r>
              </a:p>
              <a:p>
                <a:pPr algn="ctr"/>
                <a:r>
                  <a:rPr lang="en-US" altLang="ko-KR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EfficientNet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:</a:t>
                </a:r>
              </a:p>
              <a:p>
                <a:pPr algn="ctr"/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정확도 중심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, 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복잡한 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scaling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구조</a:t>
                </a:r>
                <a:endParaRPr lang="en-US" altLang="ko-KR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algn="ctr"/>
                <a:r>
                  <a:rPr lang="en-US" altLang="ko-KR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ResNET</a:t>
                </a:r>
                <a:r>
                  <a:rPr lang="en-US" altLang="ko-KR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:</a:t>
                </a:r>
                <a:r>
                  <a:rPr lang="ko-KR" altLang="en-US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학습 안정성 중심 </a:t>
                </a:r>
              </a:p>
            </p:txBody>
          </p:sp>
        </p:grp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3E08234-C0B1-97D5-3D46-958D97A63A98}"/>
                </a:ext>
              </a:extLst>
            </p:cNvPr>
            <p:cNvCxnSpPr>
              <a:cxnSpLocks/>
            </p:cNvCxnSpPr>
            <p:nvPr/>
          </p:nvCxnSpPr>
          <p:spPr>
            <a:xfrm>
              <a:off x="1055077" y="5371463"/>
              <a:ext cx="2278966" cy="0"/>
            </a:xfrm>
            <a:prstGeom prst="line">
              <a:avLst/>
            </a:prstGeom>
            <a:ln w="57150">
              <a:solidFill>
                <a:srgbClr val="F78535"/>
              </a:solidFill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215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EE1585-D8D9-0D98-9421-E937EA95D68D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B3E5385-1DF9-7ADA-8F0A-D83133DF4FA9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BD083A8-3C73-9DE2-24BA-04A3257139F1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6D3FF6F-836F-0499-34D8-D6C66FB83AE8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73ADDECF-6A48-D6F6-4138-6D726817F2C4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8E6CA6-8E21-29CD-925E-53B74DA9EA9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71FF531-83D0-5446-F5AE-358972C2ECD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F790DB1-AC46-BA64-E30C-22E94C2C9169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095EAD5-4EDA-00EF-8E6A-970FED8E88E2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3B854C2-7897-4AE8-D74D-C9450CF71418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4F4D8043-0A38-8188-3DF1-64FF91AAC5BE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5CBFF84-7FA4-E576-6192-203A0761B3B2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4F61CB7D-1631-3D66-5E23-B6AD4B9D7136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E9DC0D-4EBB-581A-51AE-65C5B5BEFB67}"/>
              </a:ext>
            </a:extLst>
          </p:cNvPr>
          <p:cNvSpPr/>
          <p:nvPr/>
        </p:nvSpPr>
        <p:spPr>
          <a:xfrm>
            <a:off x="943826" y="1617480"/>
            <a:ext cx="5404435" cy="648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ImageNet </a:t>
            </a:r>
            <a:r>
              <a:rPr lang="ko-KR" altLang="en-US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데이터셋 성능 </a:t>
            </a:r>
            <a:r>
              <a:rPr lang="en-US" altLang="ko-KR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ko-KR" altLang="en-US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위는 </a:t>
            </a:r>
            <a:r>
              <a:rPr lang="en-US" altLang="ko-KR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21E16B-300F-9C40-C265-67BB8162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313" y="3029797"/>
            <a:ext cx="5404434" cy="42188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FF37EC-B3D4-3D04-82BE-6944C28DAE42}"/>
              </a:ext>
            </a:extLst>
          </p:cNvPr>
          <p:cNvSpPr txBox="1"/>
          <p:nvPr/>
        </p:nvSpPr>
        <p:spPr>
          <a:xfrm>
            <a:off x="1089565" y="3779837"/>
            <a:ext cx="365630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fontAlgn="base" latinLnBrk="1">
              <a:buNone/>
            </a:pPr>
            <a: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x</a:t>
            </a:r>
            <a:r>
              <a:rPr lang="ko-KR" altLang="en-US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축 </a:t>
            </a:r>
            <a: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= </a:t>
            </a:r>
            <a:r>
              <a:rPr lang="ko-KR" altLang="en-US" sz="2400" b="1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연산량</a:t>
            </a:r>
            <a: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b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y</a:t>
            </a:r>
            <a:r>
              <a:rPr lang="ko-KR" altLang="en-US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축 </a:t>
            </a:r>
            <a:r>
              <a:rPr lang="en-US" altLang="ko-KR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= </a:t>
            </a:r>
            <a:r>
              <a:rPr lang="ko-KR" altLang="en-US" sz="2400" b="1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정확도</a:t>
            </a:r>
            <a:endParaRPr lang="ko-KR" altLang="en-US" sz="1800" kern="0" spc="-80" dirty="0">
              <a:solidFill>
                <a:srgbClr val="000000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indent="0" fontAlgn="base" latinLnBrk="1">
              <a:buNone/>
            </a:pPr>
            <a:r>
              <a:rPr lang="en-US" altLang="ko-KR" sz="1800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EfficientNet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이 적은 </a:t>
            </a:r>
            <a:r>
              <a:rPr lang="ko-KR" altLang="en-US" sz="1800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연산량에도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en-US" altLang="ko-KR" sz="1800" kern="0" spc="-80" dirty="0">
              <a:solidFill>
                <a:srgbClr val="000000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indent="0" fontAlgn="base" latinLnBrk="1">
              <a:buNone/>
            </a:pP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높은 정확도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성능이 우수하므로 해당 </a:t>
            </a:r>
            <a:r>
              <a:rPr lang="en-US" altLang="ko-KR" sz="1800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EfficientNet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사용함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marL="0" marR="0" indent="0" fontAlgn="base" latinLnBrk="1">
              <a:buNone/>
            </a:pPr>
            <a:endParaRPr lang="ko-KR" altLang="en-US" sz="1800" kern="0" spc="-80" dirty="0">
              <a:solidFill>
                <a:srgbClr val="000000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0" marR="0" indent="0" fontAlgn="base" latinLnBrk="1"/>
            <a:r>
              <a:rPr lang="en-US" altLang="ko-KR" sz="1800" kern="0" spc="-8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B2</a:t>
            </a:r>
            <a:r>
              <a:rPr lang="ko-KR" altLang="en-US" sz="1800" kern="0" spc="-8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를 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사용한 이유는 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B4~B7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은 성능은 우수하지만 </a:t>
            </a:r>
            <a:r>
              <a:rPr lang="ko-KR" altLang="en-US" sz="1800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연산량이</a:t>
            </a:r>
            <a:r>
              <a:rPr lang="ko-KR" altLang="en-US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 늘어나 무겁고 시간이 </a:t>
            </a:r>
            <a:r>
              <a:rPr lang="ko-KR" altLang="en-US" sz="1800" kern="0" spc="-80" dirty="0" err="1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오래걸림</a:t>
            </a:r>
            <a:r>
              <a:rPr lang="en-US" altLang="ko-KR" sz="1800" kern="0" spc="-80" dirty="0">
                <a:solidFill>
                  <a:srgbClr val="000000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800" kern="0" spc="-80" dirty="0">
              <a:solidFill>
                <a:srgbClr val="000000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AEBBFB-B628-DD21-53AA-E7907E98EAC4}"/>
              </a:ext>
            </a:extLst>
          </p:cNvPr>
          <p:cNvSpPr/>
          <p:nvPr/>
        </p:nvSpPr>
        <p:spPr>
          <a:xfrm>
            <a:off x="1089565" y="2261239"/>
            <a:ext cx="3368601" cy="876784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4000" spc="-80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EfficientNet</a:t>
            </a:r>
            <a:endParaRPr lang="en-US" altLang="ko-KR" sz="4000" spc="-8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47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57B9A-03F4-D7F5-5224-99514D86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BEBD63-EAF1-7875-5C71-9666472D145A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3A555A1-16AE-161F-EAD8-816E8BCA0674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C183A83-A963-E6A3-6549-EDC71A1B924F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5BD247-0579-E3D1-D129-89DE0C0B1FD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F707ECB-69DE-CBE0-6FFF-738219E6336B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0687DA-1F09-D506-58F7-39EB4B8FCE6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E3FA82B-C237-12F1-9F2E-FC2A54D068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4ECDD64-C9F9-1C15-177D-1D3AEBD9741F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14680A-D6BE-7E93-4637-23C619550E52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14A2C53-BD99-30FB-76D7-A1642C1BE9C4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0C56CED9-64AD-1C14-5210-13DC91498183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393409F-C6B5-53A6-4494-0AA43470A170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2B459629-9B05-7F59-3476-28442DA81BD8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FB93D9-1FAE-655F-345C-AC101CE5B8D0}"/>
              </a:ext>
            </a:extLst>
          </p:cNvPr>
          <p:cNvSpPr/>
          <p:nvPr/>
        </p:nvSpPr>
        <p:spPr>
          <a:xfrm>
            <a:off x="943826" y="1617480"/>
            <a:ext cx="5404435" cy="648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2800" spc="-8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ResNet</a:t>
            </a:r>
            <a:r>
              <a:rPr lang="ko-KR" altLang="en-US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을 함께 사용한 이유는</a:t>
            </a:r>
            <a:r>
              <a:rPr lang="en-US" altLang="ko-KR" sz="28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4509A-CC4F-11D4-9A7D-B0A18AF526B5}"/>
              </a:ext>
            </a:extLst>
          </p:cNvPr>
          <p:cNvSpPr txBox="1"/>
          <p:nvPr/>
        </p:nvSpPr>
        <p:spPr>
          <a:xfrm>
            <a:off x="3305908" y="2261240"/>
            <a:ext cx="71008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en-US" altLang="ko-KR" kern="0" spc="-8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ResNet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은 딥러닝 이미지 분류 모델 중 가장 </a:t>
            </a:r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고전적이면서도 </a:t>
            </a:r>
            <a:endParaRPr lang="en-US" altLang="ko-KR" kern="0" spc="-8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 latinLnBrk="1"/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안정성이 검증된 구조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fontAlgn="base" latinLnBrk="1"/>
            <a:endParaRPr lang="en-US" altLang="ko-KR" kern="0" spc="-8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 latinLnBrk="1"/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대부분의 연구에서 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baseline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으로 사용되며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실험 결과 비교에 있어 신뢰성 </a:t>
            </a:r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있는 </a:t>
            </a:r>
            <a:endParaRPr lang="en-US" altLang="ko-KR" kern="0" spc="-8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 latinLnBrk="1"/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기준이 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됨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pPr fontAlgn="base" latinLnBrk="1"/>
            <a:endParaRPr lang="en-US" altLang="ko-KR" kern="0" spc="-8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 latinLnBrk="1"/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따라서 </a:t>
            </a:r>
            <a:r>
              <a:rPr lang="en-US" altLang="ko-KR" kern="0" spc="-80" dirty="0" err="1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EfficientNet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의 성능을 명확히 평가하고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실무 적용 가능성을 </a:t>
            </a:r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검토하기 </a:t>
            </a:r>
            <a:endParaRPr lang="en-US" altLang="ko-KR" kern="0" spc="-8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fontAlgn="base" latinLnBrk="1"/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위해 </a:t>
            </a:r>
            <a:r>
              <a:rPr lang="en-US" altLang="ko-KR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ResNet</a:t>
            </a:r>
            <a:r>
              <a:rPr lang="ko-KR" altLang="en-US" kern="0" spc="-8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을 </a:t>
            </a:r>
            <a:r>
              <a:rPr lang="ko-KR" altLang="en-US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함께 포함시킴</a:t>
            </a:r>
            <a:r>
              <a:rPr lang="en-US" altLang="ko-KR" kern="0" spc="-80" dirty="0">
                <a:solidFill>
                  <a:srgbClr val="000000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kern="0" spc="-80" dirty="0">
              <a:solidFill>
                <a:srgbClr val="00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D30688-286F-23EC-F40F-3B7D0E86846D}"/>
              </a:ext>
            </a:extLst>
          </p:cNvPr>
          <p:cNvSpPr/>
          <p:nvPr/>
        </p:nvSpPr>
        <p:spPr>
          <a:xfrm>
            <a:off x="1089565" y="2261239"/>
            <a:ext cx="2202275" cy="876784"/>
          </a:xfrm>
          <a:prstGeom prst="rect">
            <a:avLst/>
          </a:prstGeom>
          <a:solidFill>
            <a:srgbClr val="9A8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4000" spc="-80" dirty="0" err="1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ResNet</a:t>
            </a:r>
            <a:endParaRPr lang="en-US" altLang="ko-KR" sz="4000" spc="-8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5DFFE66-DFC7-B94C-4FA5-74EBA34FA239}"/>
              </a:ext>
            </a:extLst>
          </p:cNvPr>
          <p:cNvGrpSpPr/>
          <p:nvPr/>
        </p:nvGrpSpPr>
        <p:grpSpPr>
          <a:xfrm>
            <a:off x="817413" y="5291748"/>
            <a:ext cx="9213236" cy="648593"/>
            <a:chOff x="739288" y="5647157"/>
            <a:chExt cx="9213236" cy="64859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3CE14DC-5862-8330-E380-0892CD442193}"/>
                </a:ext>
              </a:extLst>
            </p:cNvPr>
            <p:cNvGrpSpPr/>
            <p:nvPr/>
          </p:nvGrpSpPr>
          <p:grpSpPr>
            <a:xfrm>
              <a:off x="739288" y="5647157"/>
              <a:ext cx="9213236" cy="648593"/>
              <a:chOff x="1340391" y="5647157"/>
              <a:chExt cx="6782254" cy="648593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D059AB3-3388-DD83-D9BD-30898CD20340}"/>
                  </a:ext>
                </a:extLst>
              </p:cNvPr>
              <p:cNvGrpSpPr/>
              <p:nvPr/>
            </p:nvGrpSpPr>
            <p:grpSpPr>
              <a:xfrm>
                <a:off x="4110554" y="5647157"/>
                <a:ext cx="4012091" cy="648593"/>
                <a:chOff x="5519616" y="5647157"/>
                <a:chExt cx="4012091" cy="648593"/>
              </a:xfrm>
            </p:grpSpPr>
            <p:sp>
              <p:nvSpPr>
                <p:cNvPr id="5" name="사각형: 둥근 모서리 4">
                  <a:extLst>
                    <a:ext uri="{FF2B5EF4-FFF2-40B4-BE49-F238E27FC236}">
                      <a16:creationId xmlns:a16="http://schemas.microsoft.com/office/drawing/2014/main" id="{1FB876CD-122B-1EDB-1446-E88D7DB9AB74}"/>
                    </a:ext>
                  </a:extLst>
                </p:cNvPr>
                <p:cNvSpPr/>
                <p:nvPr/>
              </p:nvSpPr>
              <p:spPr>
                <a:xfrm>
                  <a:off x="5519616" y="5647157"/>
                  <a:ext cx="4012091" cy="6485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0"/>
                  </a:schemeClr>
                </a:solidFill>
                <a:ln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3F3A98B7-A5BD-0F7C-8DF0-D9061BB1D389}"/>
                    </a:ext>
                  </a:extLst>
                </p:cNvPr>
                <p:cNvSpPr/>
                <p:nvPr/>
              </p:nvSpPr>
              <p:spPr>
                <a:xfrm>
                  <a:off x="8091706" y="5647157"/>
                  <a:ext cx="1440000" cy="6485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A2A2A"/>
                </a:solidFill>
                <a:ln>
                  <a:solidFill>
                    <a:srgbClr val="F78535"/>
                  </a:solidFill>
                </a:ln>
                <a:effectLst>
                  <a:glow rad="127000">
                    <a:srgbClr val="F78535">
                      <a:alpha val="18000"/>
                    </a:srgb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400" dirty="0" err="1"/>
                    <a:t>ResNet</a:t>
                  </a:r>
                  <a:endParaRPr lang="en-US" altLang="ko-KR" sz="2400" dirty="0"/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E74F1AD-995F-B2C9-36CE-55C8E771CCFA}"/>
                  </a:ext>
                </a:extLst>
              </p:cNvPr>
              <p:cNvGrpSpPr/>
              <p:nvPr/>
            </p:nvGrpSpPr>
            <p:grpSpPr>
              <a:xfrm>
                <a:off x="1340391" y="5647157"/>
                <a:ext cx="5475762" cy="648593"/>
                <a:chOff x="1002234" y="5647157"/>
                <a:chExt cx="5475762" cy="648593"/>
              </a:xfrm>
            </p:grpSpPr>
            <p:sp>
              <p:nvSpPr>
                <p:cNvPr id="2" name="사각형: 둥근 모서리 1">
                  <a:extLst>
                    <a:ext uri="{FF2B5EF4-FFF2-40B4-BE49-F238E27FC236}">
                      <a16:creationId xmlns:a16="http://schemas.microsoft.com/office/drawing/2014/main" id="{E425C0FC-6572-1DC5-C385-6FFA9B239B12}"/>
                    </a:ext>
                  </a:extLst>
                </p:cNvPr>
                <p:cNvSpPr/>
                <p:nvPr/>
              </p:nvSpPr>
              <p:spPr>
                <a:xfrm>
                  <a:off x="1035893" y="5647157"/>
                  <a:ext cx="3858162" cy="64859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alpha val="0"/>
                  </a:schemeClr>
                </a:solidFill>
                <a:ln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BC97EB9A-336E-0386-29D9-9EBDC5EB09F0}"/>
                    </a:ext>
                  </a:extLst>
                </p:cNvPr>
                <p:cNvSpPr/>
                <p:nvPr/>
              </p:nvSpPr>
              <p:spPr>
                <a:xfrm>
                  <a:off x="1002234" y="5647157"/>
                  <a:ext cx="1440000" cy="6485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78535"/>
                </a:solidFill>
                <a:ln>
                  <a:solidFill>
                    <a:srgbClr val="F78535"/>
                  </a:solidFill>
                </a:ln>
                <a:effectLst>
                  <a:glow rad="127000">
                    <a:srgbClr val="F78535">
                      <a:alpha val="18000"/>
                    </a:srgb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2400" dirty="0" err="1"/>
                    <a:t>EfficientNet</a:t>
                  </a:r>
                  <a:endParaRPr lang="ko-KR" altLang="en-US" sz="2400" dirty="0"/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9724C007-3973-6842-65F2-3D472F2F74B0}"/>
                    </a:ext>
                  </a:extLst>
                </p:cNvPr>
                <p:cNvSpPr/>
                <p:nvPr/>
              </p:nvSpPr>
              <p:spPr>
                <a:xfrm>
                  <a:off x="2442233" y="5664630"/>
                  <a:ext cx="1440000" cy="5950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 latinLnBrk="1"/>
                  <a:r>
                    <a:rPr lang="ko-KR" altLang="en-US" sz="1400" kern="0" spc="-80">
                      <a:solidFill>
                        <a:srgbClr val="000000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적절하게 관찰해서 </a:t>
                  </a:r>
                  <a:endParaRPr lang="en-US" altLang="ko-KR" sz="1400" kern="0" spc="-80">
                    <a:solidFill>
                      <a:srgbClr val="000000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pPr algn="ctr" fontAlgn="base" latinLnBrk="1"/>
                  <a:r>
                    <a:rPr lang="ko-KR" altLang="en-US" sz="1400" kern="0" spc="-80">
                      <a:solidFill>
                        <a:srgbClr val="000000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핵심을 추출</a:t>
                  </a:r>
                  <a:endParaRPr lang="en-US" altLang="ko-KR" sz="1400" kern="0" spc="-80" dirty="0">
                    <a:solidFill>
                      <a:srgbClr val="000000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2BCEC23B-74EE-1823-6EE2-1A1BCFACCB3C}"/>
                    </a:ext>
                  </a:extLst>
                </p:cNvPr>
                <p:cNvSpPr/>
                <p:nvPr/>
              </p:nvSpPr>
              <p:spPr>
                <a:xfrm>
                  <a:off x="4894054" y="5664630"/>
                  <a:ext cx="1583942" cy="59505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base" latinLnBrk="1"/>
                  <a:r>
                    <a:rPr lang="ko-KR" altLang="en-US" sz="1400" kern="0" spc="-80">
                      <a:solidFill>
                        <a:srgbClr val="000000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깊은 층을 통해 복잡한 </a:t>
                  </a:r>
                  <a:endParaRPr lang="en-US" altLang="ko-KR" sz="1400" kern="0" spc="-80">
                    <a:solidFill>
                      <a:srgbClr val="000000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pPr algn="ctr" fontAlgn="base" latinLnBrk="1"/>
                  <a:r>
                    <a:rPr lang="ko-KR" altLang="en-US" sz="1400" kern="0" spc="-80">
                      <a:solidFill>
                        <a:srgbClr val="000000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고수준 패턴을 학습</a:t>
                  </a:r>
                  <a:endParaRPr lang="ko-KR" altLang="en-US" sz="1400" kern="0" spc="-80" dirty="0">
                    <a:solidFill>
                      <a:srgbClr val="000000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7503E8B3-8B3C-88C2-CABD-3FABF572C299}"/>
                    </a:ext>
                  </a:extLst>
                </p:cNvPr>
                <p:cNvSpPr/>
                <p:nvPr/>
              </p:nvSpPr>
              <p:spPr>
                <a:xfrm>
                  <a:off x="3772396" y="5647157"/>
                  <a:ext cx="1111225" cy="64859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151F3"/>
                </a:solidFill>
                <a:ln>
                  <a:noFill/>
                </a:ln>
                <a:effectLst>
                  <a:glow rad="127000">
                    <a:srgbClr val="F78535">
                      <a:alpha val="18000"/>
                    </a:srgbClr>
                  </a:glow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/>
                </a:p>
              </p:txBody>
            </p:sp>
          </p:grp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43AFABD-6E4B-C62E-0A19-384261463B5C}"/>
                </a:ext>
              </a:extLst>
            </p:cNvPr>
            <p:cNvSpPr/>
            <p:nvPr/>
          </p:nvSpPr>
          <p:spPr>
            <a:xfrm>
              <a:off x="4605851" y="5770954"/>
              <a:ext cx="1349431" cy="40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pc="-8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앙상블 모델 </a:t>
              </a:r>
              <a:endParaRPr lang="en-US" altLang="ko-KR" spc="-8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B7CB11B-B3DF-44DA-0ED3-B71143E5CD29}"/>
              </a:ext>
            </a:extLst>
          </p:cNvPr>
          <p:cNvSpPr txBox="1"/>
          <p:nvPr/>
        </p:nvSpPr>
        <p:spPr>
          <a:xfrm>
            <a:off x="-99339" y="6343814"/>
            <a:ext cx="11046740" cy="461665"/>
          </a:xfrm>
          <a:prstGeom prst="rect">
            <a:avLst/>
          </a:prstGeom>
          <a:solidFill>
            <a:srgbClr val="2A2A2A"/>
          </a:solidFill>
        </p:spPr>
        <p:txBody>
          <a:bodyPr wrap="square">
            <a:spAutoFit/>
          </a:bodyPr>
          <a:lstStyle/>
          <a:p>
            <a:pPr algn="ctr" fontAlgn="base" latinLnBrk="1"/>
            <a:r>
              <a:rPr lang="en-US" altLang="ko-KR" sz="2400" kern="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-&gt; </a:t>
            </a:r>
            <a:r>
              <a:rPr lang="ko-KR" altLang="en-US" sz="2400" kern="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서로 다른 관점의 이미지 해석으로 인해 서로의 오류를 보완해줄 가능성이 있음</a:t>
            </a:r>
          </a:p>
        </p:txBody>
      </p:sp>
    </p:spTree>
    <p:extLst>
      <p:ext uri="{BB962C8B-B14F-4D97-AF65-F5344CB8AC3E}">
        <p14:creationId xmlns:p14="http://schemas.microsoft.com/office/powerpoint/2010/main" val="128048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D23F-E617-03BA-C5D3-EC5CC0B0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07106F-134B-929A-A514-074B70E24F1E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09BD99B-8C57-CA9F-6365-637C7984E63F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9A9A6A5-AFA9-54FD-DA7B-4234A6ED1D9B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8D828E-9712-2B5A-7C97-6CF0744B698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FBE7BA6-D47A-113E-BCA3-9451ED0BD6A8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88D43E-D213-B69F-1700-94879FD2733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ECEF551-11FE-F129-97BE-72ADEA9BB57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BD84A3-5C31-FC79-AD90-C36AAF32871A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B07648-C708-9666-8E92-6A46DC28475B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F5A91D1-1B62-3FC0-7C2F-835EC153D6B2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964CC40-05C3-857D-9726-8F59B0D95D51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626E06E-12F6-CE79-D238-745869EF55B3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6701A04-5A20-B087-DC48-88E379DB42DE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EB5D2-FACC-C2D3-F260-038E4064CCF5}"/>
              </a:ext>
            </a:extLst>
          </p:cNvPr>
          <p:cNvGrpSpPr/>
          <p:nvPr/>
        </p:nvGrpSpPr>
        <p:grpSpPr>
          <a:xfrm>
            <a:off x="764714" y="2093341"/>
            <a:ext cx="9642033" cy="5192189"/>
            <a:chOff x="764714" y="2093341"/>
            <a:chExt cx="9642033" cy="5192189"/>
          </a:xfrm>
        </p:grpSpPr>
        <p:sp>
          <p:nvSpPr>
            <p:cNvPr id="4108" name="화살표: 오른쪽 4107">
              <a:extLst>
                <a:ext uri="{FF2B5EF4-FFF2-40B4-BE49-F238E27FC236}">
                  <a16:creationId xmlns:a16="http://schemas.microsoft.com/office/drawing/2014/main" id="{01CFD7C3-8C02-5A22-E000-066C68C94C19}"/>
                </a:ext>
              </a:extLst>
            </p:cNvPr>
            <p:cNvSpPr/>
            <p:nvPr/>
          </p:nvSpPr>
          <p:spPr>
            <a:xfrm rot="5400000">
              <a:off x="7626358" y="5378808"/>
              <a:ext cx="1025139" cy="338012"/>
            </a:xfrm>
            <a:prstGeom prst="rightArrow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4" name="화살표: 오른쪽 4103">
              <a:extLst>
                <a:ext uri="{FF2B5EF4-FFF2-40B4-BE49-F238E27FC236}">
                  <a16:creationId xmlns:a16="http://schemas.microsoft.com/office/drawing/2014/main" id="{A4D4EF8D-D70F-1962-CB05-ED16D55B23D4}"/>
                </a:ext>
              </a:extLst>
            </p:cNvPr>
            <p:cNvSpPr/>
            <p:nvPr/>
          </p:nvSpPr>
          <p:spPr>
            <a:xfrm>
              <a:off x="4213535" y="6516692"/>
              <a:ext cx="2473166" cy="338012"/>
            </a:xfrm>
            <a:prstGeom prst="rightArrow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화살표: 오른쪽 59">
              <a:extLst>
                <a:ext uri="{FF2B5EF4-FFF2-40B4-BE49-F238E27FC236}">
                  <a16:creationId xmlns:a16="http://schemas.microsoft.com/office/drawing/2014/main" id="{5D7E858E-5D61-9085-0A32-A05D66A7CED9}"/>
                </a:ext>
              </a:extLst>
            </p:cNvPr>
            <p:cNvSpPr/>
            <p:nvPr/>
          </p:nvSpPr>
          <p:spPr>
            <a:xfrm rot="19678438">
              <a:off x="4456866" y="4741828"/>
              <a:ext cx="2473166" cy="338012"/>
            </a:xfrm>
            <a:prstGeom prst="rightArrow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A8ED0BE-2A10-AB01-B5DD-B9705445B32B}"/>
                </a:ext>
              </a:extLst>
            </p:cNvPr>
            <p:cNvGrpSpPr/>
            <p:nvPr/>
          </p:nvGrpSpPr>
          <p:grpSpPr>
            <a:xfrm>
              <a:off x="764714" y="2093341"/>
              <a:ext cx="4306012" cy="1311293"/>
              <a:chOff x="3579101" y="1796921"/>
              <a:chExt cx="4306012" cy="1311293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099AFEC3-29CA-C961-EAB9-8EF95CF5C572}"/>
                  </a:ext>
                </a:extLst>
              </p:cNvPr>
              <p:cNvGrpSpPr/>
              <p:nvPr/>
            </p:nvGrpSpPr>
            <p:grpSpPr>
              <a:xfrm>
                <a:off x="3579101" y="1796921"/>
                <a:ext cx="4306012" cy="1311293"/>
                <a:chOff x="788276" y="2427891"/>
                <a:chExt cx="4306012" cy="1311293"/>
              </a:xfrm>
            </p:grpSpPr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B1A219D5-52F6-5C21-9CE7-BE00B60E4D70}"/>
                    </a:ext>
                  </a:extLst>
                </p:cNvPr>
                <p:cNvSpPr/>
                <p:nvPr/>
              </p:nvSpPr>
              <p:spPr>
                <a:xfrm>
                  <a:off x="788276" y="2427891"/>
                  <a:ext cx="4306012" cy="1311293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9A8B8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endPara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  <a:p>
                  <a:r>
                    <a:rPr lang="en-US" altLang="ko-KR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EfficientNetB2</a:t>
                  </a:r>
                </a:p>
                <a:p>
                  <a:r>
                    <a:rPr lang="en-US" altLang="ko-KR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ResNet50V2</a:t>
                  </a:r>
                </a:p>
                <a:p>
                  <a:r>
                    <a:rPr lang="en-US" altLang="ko-KR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(include=False) </a:t>
                  </a:r>
                  <a:r>
                    <a:rPr lang="ko-KR" altLang="en-US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→ </a:t>
                  </a:r>
                  <a:r>
                    <a:rPr lang="en-US" altLang="ko-KR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1000</a:t>
                  </a:r>
                  <a:r>
                    <a:rPr lang="ko-KR" altLang="en-US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개 </a:t>
                  </a:r>
                  <a:r>
                    <a:rPr lang="ko-KR" altLang="en-US" sz="1400" spc="-80" dirty="0" err="1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출력층</a:t>
                  </a:r>
                  <a:r>
                    <a:rPr lang="ko-KR" altLang="en-US" sz="1400" spc="-80" dirty="0">
                      <a:solidFill>
                        <a:srgbClr val="2A2A2A"/>
                      </a:solidFill>
                      <a:latin typeface="페이퍼로지 4 Regular" pitchFamily="2" charset="-127"/>
                      <a:ea typeface="페이퍼로지 4 Regular" pitchFamily="2" charset="-127"/>
                    </a:rPr>
                    <a:t> 제거</a:t>
                  </a:r>
                  <a:endPara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endParaRPr>
                </a:p>
              </p:txBody>
            </p:sp>
            <p:sp>
              <p:nvSpPr>
                <p:cNvPr id="34" name="사각형: 둥근 모서리 33">
                  <a:extLst>
                    <a:ext uri="{FF2B5EF4-FFF2-40B4-BE49-F238E27FC236}">
                      <a16:creationId xmlns:a16="http://schemas.microsoft.com/office/drawing/2014/main" id="{30B37226-F0EF-2ABA-1511-5E12AEF2402C}"/>
                    </a:ext>
                  </a:extLst>
                </p:cNvPr>
                <p:cNvSpPr/>
                <p:nvPr/>
              </p:nvSpPr>
              <p:spPr>
                <a:xfrm>
                  <a:off x="943826" y="2540448"/>
                  <a:ext cx="1762662" cy="29522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7853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pc="-90" dirty="0">
                      <a:solidFill>
                        <a:schemeClr val="bg1"/>
                      </a:solidFill>
                      <a:latin typeface="페이퍼로지 6 SemiBold" pitchFamily="2" charset="-127"/>
                      <a:ea typeface="페이퍼로지 6 SemiBold" pitchFamily="2" charset="-127"/>
                    </a:rPr>
                    <a:t>IMAGENET</a:t>
                  </a:r>
                  <a:endParaRPr lang="ko-KR" altLang="en-US" spc="-9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E963A555-0E85-60AB-3559-6D6C30754632}"/>
                  </a:ext>
                </a:extLst>
              </p:cNvPr>
              <p:cNvSpPr/>
              <p:nvPr/>
            </p:nvSpPr>
            <p:spPr>
              <a:xfrm>
                <a:off x="5643551" y="1909478"/>
                <a:ext cx="1576399" cy="29522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pc="-90" dirty="0">
                    <a:solidFill>
                      <a:schemeClr val="tx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사전 학습 모델</a:t>
                </a: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C59AB56-0CB6-33D6-9DB3-F2BA144561BE}"/>
                </a:ext>
              </a:extLst>
            </p:cNvPr>
            <p:cNvGrpSpPr/>
            <p:nvPr/>
          </p:nvGrpSpPr>
          <p:grpSpPr>
            <a:xfrm>
              <a:off x="764714" y="3517191"/>
              <a:ext cx="4306012" cy="1612511"/>
              <a:chOff x="788276" y="2427891"/>
              <a:chExt cx="3539293" cy="1612511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633CD474-36A8-704B-71D3-0A1B86B06E03}"/>
                  </a:ext>
                </a:extLst>
              </p:cNvPr>
              <p:cNvSpPr/>
              <p:nvPr/>
            </p:nvSpPr>
            <p:spPr>
              <a:xfrm>
                <a:off x="788276" y="2427891"/>
                <a:ext cx="3539293" cy="161251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Global </a:t>
                </a:r>
                <a:r>
                  <a:rPr lang="en-US" altLang="ko-KR" sz="1400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Avarage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Pooling = (7,7,2048) 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→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(2048,)</a:t>
                </a: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Dense</a:t>
                </a:r>
                <a:r>
                  <a:rPr lang="en-US" altLang="ko-KR" sz="1400" spc="-8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(256)</a:t>
                </a:r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Dropout(0.2)</a:t>
                </a: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Dense(</a:t>
                </a:r>
                <a:r>
                  <a:rPr lang="en-US" altLang="ko-KR" sz="1400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num_classes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)  - 85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개</a:t>
                </a:r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0EA2ECB5-C007-FCB6-2A90-F641232E5C3F}"/>
                  </a:ext>
                </a:extLst>
              </p:cNvPr>
              <p:cNvSpPr/>
              <p:nvPr/>
            </p:nvSpPr>
            <p:spPr>
              <a:xfrm>
                <a:off x="943826" y="2540448"/>
                <a:ext cx="1762662" cy="295222"/>
              </a:xfrm>
              <a:prstGeom prst="roundRect">
                <a:avLst>
                  <a:gd name="adj" fmla="val 50000"/>
                </a:avLst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9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모델 설계</a:t>
                </a: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E8786286-AC3D-30B8-AA98-1D3076957730}"/>
                </a:ext>
              </a:extLst>
            </p:cNvPr>
            <p:cNvGrpSpPr/>
            <p:nvPr/>
          </p:nvGrpSpPr>
          <p:grpSpPr>
            <a:xfrm>
              <a:off x="764714" y="5203751"/>
              <a:ext cx="4306012" cy="1987443"/>
              <a:chOff x="788276" y="2427891"/>
              <a:chExt cx="3539293" cy="1987443"/>
            </a:xfrm>
          </p:grpSpPr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C72BB7E7-1580-68F4-EE24-D6962451DF7D}"/>
                  </a:ext>
                </a:extLst>
              </p:cNvPr>
              <p:cNvSpPr/>
              <p:nvPr/>
            </p:nvSpPr>
            <p:spPr>
              <a:xfrm>
                <a:off x="788276" y="2427891"/>
                <a:ext cx="3539293" cy="1987443"/>
              </a:xfrm>
              <a:prstGeom prst="roundRect">
                <a:avLst>
                  <a:gd name="adj" fmla="val 12066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marL="342900" indent="-342900">
                  <a:buAutoNum type="arabicParenR"/>
                </a:pP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초기 학습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(8~10 epoch)</a:t>
                </a:r>
                <a:b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</a:b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▶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CNN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모델 가중치 동결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: ImageNet 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특징 유지 </a:t>
                </a:r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pPr marL="342900" indent="-342900">
                  <a:buAutoNum type="arabicParenR"/>
                </a:pP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일부 레이어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Unfreeze 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→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Fine-tuning(8~12epoch)</a:t>
                </a:r>
                <a:b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</a:b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▶전체 모델의 일부 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unfreeze,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음식 이미지에 맞게 가중치 </a:t>
                </a:r>
                <a:r>
                  <a:rPr lang="ko-KR" altLang="en-US" sz="1400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재학습</a:t>
                </a:r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C590FA3-86EB-0273-1ED9-2BAF05F493EE}"/>
                  </a:ext>
                </a:extLst>
              </p:cNvPr>
              <p:cNvSpPr/>
              <p:nvPr/>
            </p:nvSpPr>
            <p:spPr>
              <a:xfrm>
                <a:off x="943826" y="2540448"/>
                <a:ext cx="1762662" cy="295222"/>
              </a:xfrm>
              <a:prstGeom prst="roundRect">
                <a:avLst>
                  <a:gd name="adj" fmla="val 50000"/>
                </a:avLst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pc="-9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2</a:t>
                </a:r>
                <a:r>
                  <a:rPr lang="ko-KR" altLang="en-US" spc="-9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단계 학습 전략</a:t>
                </a:r>
              </a:p>
            </p:txBody>
          </p:sp>
        </p:grp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0C57E22A-7C36-C496-712D-5F95263E2428}"/>
                </a:ext>
              </a:extLst>
            </p:cNvPr>
            <p:cNvSpPr/>
            <p:nvPr/>
          </p:nvSpPr>
          <p:spPr>
            <a:xfrm>
              <a:off x="6689651" y="3924970"/>
              <a:ext cx="2756748" cy="295222"/>
            </a:xfrm>
            <a:prstGeom prst="roundRect">
              <a:avLst>
                <a:gd name="adj" fmla="val 50000"/>
              </a:avLst>
            </a:prstGeom>
            <a:solidFill>
              <a:srgbClr val="2A2A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SOFT VOTING </a:t>
              </a:r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앙상블 </a:t>
              </a:r>
            </a:p>
          </p:txBody>
        </p:sp>
        <p:pic>
          <p:nvPicPr>
            <p:cNvPr id="4103" name="그림 4102">
              <a:extLst>
                <a:ext uri="{FF2B5EF4-FFF2-40B4-BE49-F238E27FC236}">
                  <a16:creationId xmlns:a16="http://schemas.microsoft.com/office/drawing/2014/main" id="{29F67670-17F1-C6F9-E5DC-B5882E98F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9651" y="4276171"/>
              <a:ext cx="3717096" cy="684993"/>
            </a:xfrm>
            <a:prstGeom prst="rect">
              <a:avLst/>
            </a:prstGeom>
          </p:spPr>
        </p:pic>
        <p:sp>
          <p:nvSpPr>
            <p:cNvPr id="4105" name="직사각형 4104">
              <a:extLst>
                <a:ext uri="{FF2B5EF4-FFF2-40B4-BE49-F238E27FC236}">
                  <a16:creationId xmlns:a16="http://schemas.microsoft.com/office/drawing/2014/main" id="{3DE95B28-92C7-0454-9B26-CA060AE08E30}"/>
                </a:ext>
              </a:extLst>
            </p:cNvPr>
            <p:cNvSpPr/>
            <p:nvPr/>
          </p:nvSpPr>
          <p:spPr>
            <a:xfrm>
              <a:off x="5070726" y="6949040"/>
              <a:ext cx="1787274" cy="3364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CNN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단독 모델</a:t>
              </a:r>
            </a:p>
          </p:txBody>
        </p:sp>
        <p:sp>
          <p:nvSpPr>
            <p:cNvPr id="4106" name="직사각형 4105">
              <a:extLst>
                <a:ext uri="{FF2B5EF4-FFF2-40B4-BE49-F238E27FC236}">
                  <a16:creationId xmlns:a16="http://schemas.microsoft.com/office/drawing/2014/main" id="{E7AD2136-7220-40AD-F9BD-653B009627FC}"/>
                </a:ext>
              </a:extLst>
            </p:cNvPr>
            <p:cNvSpPr/>
            <p:nvPr/>
          </p:nvSpPr>
          <p:spPr>
            <a:xfrm>
              <a:off x="6685660" y="6060384"/>
              <a:ext cx="3387843" cy="12251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spc="-80" dirty="0">
                  <a:solidFill>
                    <a:srgbClr val="3151F3"/>
                  </a:solidFill>
                  <a:latin typeface="페이퍼로지 4 Regular" pitchFamily="2" charset="-127"/>
                  <a:ea typeface="페이퍼로지 4 Regular" pitchFamily="2" charset="-127"/>
                </a:rPr>
                <a:t>“</a:t>
              </a:r>
              <a:r>
                <a:rPr lang="ko-KR" altLang="en-US" sz="2800" spc="-80" dirty="0">
                  <a:solidFill>
                    <a:srgbClr val="3151F3"/>
                  </a:solidFill>
                  <a:latin typeface="페이퍼로지 4 Regular" pitchFamily="2" charset="-127"/>
                  <a:ea typeface="페이퍼로지 4 Regular" pitchFamily="2" charset="-127"/>
                </a:rPr>
                <a:t>최종 분류 </a:t>
              </a:r>
              <a:endParaRPr lang="en-US" altLang="ko-KR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ko-KR" altLang="en-US" sz="2800" spc="-80" dirty="0">
                  <a:solidFill>
                    <a:srgbClr val="3151F3"/>
                  </a:solidFill>
                  <a:latin typeface="페이퍼로지 4 Regular" pitchFamily="2" charset="-127"/>
                  <a:ea typeface="페이퍼로지 4 Regular" pitchFamily="2" charset="-127"/>
                </a:rPr>
                <a:t>결과 출력</a:t>
              </a:r>
              <a:r>
                <a:rPr lang="en-US" altLang="ko-KR" sz="2800" spc="-80" dirty="0">
                  <a:solidFill>
                    <a:srgbClr val="3151F3"/>
                  </a:solidFill>
                  <a:latin typeface="페이퍼로지 4 Regular" pitchFamily="2" charset="-127"/>
                  <a:ea typeface="페이퍼로지 4 Regular" pitchFamily="2" charset="-127"/>
                </a:rPr>
                <a:t>”</a:t>
              </a:r>
              <a:endParaRPr lang="ko-KR" altLang="en-US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107" name="직사각형 4106">
              <a:extLst>
                <a:ext uri="{FF2B5EF4-FFF2-40B4-BE49-F238E27FC236}">
                  <a16:creationId xmlns:a16="http://schemas.microsoft.com/office/drawing/2014/main" id="{63902C87-BAE0-FAD5-C254-2D6AE8E82539}"/>
                </a:ext>
              </a:extLst>
            </p:cNvPr>
            <p:cNvSpPr/>
            <p:nvPr/>
          </p:nvSpPr>
          <p:spPr>
            <a:xfrm rot="19674861">
              <a:off x="4816307" y="5055792"/>
              <a:ext cx="2333547" cy="3364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CNN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앙상블 모델</a:t>
              </a:r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400" spc="-80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ResNet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+ </a:t>
              </a:r>
              <a:r>
                <a:rPr lang="en-US" altLang="ko-KR" sz="1400" spc="-80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EfficientNet</a:t>
              </a:r>
              <a:endPara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0E72A3-BF7F-2ED7-6377-17F3562B82D5}"/>
              </a:ext>
            </a:extLst>
          </p:cNvPr>
          <p:cNvSpPr/>
          <p:nvPr/>
        </p:nvSpPr>
        <p:spPr>
          <a:xfrm>
            <a:off x="389278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CNN</a:t>
            </a:r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기반 분류 모델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  <a:endParaRPr lang="en-US" altLang="ko-KR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98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2AF7-C6F8-F22B-2C2B-2482899C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6AC232-47AB-0AE0-D405-A0364EAAE4C7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CC455D4-7C10-EC4F-FBE7-BCAA85DEEA8C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1950B80-4570-C7FB-8852-7253EE14280A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F95ACF3-9852-24DC-315F-FE448AA9A24B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5639607E-991F-F473-424B-340DB50D1568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30490D-C350-6DC8-C028-C7E9F89B0FC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1D5364B-E87D-F6DF-4ACE-C5BCECBAE57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D505976-5473-73FF-05DF-BBD5EB231FF3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FE417B-DDBE-3E6F-85EF-B266EF1185C3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19CB8A5-D8EB-F416-4360-CB5EE6620E76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B3AEEE6-40B9-2B15-411E-7CEFD8F5CC57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A3513B5-AA71-9363-5F7C-AE9801328DFA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1A99D6B-CB21-1E4C-C0C0-E4B5D13B83C8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0A43E7-233C-6C74-1116-61D66CE25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93381"/>
              </p:ext>
            </p:extLst>
          </p:nvPr>
        </p:nvGraphicFramePr>
        <p:xfrm>
          <a:off x="968562" y="2119746"/>
          <a:ext cx="9191436" cy="929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2511">
                  <a:extLst>
                    <a:ext uri="{9D8B030D-6E8A-4147-A177-3AD203B41FA5}">
                      <a16:colId xmlns:a16="http://schemas.microsoft.com/office/drawing/2014/main" val="866127759"/>
                    </a:ext>
                  </a:extLst>
                </a:gridCol>
                <a:gridCol w="2442975">
                  <a:extLst>
                    <a:ext uri="{9D8B030D-6E8A-4147-A177-3AD203B41FA5}">
                      <a16:colId xmlns:a16="http://schemas.microsoft.com/office/drawing/2014/main" val="1270686233"/>
                    </a:ext>
                  </a:extLst>
                </a:gridCol>
                <a:gridCol w="2442975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2442975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</a:tblGrid>
              <a:tr h="202682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ResNet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EfficientNet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 B2</a:t>
                      </a:r>
                      <a:endParaRPr lang="ko-KR" altLang="en-US" sz="1600" b="1" dirty="0">
                        <a:solidFill>
                          <a:schemeClr val="bg1"/>
                        </a:solidFill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CNN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앙상블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en-US" altLang="ko-KR" sz="1600" b="1" dirty="0" err="1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eff+Res</a:t>
                      </a:r>
                      <a:r>
                        <a:rPr lang="en-US" altLang="ko-KR" sz="1600" b="1" dirty="0">
                          <a:solidFill>
                            <a:schemeClr val="bg1"/>
                          </a:solidFill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594416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Accuracy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0.811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0.895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rgbClr val="2A2A2A"/>
                          </a:solidFill>
                          <a:latin typeface="+mn-ea"/>
                        </a:rPr>
                        <a:t>0.906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0AE207E-E761-B3CC-4539-50ED8F7731AA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[CNN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모델 </a:t>
            </a:r>
            <a:r>
              <a:rPr lang="ko-KR" altLang="en-US" spc="-8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성능표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&amp;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그래프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  <p:pic>
        <p:nvPicPr>
          <p:cNvPr id="33" name="그림 32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979E1D-8939-3DC1-771F-D472658E4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029" y="3082709"/>
            <a:ext cx="6880501" cy="43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6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A2EF-2AE3-AC1D-577D-B9DFCCC2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F9F71E6-87E3-26B1-0F23-26DE430D1A91}"/>
              </a:ext>
            </a:extLst>
          </p:cNvPr>
          <p:cNvSpPr/>
          <p:nvPr/>
        </p:nvSpPr>
        <p:spPr>
          <a:xfrm>
            <a:off x="6584060" y="3854118"/>
            <a:ext cx="3627711" cy="1592446"/>
          </a:xfrm>
          <a:prstGeom prst="roundRect">
            <a:avLst>
              <a:gd name="adj" fmla="val 7109"/>
            </a:avLst>
          </a:prstGeom>
          <a:solidFill>
            <a:schemeClr val="bg1">
              <a:lumMod val="95000"/>
            </a:schemeClr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CNN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분류 결과 확률과 </a:t>
            </a:r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ML 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로 분류하여 나온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결과 확률의 가중평균을 냄 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endParaRPr lang="en-US" altLang="ko-KR" sz="1600" b="1" spc="-80" dirty="0">
              <a:solidFill>
                <a:srgbClr val="2A2A2A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en-US" altLang="ko-KR" sz="1600" b="1" spc="-80" dirty="0">
                <a:solidFill>
                  <a:srgbClr val="2A2A2A"/>
                </a:solidFill>
                <a:latin typeface="페이퍼로지 7 Bold" pitchFamily="2" charset="-127"/>
                <a:ea typeface="페이퍼로지 7 Bold" pitchFamily="2" charset="-127"/>
              </a:rPr>
              <a:t>Final = P_CNN*(0.6)+ P_ML(0.4)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0591AE-E59E-B154-3A45-0D25E20E83E2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E75FA4F-4E77-D7BA-8496-496799BEFBE5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DDEDA85-C630-2618-CB28-671E41F7E7A3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528B04-2AF5-1103-A754-8457F9CFF609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18C007A-BF05-C688-C66F-85BEC724CCCA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3EA180-3261-83A8-4F73-E766F709A1B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AA3C146-E6D2-4923-02FF-8F2BA10FBB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7A30C2B-F5EC-3D9C-395D-C07F7FA8C9E1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09ECC1-CE41-0BDF-7D04-B93F7A7A118C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F46A7B5-AF07-516C-3FA7-B8563DB71FFE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9A891673-3C9A-008A-5DFB-BC309B935362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F89D0A2-BAC1-0A93-500D-CB3CCC82ED27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BCF37A1-FB1C-1D0D-B6F9-C8361742569B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04E7242-1566-FA5D-261B-CE2E14384847}"/>
              </a:ext>
            </a:extLst>
          </p:cNvPr>
          <p:cNvSpPr/>
          <p:nvPr/>
        </p:nvSpPr>
        <p:spPr>
          <a:xfrm rot="5400000">
            <a:off x="7900362" y="5640113"/>
            <a:ext cx="477131" cy="338012"/>
          </a:xfrm>
          <a:prstGeom prst="rightArrow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288ED90C-0071-DD23-C854-6C4A166F336C}"/>
              </a:ext>
            </a:extLst>
          </p:cNvPr>
          <p:cNvSpPr/>
          <p:nvPr/>
        </p:nvSpPr>
        <p:spPr>
          <a:xfrm>
            <a:off x="4213535" y="6503992"/>
            <a:ext cx="2473166" cy="338012"/>
          </a:xfrm>
          <a:prstGeom prst="rightArrow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06C93C6-6623-574C-3C0B-218D649BB011}"/>
              </a:ext>
            </a:extLst>
          </p:cNvPr>
          <p:cNvSpPr/>
          <p:nvPr/>
        </p:nvSpPr>
        <p:spPr>
          <a:xfrm rot="18188841">
            <a:off x="4332739" y="5110893"/>
            <a:ext cx="2922666" cy="338012"/>
          </a:xfrm>
          <a:prstGeom prst="rightArrow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83BD5E-D238-F8CD-C474-5775C6917626}"/>
              </a:ext>
            </a:extLst>
          </p:cNvPr>
          <p:cNvGrpSpPr/>
          <p:nvPr/>
        </p:nvGrpSpPr>
        <p:grpSpPr>
          <a:xfrm>
            <a:off x="764714" y="2080641"/>
            <a:ext cx="4306012" cy="1311293"/>
            <a:chOff x="3579101" y="1796921"/>
            <a:chExt cx="4306012" cy="131129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C461334-A862-B5C0-5D39-984374B8A81A}"/>
                </a:ext>
              </a:extLst>
            </p:cNvPr>
            <p:cNvGrpSpPr/>
            <p:nvPr/>
          </p:nvGrpSpPr>
          <p:grpSpPr>
            <a:xfrm>
              <a:off x="3579101" y="1796921"/>
              <a:ext cx="4306012" cy="1311293"/>
              <a:chOff x="788276" y="2427891"/>
              <a:chExt cx="4306012" cy="1311293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9684E44-479D-CF16-6A71-BD41382C1320}"/>
                  </a:ext>
                </a:extLst>
              </p:cNvPr>
              <p:cNvSpPr/>
              <p:nvPr/>
            </p:nvSpPr>
            <p:spPr>
              <a:xfrm>
                <a:off x="788276" y="2427891"/>
                <a:ext cx="4306012" cy="131129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EfficientNetB2</a:t>
                </a: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ResNet50V2</a:t>
                </a:r>
              </a:p>
              <a:p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(include=False) 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→ </a:t>
                </a:r>
                <a:r>
                  <a:rPr lang="en-US" altLang="ko-KR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1000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개 </a:t>
                </a:r>
                <a:r>
                  <a:rPr lang="ko-KR" altLang="en-US" sz="1400" spc="-80" dirty="0" err="1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출력층</a:t>
                </a:r>
                <a:r>
                  <a:rPr lang="ko-KR" altLang="en-US" sz="1400" spc="-80" dirty="0">
                    <a:solidFill>
                      <a:srgbClr val="2A2A2A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 제거</a:t>
                </a:r>
                <a:endPara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E0AAB5C7-6BF2-8BE6-E7EC-486691A6D262}"/>
                  </a:ext>
                </a:extLst>
              </p:cNvPr>
              <p:cNvSpPr/>
              <p:nvPr/>
            </p:nvSpPr>
            <p:spPr>
              <a:xfrm>
                <a:off x="943826" y="2540448"/>
                <a:ext cx="1762662" cy="295222"/>
              </a:xfrm>
              <a:prstGeom prst="roundRect">
                <a:avLst>
                  <a:gd name="adj" fmla="val 50000"/>
                </a:avLst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pc="-90" dirty="0">
                    <a:solidFill>
                      <a:schemeClr val="bg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IMAGENET</a:t>
                </a:r>
                <a:endPara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4941923-7B93-1116-5AA2-072D7CFDC477}"/>
                </a:ext>
              </a:extLst>
            </p:cNvPr>
            <p:cNvSpPr/>
            <p:nvPr/>
          </p:nvSpPr>
          <p:spPr>
            <a:xfrm>
              <a:off x="5643551" y="1909478"/>
              <a:ext cx="1576399" cy="2952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pc="-9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사전 학습 모델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8E11264-1A7A-10A9-2CDE-720EACC2A6B4}"/>
              </a:ext>
            </a:extLst>
          </p:cNvPr>
          <p:cNvGrpSpPr/>
          <p:nvPr/>
        </p:nvGrpSpPr>
        <p:grpSpPr>
          <a:xfrm>
            <a:off x="764714" y="3504491"/>
            <a:ext cx="4306012" cy="2232141"/>
            <a:chOff x="788276" y="2427891"/>
            <a:chExt cx="3539293" cy="2232141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A16D362-C2B3-7938-10F3-1E9D57083A87}"/>
                </a:ext>
              </a:extLst>
            </p:cNvPr>
            <p:cNvSpPr/>
            <p:nvPr/>
          </p:nvSpPr>
          <p:spPr>
            <a:xfrm>
              <a:off x="788276" y="2427891"/>
              <a:ext cx="3539293" cy="2232141"/>
            </a:xfrm>
            <a:prstGeom prst="roundRect">
              <a:avLst>
                <a:gd name="adj" fmla="val 71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marL="342900" indent="-342900">
                <a:buAutoNum type="arabicParenR"/>
              </a:pP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CNN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 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Feature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추출</a:t>
              </a:r>
              <a:b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Global </a:t>
              </a:r>
              <a:r>
                <a:rPr lang="en-US" altLang="ko-KR" sz="1400" spc="-80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Avarage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Pooling (7,7,1408)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→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(1408,) EfficientNetB2(7,7,2080)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→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(2080,) ResNet50V</a:t>
              </a:r>
            </a:p>
            <a:p>
              <a:pPr marL="342900" indent="-342900">
                <a:buAutoNum type="arabicParenR"/>
              </a:pP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Feature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결합</a:t>
              </a:r>
              <a:b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</a:b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1480 + 2080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→ </a:t>
              </a:r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(3488,)</a:t>
              </a: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64928FCF-E568-085E-467A-5E76A970E443}"/>
                </a:ext>
              </a:extLst>
            </p:cNvPr>
            <p:cNvSpPr/>
            <p:nvPr/>
          </p:nvSpPr>
          <p:spPr>
            <a:xfrm>
              <a:off x="943826" y="2540448"/>
              <a:ext cx="1762662" cy="295222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설계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1109D83-AE67-0F38-4616-34011B4DD103}"/>
              </a:ext>
            </a:extLst>
          </p:cNvPr>
          <p:cNvGrpSpPr/>
          <p:nvPr/>
        </p:nvGrpSpPr>
        <p:grpSpPr>
          <a:xfrm>
            <a:off x="764714" y="6062670"/>
            <a:ext cx="4306012" cy="903323"/>
            <a:chOff x="788276" y="2427891"/>
            <a:chExt cx="3539293" cy="903323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39B9C51-2E9E-6D56-4ABF-F019D22F51E3}"/>
                </a:ext>
              </a:extLst>
            </p:cNvPr>
            <p:cNvSpPr/>
            <p:nvPr/>
          </p:nvSpPr>
          <p:spPr>
            <a:xfrm>
              <a:off x="788276" y="2427891"/>
              <a:ext cx="3539293" cy="903323"/>
            </a:xfrm>
            <a:prstGeom prst="roundRect">
              <a:avLst>
                <a:gd name="adj" fmla="val 1206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추출된 이미지의 특징으로 최종 음식 분류 모델 학습</a:t>
              </a:r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4378CF3-AA11-0B61-3EB5-5C150E1FB695}"/>
                </a:ext>
              </a:extLst>
            </p:cNvPr>
            <p:cNvSpPr/>
            <p:nvPr/>
          </p:nvSpPr>
          <p:spPr>
            <a:xfrm>
              <a:off x="943825" y="2540448"/>
              <a:ext cx="2159603" cy="295222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ML </a:t>
              </a:r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학습 </a:t>
              </a:r>
              <a:r>
                <a:rPr lang="en-US" altLang="ko-KR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(</a:t>
              </a:r>
              <a:r>
                <a:rPr lang="ko-KR" altLang="en-US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분류 모델</a:t>
              </a:r>
              <a:r>
                <a:rPr lang="en-US" altLang="ko-KR" spc="-9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)</a:t>
              </a:r>
              <a:endPara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BF354BA-9EFE-2321-337B-72139BA8FF52}"/>
              </a:ext>
            </a:extLst>
          </p:cNvPr>
          <p:cNvSpPr/>
          <p:nvPr/>
        </p:nvSpPr>
        <p:spPr>
          <a:xfrm>
            <a:off x="6689651" y="3912270"/>
            <a:ext cx="2756748" cy="29522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혼합 앙상블 </a:t>
            </a:r>
            <a:r>
              <a:rPr lang="en-US" altLang="ko-KR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(</a:t>
            </a:r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가중 평균</a:t>
            </a:r>
            <a:r>
              <a:rPr lang="en-US" altLang="ko-KR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)</a:t>
            </a:r>
            <a:endParaRPr lang="ko-KR" altLang="en-US" spc="-9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B77A60D-E5FB-28F5-E7FF-1A80A225CC1B}"/>
              </a:ext>
            </a:extLst>
          </p:cNvPr>
          <p:cNvSpPr/>
          <p:nvPr/>
        </p:nvSpPr>
        <p:spPr>
          <a:xfrm>
            <a:off x="5070726" y="6936340"/>
            <a:ext cx="1787274" cy="336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CNN 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단독 모델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358230F-DE4A-8537-BB14-80E5C28E962A}"/>
              </a:ext>
            </a:extLst>
          </p:cNvPr>
          <p:cNvSpPr/>
          <p:nvPr/>
        </p:nvSpPr>
        <p:spPr>
          <a:xfrm>
            <a:off x="6685660" y="6047684"/>
            <a:ext cx="3387843" cy="1225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rPr>
              <a:t>“</a:t>
            </a:r>
            <a:r>
              <a:rPr lang="ko-KR" altLang="en-US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rPr>
              <a:t>최종 분류 </a:t>
            </a:r>
            <a:endParaRPr lang="en-US" altLang="ko-KR" sz="2800" spc="-80" dirty="0">
              <a:solidFill>
                <a:srgbClr val="3151F3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rPr>
              <a:t>결과 출력</a:t>
            </a:r>
            <a:r>
              <a:rPr lang="en-US" altLang="ko-KR" sz="2800" spc="-80" dirty="0">
                <a:solidFill>
                  <a:srgbClr val="3151F3"/>
                </a:solidFill>
                <a:latin typeface="페이퍼로지 4 Regular" pitchFamily="2" charset="-127"/>
                <a:ea typeface="페이퍼로지 4 Regular" pitchFamily="2" charset="-127"/>
              </a:rPr>
              <a:t>”</a:t>
            </a:r>
            <a:endParaRPr lang="ko-KR" altLang="en-US" sz="2800" spc="-80" dirty="0">
              <a:solidFill>
                <a:srgbClr val="3151F3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4084D4-5CF3-8E45-208A-409BF4C8DDF2}"/>
              </a:ext>
            </a:extLst>
          </p:cNvPr>
          <p:cNvSpPr/>
          <p:nvPr/>
        </p:nvSpPr>
        <p:spPr>
          <a:xfrm>
            <a:off x="389278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CNN Feature + ML </a:t>
            </a:r>
            <a:r>
              <a:rPr lang="ko-KR" altLang="en-US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기반 분류 모델</a:t>
            </a:r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  <a:endParaRPr lang="en-US" altLang="ko-KR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01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9BA1-E52E-D243-18A1-E747FDD34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CFEE77-7728-5505-A3D0-FF7F858B4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050" y="3760919"/>
            <a:ext cx="5951750" cy="357104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1F1742E9-96D6-0A22-34BA-4D94CA0D0DB7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7114E74-249B-2F71-BF3C-5E580FF637C2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D47522-840F-1C90-239B-F8E84B67D866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B729FD-6BED-FD30-AF75-B789B31CFAC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19BF505B-61ED-5BAC-34F6-CBF583970B6B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A2503BF-C039-CE64-2534-74160DA128DE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2DB6A7E-0947-6575-067D-F67D3F6CAD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95A144-027F-CD38-DE8A-849AFBB48666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0D490E-A991-87CD-2111-CE29F463C0E7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104003C-FC68-A123-4D4C-D3CB7EFBB779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8A49506-AC95-1B5A-0043-1A91D3D171E3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CDBF2BF-5261-CF3B-D88E-A68F5849DC25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9A3B81BC-C98B-295A-BF9A-064221A0FEF3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813318A-2762-5E69-6D91-B1EB3023D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18117"/>
              </p:ext>
            </p:extLst>
          </p:nvPr>
        </p:nvGraphicFramePr>
        <p:xfrm>
          <a:off x="275117" y="2119746"/>
          <a:ext cx="10141579" cy="1497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1784">
                  <a:extLst>
                    <a:ext uri="{9D8B030D-6E8A-4147-A177-3AD203B41FA5}">
                      <a16:colId xmlns:a16="http://schemas.microsoft.com/office/drawing/2014/main" val="866127759"/>
                    </a:ext>
                  </a:extLst>
                </a:gridCol>
                <a:gridCol w="1759959">
                  <a:extLst>
                    <a:ext uri="{9D8B030D-6E8A-4147-A177-3AD203B41FA5}">
                      <a16:colId xmlns:a16="http://schemas.microsoft.com/office/drawing/2014/main" val="1270686233"/>
                    </a:ext>
                  </a:extLst>
                </a:gridCol>
                <a:gridCol w="1759959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1759959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  <a:gridCol w="1759959">
                  <a:extLst>
                    <a:ext uri="{9D8B030D-6E8A-4147-A177-3AD203B41FA5}">
                      <a16:colId xmlns:a16="http://schemas.microsoft.com/office/drawing/2014/main" val="37425239"/>
                    </a:ext>
                  </a:extLst>
                </a:gridCol>
                <a:gridCol w="1759959">
                  <a:extLst>
                    <a:ext uri="{9D8B030D-6E8A-4147-A177-3AD203B41FA5}">
                      <a16:colId xmlns:a16="http://schemas.microsoft.com/office/drawing/2014/main" val="1229132027"/>
                    </a:ext>
                  </a:extLst>
                </a:gridCol>
              </a:tblGrid>
              <a:tr h="202682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cs typeface="+mn-cs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CNN_feature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+ </a:t>
                      </a:r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LightGBM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</a:t>
                      </a:r>
                      <a:r>
                        <a:rPr lang="en-US" altLang="ko-KR" sz="160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_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feature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+ </a:t>
                      </a:r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RandomForest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CNN_</a:t>
                      </a:r>
                      <a:r>
                        <a:rPr lang="en-US" altLang="ko-KR" sz="160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feature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+ </a:t>
                      </a:r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XGBoost</a:t>
                      </a:r>
                      <a:endParaRPr lang="en-US" altLang="ko-KR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CNN_</a:t>
                      </a:r>
                      <a:r>
                        <a:rPr lang="en-US" altLang="ko-KR" sz="160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feature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+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SVM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</a:t>
                      </a:r>
                      <a:r>
                        <a:rPr lang="en-US" altLang="ko-KR" sz="160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_</a:t>
                      </a:r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feature</a:t>
                      </a:r>
                    </a:p>
                    <a:p>
                      <a:pPr algn="ctr" latinLnBrk="1"/>
                      <a:r>
                        <a:rPr lang="en-US" altLang="ko-KR" sz="16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+ LR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415692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단독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Acc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  <a:tr h="594416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CNN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앙상블 조합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Acc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3F3F48"/>
                          </a:solidFill>
                          <a:latin typeface="+mn-ea"/>
                        </a:rPr>
                        <a:t>0.8978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0.8977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0.894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62051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4B481AE-9E71-830F-C3B4-3C092A74FA76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[CNN + ML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모델 </a:t>
            </a:r>
            <a:r>
              <a:rPr lang="ko-KR" altLang="en-US" spc="-8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성능표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&amp;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그래프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9447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9.79955E-7 4.67451E-6 L -9.79955E-7 -0.1482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41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89FE4-3DE3-8552-6623-959D264C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424C74-726C-6252-E57E-C9E9E3F80DEE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80A182D-4FCD-5146-B99C-3A12E9575A81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CD2A47C-F2C1-64B2-0268-54362AFAE336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D6139-EF50-F36D-9B76-68E4399AE242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3179030-2D42-DE86-E0FD-0252BC05D640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915B737-3769-E9E7-19C6-009A856F7986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4F1401B-8B31-D691-8400-A3F21ACFB8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90376E-1B06-B58D-7B16-3A9F04DCC887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7A899A-EE31-9C3A-CE66-81A03F96BB12}"/>
              </a:ext>
            </a:extLst>
          </p:cNvPr>
          <p:cNvSpPr/>
          <p:nvPr/>
        </p:nvSpPr>
        <p:spPr>
          <a:xfrm>
            <a:off x="2028812" y="1162082"/>
            <a:ext cx="1057289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53739CB-8EC5-2F3A-DCE4-878F556EC504}"/>
              </a:ext>
            </a:extLst>
          </p:cNvPr>
          <p:cNvGrpSpPr/>
          <p:nvPr/>
        </p:nvGrpSpPr>
        <p:grpSpPr>
          <a:xfrm>
            <a:off x="887711" y="1162082"/>
            <a:ext cx="1057289" cy="278746"/>
            <a:chOff x="559098" y="1355318"/>
            <a:chExt cx="105728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8096DA9-F120-61AD-83FD-7904974B0ACD}"/>
                </a:ext>
              </a:extLst>
            </p:cNvPr>
            <p:cNvSpPr/>
            <p:nvPr/>
          </p:nvSpPr>
          <p:spPr>
            <a:xfrm>
              <a:off x="55909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E3E9253-B0EC-2122-C1D7-36DFE145073F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FADCEF8-701B-F478-F007-F34D791E669B}"/>
                </a:ext>
              </a:extLst>
            </p:cNvPr>
            <p:cNvSpPr/>
            <p:nvPr/>
          </p:nvSpPr>
          <p:spPr>
            <a:xfrm>
              <a:off x="138987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A4968-37DD-FEED-2FAD-E1734EAC709F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웹 </a:t>
            </a:r>
            <a:r>
              <a:rPr lang="ko-KR" altLang="en-US" spc="-8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구현시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적용 모델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6AE70D-04A2-5332-BC12-9657E2F9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664525"/>
              </p:ext>
            </p:extLst>
          </p:nvPr>
        </p:nvGraphicFramePr>
        <p:xfrm>
          <a:off x="800100" y="2114068"/>
          <a:ext cx="8902698" cy="3531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0540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  <a:gridCol w="2926078">
                  <a:extLst>
                    <a:ext uri="{9D8B030D-6E8A-4147-A177-3AD203B41FA5}">
                      <a16:colId xmlns:a16="http://schemas.microsoft.com/office/drawing/2014/main" val="4201075130"/>
                    </a:ext>
                  </a:extLst>
                </a:gridCol>
              </a:tblGrid>
              <a:tr h="36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모델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단일 예측 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정확도 </a:t>
                      </a:r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(Accuracy)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791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EfficientNet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B2</a:t>
                      </a:r>
                      <a:endParaRPr lang="ko-KR" altLang="en-US" sz="18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8F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ctr"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5</a:t>
                      </a:r>
                      <a:r>
                        <a:rPr lang="ko-KR" altLang="en-US" sz="1800" dirty="0">
                          <a:solidFill>
                            <a:srgbClr val="3F3F48"/>
                          </a:solidFill>
                          <a:latin typeface="+mn-ea"/>
                        </a:rPr>
                        <a:t>초</a:t>
                      </a:r>
                      <a:endParaRPr lang="en-US" altLang="ko-KR" sz="18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8F"/>
                    </a:solidFill>
                  </a:tcPr>
                </a:tc>
                <a:tc>
                  <a:txBody>
                    <a:bodyPr/>
                    <a:lstStyle/>
                    <a:p>
                      <a:pPr marL="108000" algn="ctr"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0.895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027458"/>
                  </a:ext>
                </a:extLst>
              </a:tr>
              <a:tr h="791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CNN </a:t>
                      </a:r>
                      <a:r>
                        <a:rPr lang="ko-KR" altLang="en-US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앙상블 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(Eff</a:t>
                      </a:r>
                      <a:r>
                        <a:rPr lang="ko-KR" altLang="en-US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+</a:t>
                      </a:r>
                      <a:r>
                        <a:rPr lang="ko-KR" altLang="en-US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Res)</a:t>
                      </a:r>
                      <a:endParaRPr lang="ko-KR" altLang="en-US" sz="18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8</a:t>
                      </a:r>
                      <a:r>
                        <a:rPr lang="ko-KR" altLang="en-US" sz="1800" dirty="0">
                          <a:solidFill>
                            <a:srgbClr val="3F3F48"/>
                          </a:solidFill>
                          <a:latin typeface="+mn-ea"/>
                        </a:rPr>
                        <a:t>초</a:t>
                      </a:r>
                      <a:endParaRPr lang="en-US" altLang="ko-KR" sz="18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0.906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181119"/>
                  </a:ext>
                </a:extLst>
              </a:tr>
              <a:tr h="791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CNN </a:t>
                      </a:r>
                      <a:r>
                        <a:rPr lang="ko-KR" altLang="en-US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앙상블 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+ </a:t>
                      </a:r>
                      <a:r>
                        <a:rPr lang="en-US" altLang="ko-KR" sz="18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RandomForest</a:t>
                      </a:r>
                      <a:endParaRPr lang="en-US" altLang="ko-KR" sz="18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12</a:t>
                      </a:r>
                      <a:r>
                        <a:rPr lang="ko-KR" altLang="en-US" sz="1800" dirty="0">
                          <a:solidFill>
                            <a:srgbClr val="3F3F48"/>
                          </a:solidFill>
                          <a:latin typeface="+mn-ea"/>
                        </a:rPr>
                        <a:t>초</a:t>
                      </a:r>
                      <a:endParaRPr lang="en-US" altLang="ko-KR" sz="18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0.8978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9995232"/>
                  </a:ext>
                </a:extLst>
              </a:tr>
              <a:tr h="791547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CNN</a:t>
                      </a:r>
                      <a:r>
                        <a:rPr lang="ko-KR" altLang="en-US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앙상블 </a:t>
                      </a:r>
                      <a:r>
                        <a:rPr lang="en-US" altLang="ko-KR" sz="18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+ SVM</a:t>
                      </a:r>
                      <a:endParaRPr lang="ko-KR" altLang="en-US" sz="18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14</a:t>
                      </a:r>
                      <a:r>
                        <a:rPr lang="ko-KR" altLang="en-US" sz="1800" dirty="0">
                          <a:solidFill>
                            <a:srgbClr val="3F3F48"/>
                          </a:solidFill>
                          <a:latin typeface="+mn-ea"/>
                        </a:rPr>
                        <a:t>초</a:t>
                      </a:r>
                      <a:endParaRPr lang="en-US" altLang="ko-KR" sz="18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800" dirty="0">
                          <a:solidFill>
                            <a:srgbClr val="3F3F48"/>
                          </a:solidFill>
                          <a:latin typeface="+mn-ea"/>
                        </a:rPr>
                        <a:t>0.894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26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2BEBB-B3C0-469C-4B29-B20698CD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E9FBF5C-2D3C-C85D-D6A9-04C58FEEA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890132"/>
              </p:ext>
            </p:extLst>
          </p:nvPr>
        </p:nvGraphicFramePr>
        <p:xfrm>
          <a:off x="800101" y="2114068"/>
          <a:ext cx="8734423" cy="5010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5108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2373105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  <a:gridCol w="2373105">
                  <a:extLst>
                    <a:ext uri="{9D8B030D-6E8A-4147-A177-3AD203B41FA5}">
                      <a16:colId xmlns:a16="http://schemas.microsoft.com/office/drawing/2014/main" val="4201075130"/>
                    </a:ext>
                  </a:extLst>
                </a:gridCol>
                <a:gridCol w="2373105">
                  <a:extLst>
                    <a:ext uri="{9D8B030D-6E8A-4147-A177-3AD203B41FA5}">
                      <a16:colId xmlns:a16="http://schemas.microsoft.com/office/drawing/2014/main" val="201481673"/>
                    </a:ext>
                  </a:extLst>
                </a:gridCol>
              </a:tblGrid>
              <a:tr h="36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ResNet18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ResNet50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EfficientNet-B3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10105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8000">
                        <a:defRPr/>
                      </a:pPr>
                      <a:r>
                        <a:rPr lang="en-US" altLang="ko-KR" sz="1300" dirty="0" err="1">
                          <a:solidFill>
                            <a:srgbClr val="3F3F48"/>
                          </a:solidFill>
                          <a:latin typeface="+mn-ea"/>
                        </a:rPr>
                        <a:t>Resideual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 Block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사용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: </a:t>
                      </a:r>
                    </a:p>
                    <a:p>
                      <a:pPr marL="108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학습초기에 기울기 소실 방지 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  <a:p>
                      <a:pPr marL="108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전이학습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(ImageNet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가중치 기반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) / </a:t>
                      </a:r>
                      <a:r>
                        <a:rPr lang="ko-KR" altLang="en-US" sz="1300" dirty="0" err="1">
                          <a:solidFill>
                            <a:srgbClr val="3F3F48"/>
                          </a:solidFill>
                          <a:latin typeface="+mn-ea"/>
                        </a:rPr>
                        <a:t>출력층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 수정 커스텀 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8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깊은 학습이 가능하나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,</a:t>
                      </a:r>
                    </a:p>
                    <a:p>
                      <a:pPr marL="108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복잡한 데이터셋에 적합 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8000"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ImageNet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에서 </a:t>
                      </a:r>
                      <a:r>
                        <a:rPr lang="ko-KR" altLang="en-US" sz="1300" dirty="0" err="1">
                          <a:solidFill>
                            <a:srgbClr val="3F3F48"/>
                          </a:solidFill>
                          <a:latin typeface="+mn-ea"/>
                        </a:rPr>
                        <a:t>사전학습된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 강력한 백본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  <a:p>
                      <a:pPr marL="108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적은 파라미터로 최고의 정확도 달성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9027458"/>
                  </a:ext>
                </a:extLst>
              </a:tr>
              <a:tr h="1237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구조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입력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(224x224x3) → ResNet18 → Global Average Pooling → FC(512→9) → </a:t>
                      </a:r>
                      <a:r>
                        <a:rPr lang="en-US" altLang="ko-KR" sz="1300" dirty="0" err="1">
                          <a:solidFill>
                            <a:srgbClr val="3F3F48"/>
                          </a:solidFill>
                          <a:latin typeface="+mn-ea"/>
                        </a:rPr>
                        <a:t>Softmax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>
                        <a:defRPr/>
                      </a:pPr>
                      <a:r>
                        <a:rPr lang="ko-KR" altLang="en-US" sz="1300">
                          <a:solidFill>
                            <a:srgbClr val="3F3F48"/>
                          </a:solidFill>
                          <a:latin typeface="+mn-ea"/>
                        </a:rPr>
                        <a:t>입력</a:t>
                      </a:r>
                      <a:r>
                        <a:rPr lang="en-US" altLang="ko-KR" sz="1300">
                          <a:solidFill>
                            <a:srgbClr val="3F3F48"/>
                          </a:solidFill>
                          <a:latin typeface="+mn-ea"/>
                        </a:rPr>
                        <a:t>(224x224x3) </a:t>
                      </a:r>
                      <a:r>
                        <a:rPr lang="ko-KR" altLang="en-US" sz="130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>
                          <a:solidFill>
                            <a:srgbClr val="3F3F48"/>
                          </a:solidFill>
                          <a:latin typeface="+mn-ea"/>
                        </a:rPr>
                        <a:t>ResNet50 </a:t>
                      </a:r>
                      <a:r>
                        <a:rPr lang="ko-KR" altLang="en-US" sz="130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>
                          <a:solidFill>
                            <a:srgbClr val="3F3F48"/>
                          </a:solidFill>
                          <a:latin typeface="+mn-ea"/>
                        </a:rPr>
                        <a:t>GAP </a:t>
                      </a:r>
                      <a:r>
                        <a:rPr lang="ko-KR" altLang="en-US" sz="130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>
                          <a:solidFill>
                            <a:srgbClr val="3F3F48"/>
                          </a:solidFill>
                          <a:latin typeface="+mn-ea"/>
                        </a:rPr>
                        <a:t>FC(256) </a:t>
                      </a:r>
                      <a:r>
                        <a:rPr lang="ko-KR" altLang="en-US" sz="130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>
                          <a:solidFill>
                            <a:srgbClr val="3F3F48"/>
                          </a:solidFill>
                          <a:latin typeface="+mn-ea"/>
                        </a:rPr>
                        <a:t>softmax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입력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(300x300x3)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EfficientNet-B3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GAP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Dropout(0.4)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→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 FC(256)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 → </a:t>
                      </a: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Dropout(0.2) 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→ </a:t>
                      </a:r>
                      <a:r>
                        <a:rPr lang="en-US" altLang="ko-KR" sz="1300" dirty="0" err="1">
                          <a:solidFill>
                            <a:srgbClr val="3F3F48"/>
                          </a:solidFill>
                          <a:latin typeface="+mn-ea"/>
                        </a:rPr>
                        <a:t>softmax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  <a:p>
                      <a:pPr marL="180000">
                        <a:defRPr/>
                      </a:pP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181119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파라미터 수</a:t>
                      </a:r>
                      <a:endParaRPr lang="en-US" altLang="ko-KR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11.6M(11,181,129)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25.6M(25,557,032)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rgbClr val="3F3F48"/>
                          </a:solidFill>
                          <a:latin typeface="+mn-ea"/>
                          <a:ea typeface="+mn-ea"/>
                          <a:cs typeface="+mn-cs"/>
                        </a:rPr>
                        <a:t>12M(12,233,232)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9995232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총 학습 시간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68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분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marR="0" lvl="0" indent="0" algn="ctr" defTabSz="100794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242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분 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 marR="0" lvl="0" indent="0" algn="ctr" defTabSz="1007943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270</a:t>
                      </a:r>
                      <a:r>
                        <a:rPr lang="ko-KR" altLang="en-US" sz="1300" dirty="0">
                          <a:solidFill>
                            <a:srgbClr val="3F3F48"/>
                          </a:solidFill>
                          <a:latin typeface="+mn-ea"/>
                        </a:rPr>
                        <a:t>분</a:t>
                      </a:r>
                      <a:endParaRPr lang="en-US" altLang="ko-KR" sz="13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3962761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Accuracy </a:t>
                      </a:r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93.63%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93.05%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95.35%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04152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precision </a:t>
                      </a:r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93.69%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93.13%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95.37%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50301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recall </a:t>
                      </a:r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93.63%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93.05%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95.35%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885419"/>
                  </a:ext>
                </a:extLst>
              </a:tr>
              <a:tr h="400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f1-score </a:t>
                      </a:r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93.63%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93.06%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algn="ctr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300" dirty="0">
                          <a:solidFill>
                            <a:srgbClr val="3F3F48"/>
                          </a:solidFill>
                          <a:latin typeface="+mn-ea"/>
                        </a:rPr>
                        <a:t>95.35%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3EB02BA-201B-D087-9F22-5FD956BF002B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40BE72C-012B-D6A2-559A-D68221800274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40697BCF-99CD-010F-A0B8-83DD887068DF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D758166-25E2-C3B2-BA8F-FB67F443A9C9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9B2C5B-8B8C-9F7E-623F-86D693B3A112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D9AEF0-A650-F7D5-11CD-C5CC1D7D3D7A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E77BBA0-D743-B246-96E8-AFCD00CED82E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C557E31-50CC-FEF8-D279-756DEBDC7C87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5C46AFF-CFBE-7DF6-4601-BDA993AADFFB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8D2FDC6F-557C-4B69-1F71-4312B022C7B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839DA2-494E-5777-D49C-40B640A7D175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FA2062B-A4E0-6951-7BFE-E0E4FF5086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2DEE6FD-7868-48EB-5DDD-67705EDD53B1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EC01A5A-928B-77CA-4239-BCB38A794788}"/>
              </a:ext>
            </a:extLst>
          </p:cNvPr>
          <p:cNvSpPr/>
          <p:nvPr/>
        </p:nvSpPr>
        <p:spPr>
          <a:xfrm>
            <a:off x="943827" y="1617480"/>
            <a:ext cx="8590698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모델별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 비교 요약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9013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E3D7-2414-3078-4A29-12E35842F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5148DF0-304B-7535-AA43-6089EA471B1D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3CFCF63-9DB6-E7EF-B050-995E36F2BDE1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A23036A-5EB5-E6CD-F2C1-FBBE0B988A55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89BBE2C-9872-AAE4-E82B-4E620103CF4F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AAD87E-BD8A-503B-AFCB-F8E635EA39AE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FD59C2-EEE6-2644-E81C-3D306DAEB53E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619EC4-7B6C-5F63-3F07-BF4FC25A2C8E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1C66843-9832-E204-5DA8-FE78D32EB324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D015A2-04F0-D337-D1FE-BE25BBE99D4B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875C4D4D-487A-1DEB-6E6B-1B6AEF58A95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5C95F1-3D3A-4417-BA7C-22B06BE1DA5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1D8EE19-78D3-8427-911B-4150D1D14F3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D403926-B88E-3E8C-8441-20886788F561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0463A1D-0EE4-51FE-53BC-9DC80D250815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[ResNet18]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8529E99-750D-37DC-8CD8-04D0138AB706}"/>
              </a:ext>
            </a:extLst>
          </p:cNvPr>
          <p:cNvGrpSpPr/>
          <p:nvPr/>
        </p:nvGrpSpPr>
        <p:grpSpPr>
          <a:xfrm>
            <a:off x="5622924" y="2804630"/>
            <a:ext cx="4471023" cy="3843819"/>
            <a:chOff x="777572" y="2730511"/>
            <a:chExt cx="4029075" cy="3463868"/>
          </a:xfrm>
        </p:grpSpPr>
        <p:pic>
          <p:nvPicPr>
            <p:cNvPr id="11" name="그림 10" descr="텍스트, 스크린샷, 도표, 사각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AA3FAEC-D185-2FB9-0D21-E14C0F66F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74" r="4970" b="7659"/>
            <a:stretch>
              <a:fillRect/>
            </a:stretch>
          </p:blipFill>
          <p:spPr>
            <a:xfrm>
              <a:off x="777572" y="2730511"/>
              <a:ext cx="4029075" cy="3463868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24E5553-CA44-331C-51F7-1158D375E879}"/>
                </a:ext>
              </a:extLst>
            </p:cNvPr>
            <p:cNvSpPr/>
            <p:nvPr/>
          </p:nvSpPr>
          <p:spPr>
            <a:xfrm>
              <a:off x="1627581" y="4083339"/>
              <a:ext cx="319219" cy="266141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3D5FD8-1992-AAEF-2CCE-F512260DAA2D}"/>
                </a:ext>
              </a:extLst>
            </p:cNvPr>
            <p:cNvSpPr/>
            <p:nvPr/>
          </p:nvSpPr>
          <p:spPr>
            <a:xfrm>
              <a:off x="2711944" y="2999564"/>
              <a:ext cx="319219" cy="266141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2028048-E7DC-0FB3-560C-04EFE16C3D60}"/>
              </a:ext>
            </a:extLst>
          </p:cNvPr>
          <p:cNvGrpSpPr/>
          <p:nvPr/>
        </p:nvGrpSpPr>
        <p:grpSpPr>
          <a:xfrm>
            <a:off x="642075" y="2804630"/>
            <a:ext cx="4446588" cy="3581717"/>
            <a:chOff x="716280" y="2395084"/>
            <a:chExt cx="4656985" cy="3751193"/>
          </a:xfrm>
        </p:grpSpPr>
        <p:pic>
          <p:nvPicPr>
            <p:cNvPr id="8" name="그림 7" descr="텍스트, 스크린샷, 사각형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D0EDBAD-322F-9C0B-3DA6-DD37C1CD6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6" t="7258" r="13054" b="7107"/>
            <a:stretch>
              <a:fillRect/>
            </a:stretch>
          </p:blipFill>
          <p:spPr>
            <a:xfrm>
              <a:off x="716280" y="2395084"/>
              <a:ext cx="4656985" cy="375119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4B00885-FE33-6DF1-CB3B-AC6A3801AD8D}"/>
                </a:ext>
              </a:extLst>
            </p:cNvPr>
            <p:cNvSpPr/>
            <p:nvPr/>
          </p:nvSpPr>
          <p:spPr>
            <a:xfrm>
              <a:off x="1317315" y="4067481"/>
              <a:ext cx="392359" cy="372172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6342927-355B-7DA4-521B-1FBD9CF95D8C}"/>
                </a:ext>
              </a:extLst>
            </p:cNvPr>
            <p:cNvSpPr/>
            <p:nvPr/>
          </p:nvSpPr>
          <p:spPr>
            <a:xfrm>
              <a:off x="2764004" y="2620808"/>
              <a:ext cx="470124" cy="335149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761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F621-E125-C522-F281-8D4289FF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2A1B8CF-093F-68DA-F29A-4417A7BC4DEC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F35D33A-4DCC-328E-F632-3A3C2E27D526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20270AD-A50A-329F-DB7B-B406C6901645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F877EDC-2E09-9B1F-1E08-BB98463E828C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EF0412A-A448-8981-8724-4D178B3B8655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7F677D-E0CC-F74E-066D-5CEB0CA65B39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9BC9BA2-2413-642C-C913-59158AEA32E1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165A77C-137F-35C5-7CD5-E701C9022CD8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CA7992-214F-5B9C-245E-8654B2525A8C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70DBE31-7BC0-0881-25D6-8F787FC7F5BD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592FC8-9790-1654-26A6-0DB4810624CC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CAC8B4B-DB00-76DC-19F1-42E75BEEEA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3C6B234-95D6-CFF8-75D8-B77C442D5610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2F0B8F1-CDBF-56DB-1DF6-D3A46BB24480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[ResNet50  / EfficientNet-B3]</a:t>
            </a:r>
          </a:p>
        </p:txBody>
      </p:sp>
      <p:pic>
        <p:nvPicPr>
          <p:cNvPr id="10" name="그림 9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350287-664C-79C0-30BB-C1CB85EFC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2"/>
          <a:stretch>
            <a:fillRect/>
          </a:stretch>
        </p:blipFill>
        <p:spPr>
          <a:xfrm>
            <a:off x="5572125" y="2742782"/>
            <a:ext cx="4524866" cy="3751193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09EAF7-1E9C-8A76-D835-81E3CFC143E2}"/>
              </a:ext>
            </a:extLst>
          </p:cNvPr>
          <p:cNvSpPr/>
          <p:nvPr/>
        </p:nvSpPr>
        <p:spPr>
          <a:xfrm>
            <a:off x="1422400" y="3741100"/>
            <a:ext cx="1162985" cy="27210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91783C-E914-BD19-F2F7-730ED59DB3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5"/>
          <a:stretch>
            <a:fillRect/>
          </a:stretch>
        </p:blipFill>
        <p:spPr>
          <a:xfrm>
            <a:off x="642130" y="2742782"/>
            <a:ext cx="4432151" cy="375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3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A743EAA-73F8-296D-FDB7-8C7982F08B16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21E6A59-CEF9-B34C-CCF7-C95273D114D7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9DFB030-0937-0AAE-E02B-0B737D4C351D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14A5BFE-E442-63D5-E8F6-0FD01D8A8C45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348FE1B-C401-F53C-7902-0AA43C1D50DC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4D7FA6-B515-F531-6D83-95A65BB2F933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DA2FEA-70C4-47DA-23DF-A8122EFBE196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60910A-99A4-5ADD-B04C-3831095B3B1A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0BAF68-734F-775D-3734-FE169EF26B4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AC1AC7A9-8DDA-FFF0-CCBA-5EA10015E5BB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1682AB-0F4C-7714-5B6D-B1B74C03981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577A9E5-4233-FE5C-7C7B-759B7E90EC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B93764-4EDF-22B5-A2E6-D547065A1C70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1C32902-FAB2-F6D6-74FB-603B554307AE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[EfficientNet-B3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70A434-29B7-CBF9-C36F-7849AF0DDA5A}"/>
              </a:ext>
            </a:extLst>
          </p:cNvPr>
          <p:cNvGrpSpPr/>
          <p:nvPr/>
        </p:nvGrpSpPr>
        <p:grpSpPr>
          <a:xfrm>
            <a:off x="1416355" y="2310707"/>
            <a:ext cx="7584756" cy="4776713"/>
            <a:chOff x="897092" y="2384280"/>
            <a:chExt cx="6082899" cy="3830876"/>
          </a:xfrm>
        </p:grpSpPr>
        <p:pic>
          <p:nvPicPr>
            <p:cNvPr id="16" name="그림 15" descr="노랑, 꽃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38D0FF1-2944-172E-3993-B32CFF805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092" y="2384280"/>
              <a:ext cx="1794115" cy="1794115"/>
            </a:xfrm>
            <a:prstGeom prst="rect">
              <a:avLst/>
            </a:prstGeom>
          </p:spPr>
        </p:pic>
        <p:pic>
          <p:nvPicPr>
            <p:cNvPr id="17" name="그림 16" descr="텍스트, 디저트, 생일 케이크, 음식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6081BF7-A505-746B-2F02-D0EBDF8FD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484" y="2384280"/>
              <a:ext cx="1794115" cy="1794115"/>
            </a:xfrm>
            <a:prstGeom prst="rect">
              <a:avLst/>
            </a:prstGeom>
          </p:spPr>
        </p:pic>
        <p:pic>
          <p:nvPicPr>
            <p:cNvPr id="18" name="그림 17" descr="다채로움, 스크린샷, 노랑, 램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2D22D65-6B22-A3C3-D25D-D196E5E47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85876" y="2384280"/>
              <a:ext cx="1794115" cy="1794115"/>
            </a:xfrm>
            <a:prstGeom prst="rect">
              <a:avLst/>
            </a:prstGeom>
          </p:spPr>
        </p:pic>
        <p:pic>
          <p:nvPicPr>
            <p:cNvPr id="19" name="그림 18" descr="음식, 패스트푸드, 스낵, 식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B10F26D-C75E-7487-3ADF-6C4EF0F71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7092" y="4411508"/>
              <a:ext cx="1794115" cy="1794115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5F8526D-249E-7956-D99A-545AA35E8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1951" y="4411508"/>
              <a:ext cx="1794115" cy="1794115"/>
            </a:xfrm>
            <a:prstGeom prst="rect">
              <a:avLst/>
            </a:prstGeom>
          </p:spPr>
        </p:pic>
        <p:pic>
          <p:nvPicPr>
            <p:cNvPr id="21" name="그림 20" descr="음식, 실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EFE0E9B-995D-837F-F81E-D4303CB3A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6809" y="4401974"/>
              <a:ext cx="1813182" cy="1813182"/>
            </a:xfrm>
            <a:prstGeom prst="rect">
              <a:avLst/>
            </a:prstGeom>
          </p:spPr>
        </p:pic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9D8C6CC-82B4-0513-A4F9-0EFC1853C0B4}"/>
              </a:ext>
            </a:extLst>
          </p:cNvPr>
          <p:cNvSpPr/>
          <p:nvPr/>
        </p:nvSpPr>
        <p:spPr>
          <a:xfrm>
            <a:off x="2534894" y="8353600"/>
            <a:ext cx="7238905" cy="31680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ResNet18 모델에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</a:rPr>
              <a:t>Grad-CAM을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 적용해본 결과, 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복잡한 장면에서는 대표적인 특징 한 군데만을 인식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하는 경향이 강했습니다. 예를 들어 같은 제품이 나열된 이미지에서도, 모델은 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하나의 샌드위치만 집중적으로 인식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하고 나머지는 무시했습니다.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반면, 단일 메뉴가 뚜렷하게 있는 이미지에서는 </a:t>
            </a:r>
            <a:r>
              <a:rPr lang="ko-KR" altLang="ko-KR" dirty="0" err="1">
                <a:solidFill>
                  <a:schemeClr val="bg1"/>
                </a:solidFill>
                <a:latin typeface="Arial" panose="020B0604020202020204" pitchFamily="34" charset="0"/>
              </a:rPr>
              <a:t>Grad-CAM이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매우 일관적이고 정밀하게 활성 영역을 보여주는 것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을 볼 수 있었습니다.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이는 추후 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다중 객체 이미지에 대한 인식 개선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, 예를 들어 로고나 배경 활용 또는 </a:t>
            </a:r>
            <a:r>
              <a:rPr lang="ko-KR" altLang="ko-KR" b="1" dirty="0" err="1">
                <a:solidFill>
                  <a:schemeClr val="bg1"/>
                </a:solidFill>
                <a:latin typeface="Arial" panose="020B0604020202020204" pitchFamily="34" charset="0"/>
              </a:rPr>
              <a:t>attention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solidFill>
                  <a:schemeClr val="bg1"/>
                </a:solidFill>
                <a:latin typeface="Arial" panose="020B0604020202020204" pitchFamily="34" charset="0"/>
              </a:rPr>
              <a:t>mechanism</a:t>
            </a:r>
            <a:r>
              <a:rPr lang="ko-KR" altLang="ko-KR" b="1" dirty="0">
                <a:solidFill>
                  <a:schemeClr val="bg1"/>
                </a:solidFill>
                <a:latin typeface="Arial" panose="020B0604020202020204" pitchFamily="34" charset="0"/>
              </a:rPr>
              <a:t> 결합</a:t>
            </a:r>
            <a:r>
              <a:rPr lang="ko-KR" altLang="ko-KR" dirty="0">
                <a:solidFill>
                  <a:schemeClr val="bg1"/>
                </a:solidFill>
                <a:latin typeface="Arial" panose="020B0604020202020204" pitchFamily="34" charset="0"/>
              </a:rPr>
              <a:t> 등이 필요한 근거가 됩니다.</a:t>
            </a:r>
          </a:p>
        </p:txBody>
      </p:sp>
    </p:spTree>
    <p:extLst>
      <p:ext uri="{BB962C8B-B14F-4D97-AF65-F5344CB8AC3E}">
        <p14:creationId xmlns:p14="http://schemas.microsoft.com/office/powerpoint/2010/main" val="97501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9435-70E2-38CE-57DE-C29530737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66E28ED-887C-A5EC-FB6B-4CDC375CC449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228582F-528A-1208-B4B8-2F38B2D4174C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22B61A3-5FE9-73A3-8464-0F8C1D4A53F6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DDA239C-90E9-DDC1-FCDD-752A16B81620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C381573-256E-DF93-E5D5-0E12FE748D71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2702D0-5DF2-88F5-A741-3472639BF376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4A93D6-D799-3386-7F18-C9D755F98FB0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B8B871-71ED-00CD-FD02-430D885DCAAF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433E94-1A6D-B7E7-E610-00B839166E8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3F3FE71-91E9-1B6D-9F6C-78206BE98FE7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10F412-12DA-1341-E023-263D4B140ECC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5E4382C-8048-2322-43D4-3CFEF9BEFDE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E40A86-C31F-DEC4-9062-2E26D4AF2C96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2291D3D-E7C7-1CD6-BBE2-D232190CB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8" y="2012949"/>
            <a:ext cx="8834437" cy="3533775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B2D5B0-FCE3-8E9C-A1A3-CC3CF3033224}"/>
              </a:ext>
            </a:extLst>
          </p:cNvPr>
          <p:cNvSpPr/>
          <p:nvPr/>
        </p:nvSpPr>
        <p:spPr>
          <a:xfrm>
            <a:off x="1902715" y="-1739229"/>
            <a:ext cx="2581275" cy="1222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B3 – TRAINING-PLOTS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29D4DF-580C-CBFC-8C32-275EF1D869BC}"/>
              </a:ext>
            </a:extLst>
          </p:cNvPr>
          <p:cNvSpPr/>
          <p:nvPr/>
        </p:nvSpPr>
        <p:spPr>
          <a:xfrm>
            <a:off x="943826" y="5786207"/>
            <a:ext cx="8834437" cy="12227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EfficientNet-B3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는 빠르게 수렴하면서도 높은 정확도를 보여줌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,</a:t>
            </a:r>
          </a:p>
          <a:p>
            <a:pPr algn="ctr"/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모델 복잡도가 성능 향상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3E0009-13F8-32F5-4DDE-E389CF13C977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[EfficientNet-B3]</a:t>
            </a:r>
            <a:endParaRPr lang="en-US" altLang="ko-KR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45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1CBA-43FB-FFB2-14A4-F27D59DF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B3255A-28FB-3A5D-A07B-44A67093C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166" y="1921338"/>
            <a:ext cx="5055570" cy="3791676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99834C8-11A1-2FC7-89DA-C5919D1053AC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819485F-231B-06B9-00BD-2A0743DBA6A0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D2CD76F-CA96-2087-1DBE-286E9AA9D168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79C57A5-1666-4B08-2229-AEBF71A7E4CA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DCD6C1-7A7C-553C-29F8-CBE3DA05E7EC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670B8F-8FE1-D2EF-8D64-7093DB4E2173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92D791F-D599-17D7-6193-BB94988CC172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FCCBBB-DB42-9EFE-B954-243CDE484ADF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9AB3CF-2ACE-1A01-4ADB-7E3498ABA76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ECA041F1-ED63-F19D-C0D0-A34D5996446F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FEC5A5-DED8-8E6D-9FA2-77697E5BFBFA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7F01A66-2332-3FE7-C0BF-129991E09FD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4E3EFB-5D05-BEC3-6830-4D9446D5CA7E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CE8AEA-217F-8B6B-E7AE-D38BA40B26E3}"/>
              </a:ext>
            </a:extLst>
          </p:cNvPr>
          <p:cNvSpPr/>
          <p:nvPr/>
        </p:nvSpPr>
        <p:spPr>
          <a:xfrm>
            <a:off x="2109118" y="-2213404"/>
            <a:ext cx="2581275" cy="1222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0720_confidence_histogram_effb3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6D2510-094C-06C9-8964-C5DD3B8135FE}"/>
              </a:ext>
            </a:extLst>
          </p:cNvPr>
          <p:cNvSpPr/>
          <p:nvPr/>
        </p:nvSpPr>
        <p:spPr>
          <a:xfrm>
            <a:off x="4733745" y="-1964190"/>
            <a:ext cx="5513345" cy="1222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대부분의 예측이 </a:t>
            </a:r>
            <a:r>
              <a:rPr lang="en-US" altLang="ko-KR" b="1" dirty="0"/>
              <a:t>Confidence 0.95~1.0 </a:t>
            </a:r>
            <a:r>
              <a:rPr lang="ko-KR" altLang="en-US" b="1" dirty="0"/>
              <a:t>구간에 집중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32368D-75A1-008D-F286-2AFB588D4B2A}"/>
              </a:ext>
            </a:extLst>
          </p:cNvPr>
          <p:cNvSpPr/>
          <p:nvPr/>
        </p:nvSpPr>
        <p:spPr>
          <a:xfrm>
            <a:off x="943826" y="5786207"/>
            <a:ext cx="8834437" cy="122277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대부분의 예측이 </a:t>
            </a:r>
            <a:r>
              <a:rPr lang="en-US" altLang="ko-KR" dirty="0">
                <a:latin typeface="페이퍼로지 4 Regular" pitchFamily="2" charset="-127"/>
                <a:ea typeface="페이퍼로지 4 Regular" pitchFamily="2" charset="-127"/>
              </a:rPr>
              <a:t>Confidence 0.95~1.0 </a:t>
            </a:r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구간에 집중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F6029B-0B2E-5183-445A-2719A5749A03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[EfficientNet-B3]</a:t>
            </a:r>
            <a:endParaRPr lang="en-US" altLang="ko-KR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66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음식, 패스트푸드, 샌드위치, 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1D54EE-23D8-B2DB-EF6D-0E09A510F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919" y="1378142"/>
            <a:ext cx="5641975" cy="56419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CD1661-0762-A1DB-1CCE-5222026C8346}"/>
              </a:ext>
            </a:extLst>
          </p:cNvPr>
          <p:cNvSpPr/>
          <p:nvPr/>
        </p:nvSpPr>
        <p:spPr>
          <a:xfrm>
            <a:off x="3174705" y="-1458843"/>
            <a:ext cx="2444681" cy="769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잘못맞추는</a:t>
            </a:r>
            <a:r>
              <a:rPr lang="ko-KR" altLang="en-US" dirty="0"/>
              <a:t> 상위 </a:t>
            </a:r>
            <a:r>
              <a:rPr lang="en-US" altLang="ko-KR" dirty="0"/>
              <a:t>TOP9 </a:t>
            </a:r>
          </a:p>
          <a:p>
            <a:pPr algn="ctr"/>
            <a:r>
              <a:rPr lang="ko-KR" altLang="en-US" dirty="0" err="1"/>
              <a:t>버거킹</a:t>
            </a:r>
            <a:r>
              <a:rPr lang="ko-KR" altLang="en-US" dirty="0"/>
              <a:t> 인데 롯데리아로 </a:t>
            </a:r>
            <a:r>
              <a:rPr lang="ko-KR" altLang="en-US" dirty="0" err="1"/>
              <a:t>맞춘것</a:t>
            </a:r>
            <a:r>
              <a:rPr lang="ko-KR" altLang="en-US" dirty="0"/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EEED10-FCD4-C606-64B1-39346B589E90}"/>
              </a:ext>
            </a:extLst>
          </p:cNvPr>
          <p:cNvSpPr/>
          <p:nvPr/>
        </p:nvSpPr>
        <p:spPr>
          <a:xfrm>
            <a:off x="11129692" y="1529148"/>
            <a:ext cx="2444681" cy="45013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모든 오답에서 </a:t>
            </a:r>
            <a:r>
              <a:rPr lang="ko-KR" altLang="en-US" b="1" dirty="0"/>
              <a:t>패티</a:t>
            </a:r>
            <a:r>
              <a:rPr lang="en-US" altLang="ko-KR" b="1" dirty="0"/>
              <a:t>, </a:t>
            </a:r>
            <a:r>
              <a:rPr lang="ko-KR" altLang="en-US" b="1" dirty="0"/>
              <a:t>채소</a:t>
            </a:r>
            <a:r>
              <a:rPr lang="en-US" altLang="ko-KR" b="1" dirty="0"/>
              <a:t>, </a:t>
            </a:r>
            <a:r>
              <a:rPr lang="ko-KR" altLang="en-US" b="1" dirty="0"/>
              <a:t>포장지</a:t>
            </a:r>
            <a:r>
              <a:rPr lang="ko-KR" altLang="en-US" dirty="0"/>
              <a:t> 등의 시각적 유사성 존재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b="1" dirty="0"/>
              <a:t>Top1, Top2 </a:t>
            </a:r>
            <a:r>
              <a:rPr lang="ko-KR" altLang="en-US" b="1" dirty="0"/>
              <a:t>예측을 함께 표기</a:t>
            </a:r>
            <a:r>
              <a:rPr lang="ko-KR" altLang="en-US" dirty="0"/>
              <a:t>하여 모델의 두 번째 확신도 볼 수 있음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실제로 사람도 구분하기 어려운 이미지들이 많으며</a:t>
            </a:r>
            <a:r>
              <a:rPr lang="en-US" altLang="ko-KR" dirty="0"/>
              <a:t>, </a:t>
            </a:r>
            <a:r>
              <a:rPr lang="ko-KR" altLang="en-US" dirty="0"/>
              <a:t>모델 역시 </a:t>
            </a:r>
            <a:r>
              <a:rPr lang="en-US" altLang="ko-KR" dirty="0"/>
              <a:t>Top-2 </a:t>
            </a:r>
            <a:r>
              <a:rPr lang="ko-KR" altLang="en-US" dirty="0"/>
              <a:t>안에 정답을 포함하는 경우가 다수였습니다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7040813-314B-B03C-5A88-40EC540A5166}"/>
              </a:ext>
            </a:extLst>
          </p:cNvPr>
          <p:cNvSpPr/>
          <p:nvPr/>
        </p:nvSpPr>
        <p:spPr>
          <a:xfrm>
            <a:off x="887711" y="1162082"/>
            <a:ext cx="2030009" cy="2787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48B3B7-82A8-2C4A-BDFD-E7E72390D7FE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559098" y="1355318"/>
            <a:chExt cx="2030009" cy="27874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ABB98EC-0B6E-9EF1-5519-28E05A1ED20A}"/>
                </a:ext>
              </a:extLst>
            </p:cNvPr>
            <p:cNvSpPr/>
            <p:nvPr/>
          </p:nvSpPr>
          <p:spPr>
            <a:xfrm>
              <a:off x="1531818" y="1355318"/>
              <a:ext cx="1057289" cy="278746"/>
            </a:xfrm>
            <a:prstGeom prst="roundRect">
              <a:avLst>
                <a:gd name="adj" fmla="val 50000"/>
              </a:avLst>
            </a:prstGeom>
            <a:solidFill>
              <a:srgbClr val="3151F3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1DDCDA8-B734-742D-7DB1-DDB8561DB230}"/>
                </a:ext>
              </a:extLst>
            </p:cNvPr>
            <p:cNvSpPr/>
            <p:nvPr/>
          </p:nvSpPr>
          <p:spPr>
            <a:xfrm>
              <a:off x="2362594" y="1409097"/>
              <a:ext cx="171188" cy="171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864CC09-45CD-3A07-300D-61C92B4035C2}"/>
                </a:ext>
              </a:extLst>
            </p:cNvPr>
            <p:cNvSpPr/>
            <p:nvPr/>
          </p:nvSpPr>
          <p:spPr>
            <a:xfrm>
              <a:off x="559098" y="1355318"/>
              <a:ext cx="1057289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endParaRPr lang="ko-KR" altLang="en-US" spc="-8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74267F-2149-AE5F-857F-C9D49F786F43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1E0C2B7-A6FA-5664-C2FC-7C947CB1D88B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AEAAAF1-ABD6-A08F-5E83-8A2BB9C89796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5358043-E31C-6467-0A9D-889362754368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7731335-A42A-69D5-1594-1C58530BE7F4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F33372-5829-E604-F5A7-89B9CA171FCD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2B5D2FC-07EF-D774-287C-817FA5C756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C8AE10-5FD7-4787-5F76-E07CCAF3ED1F}"/>
              </a:ext>
            </a:extLst>
          </p:cNvPr>
          <p:cNvSpPr/>
          <p:nvPr/>
        </p:nvSpPr>
        <p:spPr>
          <a:xfrm>
            <a:off x="1972283" y="1162082"/>
            <a:ext cx="833583" cy="2739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모델</a:t>
            </a:r>
            <a:r>
              <a:rPr lang="en-US" altLang="ko-KR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endParaRPr lang="ko-KR" altLang="en-US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C95FF1-D787-4FD6-AF40-E3CA9153149C}"/>
              </a:ext>
            </a:extLst>
          </p:cNvPr>
          <p:cNvSpPr/>
          <p:nvPr/>
        </p:nvSpPr>
        <p:spPr>
          <a:xfrm>
            <a:off x="7132400" y="-1554734"/>
            <a:ext cx="2581275" cy="1222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0726_per_class_accuracy.png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129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7FB2-6E95-8787-4EF8-FB48ED53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자유형: 도형 98">
            <a:extLst>
              <a:ext uri="{FF2B5EF4-FFF2-40B4-BE49-F238E27FC236}">
                <a16:creationId xmlns:a16="http://schemas.microsoft.com/office/drawing/2014/main" id="{9C0C99F9-6EB1-B8FD-A9A5-CC6F47ED4AD7}"/>
              </a:ext>
            </a:extLst>
          </p:cNvPr>
          <p:cNvSpPr/>
          <p:nvPr/>
        </p:nvSpPr>
        <p:spPr>
          <a:xfrm>
            <a:off x="4453485" y="3028388"/>
            <a:ext cx="1458082" cy="107156"/>
          </a:xfrm>
          <a:custGeom>
            <a:avLst/>
            <a:gdLst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05141"/>
              <a:gd name="connsiteY0" fmla="*/ 107156 h 107156"/>
              <a:gd name="connsiteX1" fmla="*/ 1316831 w 1405141"/>
              <a:gd name="connsiteY1" fmla="*/ 102393 h 107156"/>
              <a:gd name="connsiteX2" fmla="*/ 1288256 w 1405141"/>
              <a:gd name="connsiteY2" fmla="*/ 0 h 107156"/>
              <a:gd name="connsiteX0" fmla="*/ 0 w 1439029"/>
              <a:gd name="connsiteY0" fmla="*/ 107156 h 107156"/>
              <a:gd name="connsiteX1" fmla="*/ 1316831 w 1439029"/>
              <a:gd name="connsiteY1" fmla="*/ 102393 h 107156"/>
              <a:gd name="connsiteX2" fmla="*/ 1288256 w 1439029"/>
              <a:gd name="connsiteY2" fmla="*/ 0 h 107156"/>
              <a:gd name="connsiteX0" fmla="*/ 0 w 1440457"/>
              <a:gd name="connsiteY0" fmla="*/ 107156 h 107156"/>
              <a:gd name="connsiteX1" fmla="*/ 1316831 w 1440457"/>
              <a:gd name="connsiteY1" fmla="*/ 102393 h 107156"/>
              <a:gd name="connsiteX2" fmla="*/ 1288256 w 1440457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8604"/>
              <a:gd name="connsiteY0" fmla="*/ 107156 h 107156"/>
              <a:gd name="connsiteX1" fmla="*/ 1316831 w 1448604"/>
              <a:gd name="connsiteY1" fmla="*/ 102393 h 107156"/>
              <a:gd name="connsiteX2" fmla="*/ 1288256 w 1448604"/>
              <a:gd name="connsiteY2" fmla="*/ 0 h 107156"/>
              <a:gd name="connsiteX0" fmla="*/ 0 w 1458082"/>
              <a:gd name="connsiteY0" fmla="*/ 107156 h 107156"/>
              <a:gd name="connsiteX1" fmla="*/ 1316831 w 1458082"/>
              <a:gd name="connsiteY1" fmla="*/ 102393 h 107156"/>
              <a:gd name="connsiteX2" fmla="*/ 1288256 w 1458082"/>
              <a:gd name="connsiteY2" fmla="*/ 0 h 10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082" h="107156">
                <a:moveTo>
                  <a:pt x="0" y="107156"/>
                </a:moveTo>
                <a:lnTo>
                  <a:pt x="1316831" y="102393"/>
                </a:lnTo>
                <a:cubicBezTo>
                  <a:pt x="1550590" y="103584"/>
                  <a:pt x="1460896" y="98028"/>
                  <a:pt x="1288256" y="0"/>
                </a:cubicBezTo>
              </a:path>
            </a:pathLst>
          </a:custGeom>
          <a:ln w="2857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자유형: 도형 105">
            <a:extLst>
              <a:ext uri="{FF2B5EF4-FFF2-40B4-BE49-F238E27FC236}">
                <a16:creationId xmlns:a16="http://schemas.microsoft.com/office/drawing/2014/main" id="{046AD972-5BD5-1FB1-9CD6-3600FBDAD458}"/>
              </a:ext>
            </a:extLst>
          </p:cNvPr>
          <p:cNvSpPr/>
          <p:nvPr/>
        </p:nvSpPr>
        <p:spPr>
          <a:xfrm>
            <a:off x="4453485" y="4088757"/>
            <a:ext cx="1458082" cy="107156"/>
          </a:xfrm>
          <a:custGeom>
            <a:avLst/>
            <a:gdLst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05141"/>
              <a:gd name="connsiteY0" fmla="*/ 107156 h 107156"/>
              <a:gd name="connsiteX1" fmla="*/ 1316831 w 1405141"/>
              <a:gd name="connsiteY1" fmla="*/ 102393 h 107156"/>
              <a:gd name="connsiteX2" fmla="*/ 1288256 w 1405141"/>
              <a:gd name="connsiteY2" fmla="*/ 0 h 107156"/>
              <a:gd name="connsiteX0" fmla="*/ 0 w 1439029"/>
              <a:gd name="connsiteY0" fmla="*/ 107156 h 107156"/>
              <a:gd name="connsiteX1" fmla="*/ 1316831 w 1439029"/>
              <a:gd name="connsiteY1" fmla="*/ 102393 h 107156"/>
              <a:gd name="connsiteX2" fmla="*/ 1288256 w 1439029"/>
              <a:gd name="connsiteY2" fmla="*/ 0 h 107156"/>
              <a:gd name="connsiteX0" fmla="*/ 0 w 1440457"/>
              <a:gd name="connsiteY0" fmla="*/ 107156 h 107156"/>
              <a:gd name="connsiteX1" fmla="*/ 1316831 w 1440457"/>
              <a:gd name="connsiteY1" fmla="*/ 102393 h 107156"/>
              <a:gd name="connsiteX2" fmla="*/ 1288256 w 1440457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8604"/>
              <a:gd name="connsiteY0" fmla="*/ 107156 h 107156"/>
              <a:gd name="connsiteX1" fmla="*/ 1316831 w 1448604"/>
              <a:gd name="connsiteY1" fmla="*/ 102393 h 107156"/>
              <a:gd name="connsiteX2" fmla="*/ 1288256 w 1448604"/>
              <a:gd name="connsiteY2" fmla="*/ 0 h 107156"/>
              <a:gd name="connsiteX0" fmla="*/ 0 w 1458082"/>
              <a:gd name="connsiteY0" fmla="*/ 107156 h 107156"/>
              <a:gd name="connsiteX1" fmla="*/ 1316831 w 1458082"/>
              <a:gd name="connsiteY1" fmla="*/ 102393 h 107156"/>
              <a:gd name="connsiteX2" fmla="*/ 1288256 w 1458082"/>
              <a:gd name="connsiteY2" fmla="*/ 0 h 10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082" h="107156">
                <a:moveTo>
                  <a:pt x="0" y="107156"/>
                </a:moveTo>
                <a:lnTo>
                  <a:pt x="1316831" y="102393"/>
                </a:lnTo>
                <a:cubicBezTo>
                  <a:pt x="1550590" y="103584"/>
                  <a:pt x="1460896" y="98028"/>
                  <a:pt x="1288256" y="0"/>
                </a:cubicBezTo>
              </a:path>
            </a:pathLst>
          </a:custGeom>
          <a:ln w="2857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자유형: 도형 109">
            <a:extLst>
              <a:ext uri="{FF2B5EF4-FFF2-40B4-BE49-F238E27FC236}">
                <a16:creationId xmlns:a16="http://schemas.microsoft.com/office/drawing/2014/main" id="{4BC2AEC1-7E37-44DD-93F0-59519C7D5A46}"/>
              </a:ext>
            </a:extLst>
          </p:cNvPr>
          <p:cNvSpPr/>
          <p:nvPr/>
        </p:nvSpPr>
        <p:spPr>
          <a:xfrm>
            <a:off x="4453485" y="5132851"/>
            <a:ext cx="1458082" cy="107156"/>
          </a:xfrm>
          <a:custGeom>
            <a:avLst/>
            <a:gdLst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05141"/>
              <a:gd name="connsiteY0" fmla="*/ 107156 h 107156"/>
              <a:gd name="connsiteX1" fmla="*/ 1316831 w 1405141"/>
              <a:gd name="connsiteY1" fmla="*/ 102393 h 107156"/>
              <a:gd name="connsiteX2" fmla="*/ 1288256 w 1405141"/>
              <a:gd name="connsiteY2" fmla="*/ 0 h 107156"/>
              <a:gd name="connsiteX0" fmla="*/ 0 w 1439029"/>
              <a:gd name="connsiteY0" fmla="*/ 107156 h 107156"/>
              <a:gd name="connsiteX1" fmla="*/ 1316831 w 1439029"/>
              <a:gd name="connsiteY1" fmla="*/ 102393 h 107156"/>
              <a:gd name="connsiteX2" fmla="*/ 1288256 w 1439029"/>
              <a:gd name="connsiteY2" fmla="*/ 0 h 107156"/>
              <a:gd name="connsiteX0" fmla="*/ 0 w 1440457"/>
              <a:gd name="connsiteY0" fmla="*/ 107156 h 107156"/>
              <a:gd name="connsiteX1" fmla="*/ 1316831 w 1440457"/>
              <a:gd name="connsiteY1" fmla="*/ 102393 h 107156"/>
              <a:gd name="connsiteX2" fmla="*/ 1288256 w 1440457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8604"/>
              <a:gd name="connsiteY0" fmla="*/ 107156 h 107156"/>
              <a:gd name="connsiteX1" fmla="*/ 1316831 w 1448604"/>
              <a:gd name="connsiteY1" fmla="*/ 102393 h 107156"/>
              <a:gd name="connsiteX2" fmla="*/ 1288256 w 1448604"/>
              <a:gd name="connsiteY2" fmla="*/ 0 h 107156"/>
              <a:gd name="connsiteX0" fmla="*/ 0 w 1458082"/>
              <a:gd name="connsiteY0" fmla="*/ 107156 h 107156"/>
              <a:gd name="connsiteX1" fmla="*/ 1316831 w 1458082"/>
              <a:gd name="connsiteY1" fmla="*/ 102393 h 107156"/>
              <a:gd name="connsiteX2" fmla="*/ 1288256 w 1458082"/>
              <a:gd name="connsiteY2" fmla="*/ 0 h 10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082" h="107156">
                <a:moveTo>
                  <a:pt x="0" y="107156"/>
                </a:moveTo>
                <a:lnTo>
                  <a:pt x="1316831" y="102393"/>
                </a:lnTo>
                <a:cubicBezTo>
                  <a:pt x="1550590" y="103584"/>
                  <a:pt x="1460896" y="98028"/>
                  <a:pt x="1288256" y="0"/>
                </a:cubicBezTo>
              </a:path>
            </a:pathLst>
          </a:custGeom>
          <a:ln w="2857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자유형: 도형 113">
            <a:extLst>
              <a:ext uri="{FF2B5EF4-FFF2-40B4-BE49-F238E27FC236}">
                <a16:creationId xmlns:a16="http://schemas.microsoft.com/office/drawing/2014/main" id="{0D60DE8C-A640-F964-E41F-B568830B71CA}"/>
              </a:ext>
            </a:extLst>
          </p:cNvPr>
          <p:cNvSpPr/>
          <p:nvPr/>
        </p:nvSpPr>
        <p:spPr>
          <a:xfrm>
            <a:off x="4453485" y="6117879"/>
            <a:ext cx="1458082" cy="107156"/>
          </a:xfrm>
          <a:custGeom>
            <a:avLst/>
            <a:gdLst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18161"/>
              <a:gd name="connsiteY0" fmla="*/ 114300 h 114300"/>
              <a:gd name="connsiteX1" fmla="*/ 1316831 w 1418161"/>
              <a:gd name="connsiteY1" fmla="*/ 109537 h 114300"/>
              <a:gd name="connsiteX2" fmla="*/ 1328737 w 1418161"/>
              <a:gd name="connsiteY2" fmla="*/ 0 h 114300"/>
              <a:gd name="connsiteX0" fmla="*/ 0 w 1405141"/>
              <a:gd name="connsiteY0" fmla="*/ 107156 h 107156"/>
              <a:gd name="connsiteX1" fmla="*/ 1316831 w 1405141"/>
              <a:gd name="connsiteY1" fmla="*/ 102393 h 107156"/>
              <a:gd name="connsiteX2" fmla="*/ 1288256 w 1405141"/>
              <a:gd name="connsiteY2" fmla="*/ 0 h 107156"/>
              <a:gd name="connsiteX0" fmla="*/ 0 w 1439029"/>
              <a:gd name="connsiteY0" fmla="*/ 107156 h 107156"/>
              <a:gd name="connsiteX1" fmla="*/ 1316831 w 1439029"/>
              <a:gd name="connsiteY1" fmla="*/ 102393 h 107156"/>
              <a:gd name="connsiteX2" fmla="*/ 1288256 w 1439029"/>
              <a:gd name="connsiteY2" fmla="*/ 0 h 107156"/>
              <a:gd name="connsiteX0" fmla="*/ 0 w 1440457"/>
              <a:gd name="connsiteY0" fmla="*/ 107156 h 107156"/>
              <a:gd name="connsiteX1" fmla="*/ 1316831 w 1440457"/>
              <a:gd name="connsiteY1" fmla="*/ 102393 h 107156"/>
              <a:gd name="connsiteX2" fmla="*/ 1288256 w 1440457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7584"/>
              <a:gd name="connsiteY0" fmla="*/ 107156 h 107156"/>
              <a:gd name="connsiteX1" fmla="*/ 1316831 w 1447584"/>
              <a:gd name="connsiteY1" fmla="*/ 102393 h 107156"/>
              <a:gd name="connsiteX2" fmla="*/ 1288256 w 1447584"/>
              <a:gd name="connsiteY2" fmla="*/ 0 h 107156"/>
              <a:gd name="connsiteX0" fmla="*/ 0 w 1448604"/>
              <a:gd name="connsiteY0" fmla="*/ 107156 h 107156"/>
              <a:gd name="connsiteX1" fmla="*/ 1316831 w 1448604"/>
              <a:gd name="connsiteY1" fmla="*/ 102393 h 107156"/>
              <a:gd name="connsiteX2" fmla="*/ 1288256 w 1448604"/>
              <a:gd name="connsiteY2" fmla="*/ 0 h 107156"/>
              <a:gd name="connsiteX0" fmla="*/ 0 w 1458082"/>
              <a:gd name="connsiteY0" fmla="*/ 107156 h 107156"/>
              <a:gd name="connsiteX1" fmla="*/ 1316831 w 1458082"/>
              <a:gd name="connsiteY1" fmla="*/ 102393 h 107156"/>
              <a:gd name="connsiteX2" fmla="*/ 1288256 w 1458082"/>
              <a:gd name="connsiteY2" fmla="*/ 0 h 10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8082" h="107156">
                <a:moveTo>
                  <a:pt x="0" y="107156"/>
                </a:moveTo>
                <a:lnTo>
                  <a:pt x="1316831" y="102393"/>
                </a:lnTo>
                <a:cubicBezTo>
                  <a:pt x="1550590" y="103584"/>
                  <a:pt x="1460896" y="98028"/>
                  <a:pt x="1288256" y="0"/>
                </a:cubicBezTo>
              </a:path>
            </a:pathLst>
          </a:custGeom>
          <a:ln w="2857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D1B7D11-CD41-265F-5C23-569C9ABC614A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Ⅱ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프로젝트 세부 내용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D2A3C20-32E7-F188-41C4-6D6BBF2EF08B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15D2208-504C-A82D-9D61-37C57608DCEF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7A110E-8EC4-B596-7E13-43A5B88EC4FE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 모델 분석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97AA70FE-6161-BFBB-AF56-19DDC3FE83A1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95688-4D3F-30AB-7D86-4881011BDEF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923C125-8D04-1754-D64A-1C937F6647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A01E7D71-2F54-BE5F-F10C-318CB573B417}"/>
              </a:ext>
            </a:extLst>
          </p:cNvPr>
          <p:cNvGrpSpPr/>
          <p:nvPr/>
        </p:nvGrpSpPr>
        <p:grpSpPr>
          <a:xfrm>
            <a:off x="887711" y="1162082"/>
            <a:ext cx="2030009" cy="278746"/>
            <a:chOff x="887711" y="1162082"/>
            <a:chExt cx="2030009" cy="278746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46062C8F-01BF-B57E-3B91-9D89867574FF}"/>
                </a:ext>
              </a:extLst>
            </p:cNvPr>
            <p:cNvSpPr/>
            <p:nvPr/>
          </p:nvSpPr>
          <p:spPr>
            <a:xfrm>
              <a:off x="887711" y="1162082"/>
              <a:ext cx="2030009" cy="27874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solidFill>
                <a:srgbClr val="9A8B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E8A294A-2D9A-0B12-44A0-24A25947B56A}"/>
                </a:ext>
              </a:extLst>
            </p:cNvPr>
            <p:cNvGrpSpPr/>
            <p:nvPr/>
          </p:nvGrpSpPr>
          <p:grpSpPr>
            <a:xfrm>
              <a:off x="887711" y="1162082"/>
              <a:ext cx="2030009" cy="278746"/>
              <a:chOff x="559098" y="1355318"/>
              <a:chExt cx="2030009" cy="278746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D5C5B946-B5C7-855F-76B6-90B76A5875E7}"/>
                  </a:ext>
                </a:extLst>
              </p:cNvPr>
              <p:cNvSpPr/>
              <p:nvPr/>
            </p:nvSpPr>
            <p:spPr>
              <a:xfrm>
                <a:off x="1531818" y="1355318"/>
                <a:ext cx="1057289" cy="278746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9BCB6C59-FAD5-1F21-89A5-C33B38302F1B}"/>
                  </a:ext>
                </a:extLst>
              </p:cNvPr>
              <p:cNvSpPr/>
              <p:nvPr/>
            </p:nvSpPr>
            <p:spPr>
              <a:xfrm>
                <a:off x="2362594" y="1409097"/>
                <a:ext cx="171188" cy="1711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1DD25235-C847-9F7D-822C-8F70CC305F20}"/>
                  </a:ext>
                </a:extLst>
              </p:cNvPr>
              <p:cNvSpPr/>
              <p:nvPr/>
            </p:nvSpPr>
            <p:spPr>
              <a:xfrm>
                <a:off x="559098" y="1355318"/>
                <a:ext cx="1057289" cy="2739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모델</a:t>
                </a:r>
                <a:r>
                  <a:rPr lang="en-US" altLang="ko-KR" spc="-8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1 </a:t>
                </a:r>
                <a:endParaRPr lang="ko-KR" altLang="en-US" spc="-80">
                  <a:solidFill>
                    <a:schemeClr val="tx1"/>
                  </a:solidFill>
                  <a:latin typeface="페이퍼로지 4 Regular" pitchFamily="2" charset="-127"/>
                  <a:ea typeface="페이퍼로지 4 Regular" pitchFamily="2" charset="-127"/>
                </a:endParaRPr>
              </a:p>
            </p:txBody>
          </p:sp>
        </p:grp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E1689D8-9115-1156-452E-536C501E4024}"/>
                </a:ext>
              </a:extLst>
            </p:cNvPr>
            <p:cNvSpPr/>
            <p:nvPr/>
          </p:nvSpPr>
          <p:spPr>
            <a:xfrm>
              <a:off x="1972283" y="1162082"/>
              <a:ext cx="833583" cy="2739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pc="-8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2</a:t>
              </a:r>
              <a:endPara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E9C5E2-BBB7-5894-8F88-E11C01C85E75}"/>
              </a:ext>
            </a:extLst>
          </p:cNvPr>
          <p:cNvSpPr/>
          <p:nvPr/>
        </p:nvSpPr>
        <p:spPr>
          <a:xfrm>
            <a:off x="943826" y="1617480"/>
            <a:ext cx="9913257" cy="358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공통 문제점 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-&gt;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해결과정 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/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추가 보완사항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]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DD5AA3-0C31-A7F2-5A97-8BE1D7FD5ACB}"/>
              </a:ext>
            </a:extLst>
          </p:cNvPr>
          <p:cNvSpPr/>
          <p:nvPr/>
        </p:nvSpPr>
        <p:spPr>
          <a:xfrm>
            <a:off x="805762" y="2742725"/>
            <a:ext cx="3562350" cy="6784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C609A98-F011-E383-8ED3-560CA655FB19}"/>
              </a:ext>
            </a:extLst>
          </p:cNvPr>
          <p:cNvSpPr/>
          <p:nvPr/>
        </p:nvSpPr>
        <p:spPr>
          <a:xfrm>
            <a:off x="1129275" y="2867928"/>
            <a:ext cx="1788446" cy="428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 dirty="0">
                <a:solidFill>
                  <a:srgbClr val="9A8B80"/>
                </a:solidFill>
                <a:latin typeface="페이퍼로지 4 Regular" pitchFamily="2" charset="-127"/>
                <a:ea typeface="페이퍼로지 4 Regular" pitchFamily="2" charset="-127"/>
              </a:rPr>
              <a:t>데이터 클래스 불균형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7C09A9B-1240-6595-BB0E-8B03540CE4F2}"/>
              </a:ext>
            </a:extLst>
          </p:cNvPr>
          <p:cNvSpPr/>
          <p:nvPr/>
        </p:nvSpPr>
        <p:spPr>
          <a:xfrm>
            <a:off x="6904299" y="3157538"/>
            <a:ext cx="2674807" cy="338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트렌드 유추 가능 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FD545B4E-D3A5-81AB-14CA-11C09BE638C2}"/>
              </a:ext>
            </a:extLst>
          </p:cNvPr>
          <p:cNvSpPr/>
          <p:nvPr/>
        </p:nvSpPr>
        <p:spPr>
          <a:xfrm>
            <a:off x="805762" y="3803094"/>
            <a:ext cx="3562350" cy="6784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E3D7F13-98E8-4112-EEA6-ACF7150FE16C}"/>
              </a:ext>
            </a:extLst>
          </p:cNvPr>
          <p:cNvSpPr/>
          <p:nvPr/>
        </p:nvSpPr>
        <p:spPr>
          <a:xfrm>
            <a:off x="1129275" y="3927301"/>
            <a:ext cx="1788446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rgbClr val="9A8B80"/>
                </a:solidFill>
                <a:latin typeface="페이퍼로지 4 Regular" pitchFamily="2" charset="-127"/>
                <a:ea typeface="페이퍼로지 4 Regular" pitchFamily="2" charset="-127"/>
              </a:rPr>
              <a:t>모델 과적합 문제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0E08481-5A0A-0B91-5679-723E31E70290}"/>
              </a:ext>
            </a:extLst>
          </p:cNvPr>
          <p:cNvSpPr/>
          <p:nvPr/>
        </p:nvSpPr>
        <p:spPr>
          <a:xfrm>
            <a:off x="805762" y="4847188"/>
            <a:ext cx="3562350" cy="6784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5115416-030B-A9A2-DB51-18BAD1D45F5F}"/>
              </a:ext>
            </a:extLst>
          </p:cNvPr>
          <p:cNvSpPr/>
          <p:nvPr/>
        </p:nvSpPr>
        <p:spPr>
          <a:xfrm>
            <a:off x="1129275" y="4971395"/>
            <a:ext cx="1788446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>
                <a:solidFill>
                  <a:srgbClr val="9A8B80"/>
                </a:solidFill>
                <a:latin typeface="페이퍼로지 4 Regular" pitchFamily="2" charset="-127"/>
                <a:ea typeface="페이퍼로지 4 Regular" pitchFamily="2" charset="-127"/>
              </a:rPr>
              <a:t>학습률 설정 및 불안정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481303E-67F9-2365-481B-BF0A180C4EC6}"/>
              </a:ext>
            </a:extLst>
          </p:cNvPr>
          <p:cNvSpPr/>
          <p:nvPr/>
        </p:nvSpPr>
        <p:spPr>
          <a:xfrm>
            <a:off x="805762" y="5832216"/>
            <a:ext cx="3562350" cy="6784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9A8B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2F87E08-7367-9E4F-0662-F49D0AD648E8}"/>
              </a:ext>
            </a:extLst>
          </p:cNvPr>
          <p:cNvSpPr/>
          <p:nvPr/>
        </p:nvSpPr>
        <p:spPr>
          <a:xfrm>
            <a:off x="1129275" y="5956423"/>
            <a:ext cx="1788446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80" dirty="0">
                <a:solidFill>
                  <a:srgbClr val="9A8B80"/>
                </a:solidFill>
                <a:latin typeface="페이퍼로지 4 Regular" pitchFamily="2" charset="-127"/>
                <a:ea typeface="페이퍼로지 4 Regular" pitchFamily="2" charset="-127"/>
              </a:rPr>
              <a:t>과도한 파라미터 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1E39644-6483-2620-2FFC-D30C979B8BA7}"/>
              </a:ext>
            </a:extLst>
          </p:cNvPr>
          <p:cNvSpPr/>
          <p:nvPr/>
        </p:nvSpPr>
        <p:spPr>
          <a:xfrm>
            <a:off x="3007377" y="2742725"/>
            <a:ext cx="1811447" cy="67848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solidFill>
              <a:srgbClr val="F78535"/>
            </a:solidFill>
          </a:ln>
          <a:effectLst>
            <a:glow rad="127000">
              <a:srgbClr val="F78535">
                <a:alpha val="18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1015DECC-67B6-94C3-0B61-1B2DEFB72240}"/>
              </a:ext>
            </a:extLst>
          </p:cNvPr>
          <p:cNvSpPr/>
          <p:nvPr/>
        </p:nvSpPr>
        <p:spPr>
          <a:xfrm>
            <a:off x="3007377" y="3803094"/>
            <a:ext cx="1811447" cy="67848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solidFill>
              <a:srgbClr val="F78535"/>
            </a:solidFill>
          </a:ln>
          <a:effectLst>
            <a:glow rad="127000">
              <a:srgbClr val="F78535">
                <a:alpha val="18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68EB28C6-8404-3F49-9756-D1E37785FF00}"/>
              </a:ext>
            </a:extLst>
          </p:cNvPr>
          <p:cNvSpPr/>
          <p:nvPr/>
        </p:nvSpPr>
        <p:spPr>
          <a:xfrm>
            <a:off x="3007377" y="4847188"/>
            <a:ext cx="1811447" cy="67848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F78535"/>
            </a:solidFill>
          </a:ln>
          <a:effectLst>
            <a:glow rad="127000">
              <a:srgbClr val="F78535">
                <a:alpha val="18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A169F30-3B36-9851-5767-F779AD364F19}"/>
              </a:ext>
            </a:extLst>
          </p:cNvPr>
          <p:cNvSpPr/>
          <p:nvPr/>
        </p:nvSpPr>
        <p:spPr>
          <a:xfrm>
            <a:off x="3007377" y="5832216"/>
            <a:ext cx="1811447" cy="67848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F78535"/>
            </a:solidFill>
          </a:ln>
          <a:effectLst>
            <a:glow rad="127000">
              <a:srgbClr val="F78535">
                <a:alpha val="18000"/>
              </a:srgb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0306739-6825-40AA-9F61-BB9125DB1455}"/>
              </a:ext>
            </a:extLst>
          </p:cNvPr>
          <p:cNvSpPr/>
          <p:nvPr/>
        </p:nvSpPr>
        <p:spPr>
          <a:xfrm>
            <a:off x="3035040" y="2888879"/>
            <a:ext cx="1756120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브랜드 이미지 수 적고 </a:t>
            </a:r>
            <a:endParaRPr lang="en-US" altLang="ko-KR" sz="1200" spc="-8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sz="12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유사한 이미지 수집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DECF975F-A78F-A388-F131-0B23E590F963}"/>
              </a:ext>
            </a:extLst>
          </p:cNvPr>
          <p:cNvSpPr/>
          <p:nvPr/>
        </p:nvSpPr>
        <p:spPr>
          <a:xfrm>
            <a:off x="3035040" y="3949247"/>
            <a:ext cx="1756120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Train</a:t>
            </a:r>
            <a:r>
              <a:rPr lang="ko-KR" altLang="en-US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은 매우 높고 </a:t>
            </a:r>
            <a:endParaRPr lang="en-US" altLang="ko-KR" sz="1200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en-US" altLang="ko-KR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Val acc </a:t>
            </a:r>
            <a:r>
              <a:rPr lang="ko-KR" altLang="en-US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덜 올라가는 현상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C280DA4-17DC-83B5-BF71-639780E11790}"/>
              </a:ext>
            </a:extLst>
          </p:cNvPr>
          <p:cNvSpPr/>
          <p:nvPr/>
        </p:nvSpPr>
        <p:spPr>
          <a:xfrm>
            <a:off x="3035040" y="4989958"/>
            <a:ext cx="1756120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초기 학습률이 높아</a:t>
            </a:r>
            <a:endParaRPr lang="en-US" altLang="ko-KR" sz="1200" spc="-8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 algn="ctr"/>
            <a:r>
              <a:rPr lang="ko-KR" altLang="en-US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Val acc </a:t>
            </a:r>
            <a:r>
              <a:rPr lang="ko-KR" altLang="en-US" sz="12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수치 진동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7C8AD47-B5D5-41F2-3A26-AB731184DC89}"/>
              </a:ext>
            </a:extLst>
          </p:cNvPr>
          <p:cNvSpPr/>
          <p:nvPr/>
        </p:nvSpPr>
        <p:spPr>
          <a:xfrm>
            <a:off x="3035040" y="5978369"/>
            <a:ext cx="1756120" cy="3861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학습시간이 길다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3ECD68B5-14AD-1604-5FDF-B4543B5017D6}"/>
              </a:ext>
            </a:extLst>
          </p:cNvPr>
          <p:cNvSpPr/>
          <p:nvPr/>
        </p:nvSpPr>
        <p:spPr>
          <a:xfrm>
            <a:off x="6105419" y="2742725"/>
            <a:ext cx="3997607" cy="67848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14091E6-2302-FF85-F884-5BEDCDBF738B}"/>
              </a:ext>
            </a:extLst>
          </p:cNvPr>
          <p:cNvSpPr/>
          <p:nvPr/>
        </p:nvSpPr>
        <p:spPr>
          <a:xfrm>
            <a:off x="6239118" y="2867928"/>
            <a:ext cx="3765941" cy="428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6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데이터 증강 </a:t>
            </a:r>
            <a:r>
              <a:rPr lang="en-US" altLang="ko-KR" sz="16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훈련용만 적용</a:t>
            </a:r>
            <a:r>
              <a:rPr lang="en-US" altLang="ko-KR" sz="16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600" spc="-8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하여 보강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87216D8E-C0A8-072D-264C-40BDF3C9E1E0}"/>
              </a:ext>
            </a:extLst>
          </p:cNvPr>
          <p:cNvSpPr/>
          <p:nvPr/>
        </p:nvSpPr>
        <p:spPr>
          <a:xfrm>
            <a:off x="6105419" y="3786819"/>
            <a:ext cx="3997607" cy="678482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6C5A6B5-CDCA-14D0-B7DD-CE281AD4BD19}"/>
              </a:ext>
            </a:extLst>
          </p:cNvPr>
          <p:cNvSpPr/>
          <p:nvPr/>
        </p:nvSpPr>
        <p:spPr>
          <a:xfrm>
            <a:off x="6239118" y="3912022"/>
            <a:ext cx="3765941" cy="428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Early Stopping /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Dropout - fc</a:t>
            </a:r>
            <a:r>
              <a:rPr lang="ko-KR" altLang="en-US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층 일반화 강화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966BF087-6ECE-1941-628E-FC0244CA19AF}"/>
              </a:ext>
            </a:extLst>
          </p:cNvPr>
          <p:cNvSpPr/>
          <p:nvPr/>
        </p:nvSpPr>
        <p:spPr>
          <a:xfrm>
            <a:off x="6105419" y="4816973"/>
            <a:ext cx="3997607" cy="67848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230BD821-9A56-D00A-6DCF-08BB81113616}"/>
              </a:ext>
            </a:extLst>
          </p:cNvPr>
          <p:cNvSpPr/>
          <p:nvPr/>
        </p:nvSpPr>
        <p:spPr>
          <a:xfrm>
            <a:off x="6141151" y="4816973"/>
            <a:ext cx="3961876" cy="6784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ko-KR" sz="1600" spc="-80" dirty="0" err="1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lr</a:t>
            </a:r>
            <a:r>
              <a:rPr lang="ko-KR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= 0.0005로 고정,</a:t>
            </a: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ko-KR" sz="1600" dirty="0" err="1"/>
              <a:t>ReduceLROnPlateau</a:t>
            </a:r>
            <a:r>
              <a:rPr lang="ko-KR" altLang="en-US" sz="1600" dirty="0" err="1"/>
              <a:t>로</a:t>
            </a:r>
            <a:r>
              <a:rPr lang="ko-KR" altLang="en-US" sz="1600" dirty="0"/>
              <a:t> </a:t>
            </a:r>
            <a:r>
              <a:rPr lang="ko-KR" altLang="ko-KR" sz="1600" dirty="0" err="1"/>
              <a:t>learning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rate</a:t>
            </a:r>
            <a:r>
              <a:rPr lang="ko-KR" altLang="ko-KR" sz="1600" dirty="0"/>
              <a:t> 조정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3D6FD957-A2E5-E2C8-45D8-C5821DE4EE1B}"/>
              </a:ext>
            </a:extLst>
          </p:cNvPr>
          <p:cNvSpPr/>
          <p:nvPr/>
        </p:nvSpPr>
        <p:spPr>
          <a:xfrm>
            <a:off x="6105419" y="5805718"/>
            <a:ext cx="3997607" cy="678482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55EC795-1AE5-7A78-4478-44653EEAE3E7}"/>
              </a:ext>
            </a:extLst>
          </p:cNvPr>
          <p:cNvSpPr/>
          <p:nvPr/>
        </p:nvSpPr>
        <p:spPr>
          <a:xfrm>
            <a:off x="6141151" y="5930921"/>
            <a:ext cx="3961876" cy="428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일부 레이어 </a:t>
            </a: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freeze </a:t>
            </a:r>
            <a:r>
              <a:rPr lang="ko-KR" altLang="en-US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→ </a:t>
            </a: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feature extractor </a:t>
            </a:r>
            <a:r>
              <a:rPr lang="ko-KR" altLang="en-US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사용</a:t>
            </a:r>
            <a:r>
              <a:rPr lang="en-US" altLang="ko-KR" sz="16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endParaRPr lang="ko-KR" altLang="en-US" sz="1600" spc="-8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842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B96B-1060-9866-FD83-B1B6F883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한국 식재료 손맛으로 깊이를 더하다 │ 매거진한경">
            <a:extLst>
              <a:ext uri="{FF2B5EF4-FFF2-40B4-BE49-F238E27FC236}">
                <a16:creationId xmlns:a16="http://schemas.microsoft.com/office/drawing/2014/main" id="{B7E372C6-1244-BA92-19B6-ACEF9051B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30" t="1171" r="7156" b="2940"/>
          <a:stretch>
            <a:fillRect/>
          </a:stretch>
        </p:blipFill>
        <p:spPr bwMode="auto">
          <a:xfrm>
            <a:off x="5974449" y="4"/>
            <a:ext cx="4717369" cy="7559675"/>
          </a:xfrm>
          <a:custGeom>
            <a:avLst/>
            <a:gdLst>
              <a:gd name="connsiteX0" fmla="*/ 0 w 4717369"/>
              <a:gd name="connsiteY0" fmla="*/ 0 h 7559675"/>
              <a:gd name="connsiteX1" fmla="*/ 4717369 w 4717369"/>
              <a:gd name="connsiteY1" fmla="*/ 0 h 7559675"/>
              <a:gd name="connsiteX2" fmla="*/ 4717369 w 4717369"/>
              <a:gd name="connsiteY2" fmla="*/ 7559675 h 7559675"/>
              <a:gd name="connsiteX3" fmla="*/ 0 w 4717369"/>
              <a:gd name="connsiteY3" fmla="*/ 7559675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7369" h="7559675">
                <a:moveTo>
                  <a:pt x="0" y="0"/>
                </a:moveTo>
                <a:lnTo>
                  <a:pt x="4717369" y="0"/>
                </a:lnTo>
                <a:lnTo>
                  <a:pt x="4717369" y="7559675"/>
                </a:lnTo>
                <a:lnTo>
                  <a:pt x="0" y="7559675"/>
                </a:ln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ADDC2E-CA50-B5C7-169C-AF71F19D6B1A}"/>
              </a:ext>
            </a:extLst>
          </p:cNvPr>
          <p:cNvSpPr/>
          <p:nvPr/>
        </p:nvSpPr>
        <p:spPr>
          <a:xfrm>
            <a:off x="5974448" y="4"/>
            <a:ext cx="4717369" cy="7559675"/>
          </a:xfrm>
          <a:prstGeom prst="rect">
            <a:avLst/>
          </a:prstGeom>
          <a:gradFill>
            <a:gsLst>
              <a:gs pos="39402">
                <a:srgbClr val="2A2A2A">
                  <a:alpha val="50000"/>
                </a:srgbClr>
              </a:gs>
              <a:gs pos="0">
                <a:srgbClr val="2A2A2A">
                  <a:alpha val="81000"/>
                </a:srgbClr>
              </a:gs>
              <a:gs pos="99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85" name="자유형: 도형 1084">
            <a:extLst>
              <a:ext uri="{FF2B5EF4-FFF2-40B4-BE49-F238E27FC236}">
                <a16:creationId xmlns:a16="http://schemas.microsoft.com/office/drawing/2014/main" id="{EAD5BE19-DA94-33C1-3FD6-40CD43410E90}"/>
              </a:ext>
            </a:extLst>
          </p:cNvPr>
          <p:cNvSpPr/>
          <p:nvPr/>
        </p:nvSpPr>
        <p:spPr>
          <a:xfrm flipV="1">
            <a:off x="-13605" y="0"/>
            <a:ext cx="6862244" cy="3779838"/>
          </a:xfrm>
          <a:custGeom>
            <a:avLst/>
            <a:gdLst>
              <a:gd name="connsiteX0" fmla="*/ 0 w 6197659"/>
              <a:gd name="connsiteY0" fmla="*/ 3779838 h 3779838"/>
              <a:gd name="connsiteX1" fmla="*/ 6197659 w 6197659"/>
              <a:gd name="connsiteY1" fmla="*/ 3779838 h 3779838"/>
              <a:gd name="connsiteX2" fmla="*/ 6197659 w 6197659"/>
              <a:gd name="connsiteY2" fmla="*/ 991943 h 3779838"/>
              <a:gd name="connsiteX3" fmla="*/ 5233716 w 6197659"/>
              <a:gd name="connsiteY3" fmla="*/ 0 h 3779838"/>
              <a:gd name="connsiteX4" fmla="*/ 0 w 6197659"/>
              <a:gd name="connsiteY4" fmla="*/ 0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59" h="3779838">
                <a:moveTo>
                  <a:pt x="0" y="3779838"/>
                </a:moveTo>
                <a:lnTo>
                  <a:pt x="6197659" y="3779838"/>
                </a:lnTo>
                <a:lnTo>
                  <a:pt x="6197659" y="991943"/>
                </a:lnTo>
                <a:cubicBezTo>
                  <a:pt x="6197659" y="444108"/>
                  <a:pt x="5766087" y="0"/>
                  <a:pt x="52337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668F43DA-423A-FA9E-605A-96E172E7FABD}"/>
              </a:ext>
            </a:extLst>
          </p:cNvPr>
          <p:cNvSpPr/>
          <p:nvPr/>
        </p:nvSpPr>
        <p:spPr>
          <a:xfrm>
            <a:off x="-13607" y="3642614"/>
            <a:ext cx="6862245" cy="3917067"/>
          </a:xfrm>
          <a:custGeom>
            <a:avLst/>
            <a:gdLst>
              <a:gd name="connsiteX0" fmla="*/ 0 w 6197660"/>
              <a:gd name="connsiteY0" fmla="*/ 0 h 3779838"/>
              <a:gd name="connsiteX1" fmla="*/ 5233717 w 6197660"/>
              <a:gd name="connsiteY1" fmla="*/ 0 h 3779838"/>
              <a:gd name="connsiteX2" fmla="*/ 6197660 w 6197660"/>
              <a:gd name="connsiteY2" fmla="*/ 991943 h 3779838"/>
              <a:gd name="connsiteX3" fmla="*/ 6197660 w 6197660"/>
              <a:gd name="connsiteY3" fmla="*/ 3779838 h 3779838"/>
              <a:gd name="connsiteX4" fmla="*/ 0 w 6197660"/>
              <a:gd name="connsiteY4" fmla="*/ 3779838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60" h="3779838">
                <a:moveTo>
                  <a:pt x="0" y="0"/>
                </a:moveTo>
                <a:lnTo>
                  <a:pt x="5233717" y="0"/>
                </a:lnTo>
                <a:cubicBezTo>
                  <a:pt x="5766088" y="0"/>
                  <a:pt x="6197660" y="444108"/>
                  <a:pt x="6197660" y="991943"/>
                </a:cubicBezTo>
                <a:lnTo>
                  <a:pt x="6197660" y="3779838"/>
                </a:lnTo>
                <a:lnTo>
                  <a:pt x="0" y="3779838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0" name="직사각형 1089">
            <a:extLst>
              <a:ext uri="{FF2B5EF4-FFF2-40B4-BE49-F238E27FC236}">
                <a16:creationId xmlns:a16="http://schemas.microsoft.com/office/drawing/2014/main" id="{F29E27B7-4681-84B7-0A8E-759851BBFE92}"/>
              </a:ext>
            </a:extLst>
          </p:cNvPr>
          <p:cNvSpPr/>
          <p:nvPr/>
        </p:nvSpPr>
        <p:spPr>
          <a:xfrm>
            <a:off x="1206955" y="1842556"/>
            <a:ext cx="2404836" cy="1280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>
                <a:latin typeface="페이퍼로지 9 Black" pitchFamily="2" charset="-127"/>
                <a:ea typeface="페이퍼로지 9 Black" pitchFamily="2" charset="-127"/>
              </a:rPr>
              <a:t>Ⅲ</a:t>
            </a:r>
            <a:endParaRPr lang="ko-KR" altLang="en-US" sz="8800">
              <a:latin typeface="페이퍼로지 9 Black" pitchFamily="2" charset="-127"/>
              <a:ea typeface="페이퍼로지 9 Black" pitchFamily="2" charset="-127"/>
            </a:endParaRPr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B9FDB59C-2B65-738C-F945-B819E869BBD9}"/>
              </a:ext>
            </a:extLst>
          </p:cNvPr>
          <p:cNvGrpSpPr/>
          <p:nvPr/>
        </p:nvGrpSpPr>
        <p:grpSpPr>
          <a:xfrm>
            <a:off x="399146" y="980435"/>
            <a:ext cx="4020454" cy="712177"/>
            <a:chOff x="-20863" y="1282164"/>
            <a:chExt cx="4020454" cy="712177"/>
          </a:xfrm>
        </p:grpSpPr>
        <p:sp>
          <p:nvSpPr>
            <p:cNvPr id="1126" name="직사각형 1125">
              <a:extLst>
                <a:ext uri="{FF2B5EF4-FFF2-40B4-BE49-F238E27FC236}">
                  <a16:creationId xmlns:a16="http://schemas.microsoft.com/office/drawing/2014/main" id="{D1603B28-F287-1729-F4AC-0AEE625AFDCD}"/>
                </a:ext>
              </a:extLst>
            </p:cNvPr>
            <p:cNvSpPr/>
            <p:nvPr/>
          </p:nvSpPr>
          <p:spPr>
            <a:xfrm>
              <a:off x="-20863" y="1282164"/>
              <a:ext cx="4020454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기업맞춤형 </a:t>
              </a:r>
              <a:r>
                <a:rPr lang="en-US" altLang="ko-KR" sz="1900">
                  <a:latin typeface="페이퍼로지 6 SemiBold" pitchFamily="2" charset="-127"/>
                  <a:ea typeface="페이퍼로지 6 SemiBold" pitchFamily="2" charset="-127"/>
                </a:rPr>
                <a:t>AI-X </a:t>
              </a:r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융복합 인재 양성 교육</a:t>
              </a:r>
            </a:p>
          </p:txBody>
        </p:sp>
        <p:sp>
          <p:nvSpPr>
            <p:cNvPr id="1127" name="직사각형 1126">
              <a:extLst>
                <a:ext uri="{FF2B5EF4-FFF2-40B4-BE49-F238E27FC236}">
                  <a16:creationId xmlns:a16="http://schemas.microsoft.com/office/drawing/2014/main" id="{C9AE1D91-CA53-D844-9059-DE24316ED748}"/>
                </a:ext>
              </a:extLst>
            </p:cNvPr>
            <p:cNvSpPr/>
            <p:nvPr/>
          </p:nvSpPr>
          <p:spPr>
            <a:xfrm>
              <a:off x="206828" y="1611925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페이퍼로지 4 Regular" pitchFamily="2" charset="-127"/>
                  <a:ea typeface="페이퍼로지 4 Regular" pitchFamily="2" charset="-127"/>
                </a:rPr>
                <a:t>B2B </a:t>
              </a:r>
              <a:r>
                <a:rPr lang="ko-KR" altLang="en-US" sz="1400">
                  <a:latin typeface="페이퍼로지 4 Regular" pitchFamily="2" charset="-127"/>
                  <a:ea typeface="페이퍼로지 4 Regular" pitchFamily="2" charset="-127"/>
                </a:rPr>
                <a:t>고객 제품 수요량 예측 기반 재고 최적화</a:t>
              </a: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id="{AD70756B-8D58-09C6-E548-880961A743BB}"/>
              </a:ext>
            </a:extLst>
          </p:cNvPr>
          <p:cNvGrpSpPr/>
          <p:nvPr/>
        </p:nvGrpSpPr>
        <p:grpSpPr>
          <a:xfrm>
            <a:off x="626837" y="3334507"/>
            <a:ext cx="3565072" cy="705186"/>
            <a:chOff x="206828" y="3622608"/>
            <a:chExt cx="3565072" cy="705186"/>
          </a:xfrm>
        </p:grpSpPr>
        <p:sp>
          <p:nvSpPr>
            <p:cNvPr id="1128" name="직사각형 1127">
              <a:extLst>
                <a:ext uri="{FF2B5EF4-FFF2-40B4-BE49-F238E27FC236}">
                  <a16:creationId xmlns:a16="http://schemas.microsoft.com/office/drawing/2014/main" id="{10F7CFDD-3378-8467-C7EB-B39DA723311A}"/>
                </a:ext>
              </a:extLst>
            </p:cNvPr>
            <p:cNvSpPr/>
            <p:nvPr/>
          </p:nvSpPr>
          <p:spPr>
            <a:xfrm>
              <a:off x="206828" y="362260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>
                  <a:latin typeface="페이퍼로지 6 SemiBold" pitchFamily="2" charset="-127"/>
                  <a:ea typeface="페이퍼로지 6 SemiBold" pitchFamily="2" charset="-127"/>
                </a:rPr>
                <a:t>웹 서비스 구현</a:t>
              </a:r>
            </a:p>
          </p:txBody>
        </p:sp>
        <p:sp>
          <p:nvSpPr>
            <p:cNvPr id="1130" name="직사각형 1129">
              <a:extLst>
                <a:ext uri="{FF2B5EF4-FFF2-40B4-BE49-F238E27FC236}">
                  <a16:creationId xmlns:a16="http://schemas.microsoft.com/office/drawing/2014/main" id="{5182D53D-3094-1F32-8E3D-4B59E924767D}"/>
                </a:ext>
              </a:extLst>
            </p:cNvPr>
            <p:cNvSpPr/>
            <p:nvPr/>
          </p:nvSpPr>
          <p:spPr>
            <a:xfrm>
              <a:off x="206828" y="394537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Web Service Implementation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7C39E82A-B9A7-ED2A-2407-62CCDE3D449A}"/>
              </a:ext>
            </a:extLst>
          </p:cNvPr>
          <p:cNvSpPr/>
          <p:nvPr/>
        </p:nvSpPr>
        <p:spPr>
          <a:xfrm>
            <a:off x="1421494" y="4409453"/>
            <a:ext cx="2998105" cy="130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01.WEB ERD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01.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시스템 아키텍처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02.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주요 기능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flow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03.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웹 페이지 구현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05DEC83-8CA4-DFF9-0865-0ADC9747867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896" y="5975658"/>
            <a:ext cx="1162954" cy="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3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54D12D-A2B7-1F8D-F20E-7CB497CD1692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EBD422E-C09E-E75D-5307-FA5C8333CED2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26B1C5B-AB5B-8256-6D1D-242F4B6EE9B0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171B34-7A49-D730-41B3-FAF514D62B5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9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WEB ERD</a:t>
            </a: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D2475-7D85-7946-0AD7-56ADA4533BEA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F25B74-7756-18FA-8213-1071672F2A13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C63C14-BB59-6D5A-B956-C83701834D4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EBE955-7706-4AB6-BBB6-6012076D2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0" b="27080"/>
          <a:stretch>
            <a:fillRect/>
          </a:stretch>
        </p:blipFill>
        <p:spPr>
          <a:xfrm>
            <a:off x="493490" y="1146046"/>
            <a:ext cx="9065936" cy="561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8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1965-9F4D-696D-53D5-181AB81D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45B93C0-C3ED-342A-B696-D52EA14B3912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D115F1C-05C5-D2A1-03A3-60A3F519C12A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6177F3D-6286-CD49-F1E8-0408D68ACB11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834C85-587B-6EFB-95AC-3E9A2EF8A8AF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9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WEB ERD</a:t>
            </a: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A8259D4-E4B4-6618-831A-D4C9CE177D0E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A95839D-A52D-993E-E546-26B8C82F30F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65CAC5-75B6-1B45-A474-48E85E6602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04312AC-E775-6082-4941-82965D6D2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734038"/>
              </p:ext>
            </p:extLst>
          </p:nvPr>
        </p:nvGraphicFramePr>
        <p:xfrm>
          <a:off x="2402569" y="2756223"/>
          <a:ext cx="5885088" cy="2488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1696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2878407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1044985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5377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ANALYSIS_RESULTS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BIGINT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result_id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BIGINT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image_id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ENUM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result_type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014412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detected_id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02178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FLOAT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confidence_score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10867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9855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1E973AA-66CF-431B-7292-28C8317D3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51497"/>
              </p:ext>
            </p:extLst>
          </p:nvPr>
        </p:nvGraphicFramePr>
        <p:xfrm>
          <a:off x="712984" y="5026124"/>
          <a:ext cx="3931587" cy="1102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529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1922946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698112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6752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BRANDS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3151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brand_id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brand_name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081C0C99-20C3-0CA2-6149-0D2A06821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17001"/>
              </p:ext>
            </p:extLst>
          </p:nvPr>
        </p:nvGraphicFramePr>
        <p:xfrm>
          <a:off x="5841044" y="5026124"/>
          <a:ext cx="3931587" cy="19972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3356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1810119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698112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6752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IMAGES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3151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BIGINT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image_id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image_url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image_source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5072"/>
                  </a:ext>
                </a:extLst>
              </a:tr>
              <a:tr h="527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9012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F59BE3CC-179A-92E1-7567-44DCBC26A0A1}"/>
              </a:ext>
            </a:extLst>
          </p:cNvPr>
          <p:cNvGrpSpPr/>
          <p:nvPr/>
        </p:nvGrpSpPr>
        <p:grpSpPr>
          <a:xfrm>
            <a:off x="3931402" y="4008018"/>
            <a:ext cx="2501986" cy="1376782"/>
            <a:chOff x="3264223" y="3945231"/>
            <a:chExt cx="3354281" cy="1217707"/>
          </a:xfrm>
          <a:solidFill>
            <a:srgbClr val="3151F3"/>
          </a:solidFill>
        </p:grpSpPr>
        <p:sp>
          <p:nvSpPr>
            <p:cNvPr id="16" name="화살표: 아래쪽 15">
              <a:extLst>
                <a:ext uri="{FF2B5EF4-FFF2-40B4-BE49-F238E27FC236}">
                  <a16:creationId xmlns:a16="http://schemas.microsoft.com/office/drawing/2014/main" id="{3DE14023-B923-9FCB-D7AE-850D6EEF3415}"/>
                </a:ext>
              </a:extLst>
            </p:cNvPr>
            <p:cNvSpPr/>
            <p:nvPr/>
          </p:nvSpPr>
          <p:spPr>
            <a:xfrm rot="11700000">
              <a:off x="3264223" y="3945231"/>
              <a:ext cx="646725" cy="1193800"/>
            </a:xfrm>
            <a:prstGeom prst="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아래쪽 16">
              <a:extLst>
                <a:ext uri="{FF2B5EF4-FFF2-40B4-BE49-F238E27FC236}">
                  <a16:creationId xmlns:a16="http://schemas.microsoft.com/office/drawing/2014/main" id="{FEB17303-D46A-BB0D-3FA0-E8A880CB1801}"/>
                </a:ext>
              </a:extLst>
            </p:cNvPr>
            <p:cNvSpPr/>
            <p:nvPr/>
          </p:nvSpPr>
          <p:spPr>
            <a:xfrm rot="9000000">
              <a:off x="5971778" y="3969138"/>
              <a:ext cx="646726" cy="1193800"/>
            </a:xfrm>
            <a:prstGeom prst="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428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23905E-6 5.83788E-7 L 0.00014 -0.184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2071E-E35A-9CDB-0359-A284C4E4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A9A0879-CC2B-7C38-3D98-3218D193755B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6AB667-FC04-E52F-2F8B-8D4E8EF96A22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3377E5E-DCD9-5EF9-203A-EF960F1F6404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4FD379-E1DA-0F92-BB97-AE0B061822E5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9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WEB ERD</a:t>
            </a: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B2C54F3-4EFE-0006-E739-C6A0EB5BE6A2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A43CCA-E4B1-B6E2-1C20-6C3C399BAB42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2F2C207-49B8-8F6A-417B-1A4F3DCA3F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F5137B5-0709-26F7-DC81-7AC751C2E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79957"/>
              </p:ext>
            </p:extLst>
          </p:nvPr>
        </p:nvGraphicFramePr>
        <p:xfrm>
          <a:off x="2402569" y="2756223"/>
          <a:ext cx="5885088" cy="24884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1696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2878407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1044985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5377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MENU_INGREDIENTS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menu_ingredient_id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menu_id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ingredient_id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014412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FLOAT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amount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9902178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unit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910867"/>
                  </a:ext>
                </a:extLst>
              </a:tr>
              <a:tr h="353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98553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25A779B-2462-4164-CF1E-A9B6EC201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45378"/>
              </p:ext>
            </p:extLst>
          </p:nvPr>
        </p:nvGraphicFramePr>
        <p:xfrm>
          <a:off x="712983" y="5026124"/>
          <a:ext cx="4332963" cy="1470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4321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2119259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769383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6752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INGREDIENTS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3151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ingredient_id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ingredient_name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128645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30EE65E-819A-26B3-DCF3-642384B99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198655"/>
              </p:ext>
            </p:extLst>
          </p:nvPr>
        </p:nvGraphicFramePr>
        <p:xfrm>
          <a:off x="5841044" y="5026124"/>
          <a:ext cx="3931587" cy="19972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3356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1810119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698112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6752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MENUS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3151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menu_id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menu_name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5072"/>
                  </a:ext>
                </a:extLst>
              </a:tr>
              <a:tr h="527151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updated_at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9012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21B3E54D-8155-FAA3-0EBE-497F04D77E41}"/>
              </a:ext>
            </a:extLst>
          </p:cNvPr>
          <p:cNvGrpSpPr/>
          <p:nvPr/>
        </p:nvGrpSpPr>
        <p:grpSpPr>
          <a:xfrm>
            <a:off x="3931402" y="4008018"/>
            <a:ext cx="2501986" cy="1376782"/>
            <a:chOff x="3264223" y="3945231"/>
            <a:chExt cx="3354281" cy="1217707"/>
          </a:xfrm>
          <a:solidFill>
            <a:srgbClr val="3151F3"/>
          </a:solidFill>
        </p:grpSpPr>
        <p:sp>
          <p:nvSpPr>
            <p:cNvPr id="16" name="화살표: 아래쪽 15">
              <a:extLst>
                <a:ext uri="{FF2B5EF4-FFF2-40B4-BE49-F238E27FC236}">
                  <a16:creationId xmlns:a16="http://schemas.microsoft.com/office/drawing/2014/main" id="{19F02792-0976-D5DC-7F33-F0856F90AB5D}"/>
                </a:ext>
              </a:extLst>
            </p:cNvPr>
            <p:cNvSpPr/>
            <p:nvPr/>
          </p:nvSpPr>
          <p:spPr>
            <a:xfrm rot="11700000">
              <a:off x="3264223" y="3945231"/>
              <a:ext cx="646725" cy="1193800"/>
            </a:xfrm>
            <a:prstGeom prst="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아래쪽 16">
              <a:extLst>
                <a:ext uri="{FF2B5EF4-FFF2-40B4-BE49-F238E27FC236}">
                  <a16:creationId xmlns:a16="http://schemas.microsoft.com/office/drawing/2014/main" id="{F3B85140-F946-D8AE-C5A2-657F9C4E02B4}"/>
                </a:ext>
              </a:extLst>
            </p:cNvPr>
            <p:cNvSpPr/>
            <p:nvPr/>
          </p:nvSpPr>
          <p:spPr>
            <a:xfrm rot="9000000">
              <a:off x="5971778" y="3969138"/>
              <a:ext cx="646726" cy="1193800"/>
            </a:xfrm>
            <a:prstGeom prst="down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29A95D5-CD39-3C55-641B-F5E6DDE1A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43354"/>
              </p:ext>
            </p:extLst>
          </p:nvPr>
        </p:nvGraphicFramePr>
        <p:xfrm>
          <a:off x="5597526" y="1571363"/>
          <a:ext cx="4543834" cy="4989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4612">
                  <a:extLst>
                    <a:ext uri="{9D8B030D-6E8A-4147-A177-3AD203B41FA5}">
                      <a16:colId xmlns:a16="http://schemas.microsoft.com/office/drawing/2014/main" val="3846181361"/>
                    </a:ext>
                  </a:extLst>
                </a:gridCol>
                <a:gridCol w="2429895">
                  <a:extLst>
                    <a:ext uri="{9D8B030D-6E8A-4147-A177-3AD203B41FA5}">
                      <a16:colId xmlns:a16="http://schemas.microsoft.com/office/drawing/2014/main" val="1194758653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813997962"/>
                    </a:ext>
                  </a:extLst>
                </a:gridCol>
              </a:tblGrid>
              <a:tr h="36752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MENU_PECIPES</a:t>
                      </a:r>
                      <a:endParaRPr lang="ko-KR" altLang="en-US" sz="18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solidFill>
                      <a:srgbClr val="3151F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99560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recipe_id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PK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FCD6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51342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menu_id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FK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rgbClr val="D4D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14601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TEXT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cooking_steps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61509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TEXT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cooking_info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27021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TEXT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flavor_characteristics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99275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TEXT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nutrition_info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184361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TEXT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serving_tips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58146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cooking_time_minutes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718125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ENUM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difficulty_level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362242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servings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363440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created_at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081993"/>
                  </a:ext>
                </a:extLst>
              </a:tr>
              <a:tr h="367524">
                <a:tc>
                  <a:txBody>
                    <a:bodyPr/>
                    <a:lstStyle/>
                    <a:p>
                      <a:pPr marL="0" marR="0" lvl="0" indent="0" algn="ctr" defTabSz="100794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TIMESTAMP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updated_at</a:t>
                      </a:r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86706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2104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23905E-6 5.83788E-7 L 0.00014 -0.184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21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8486E-6 -4.06132E-6 L -0.49488 -0.4617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51" y="-231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FE96D-25CB-3E8A-AF9C-7E99CE6CD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그룹 1058">
            <a:extLst>
              <a:ext uri="{FF2B5EF4-FFF2-40B4-BE49-F238E27FC236}">
                <a16:creationId xmlns:a16="http://schemas.microsoft.com/office/drawing/2014/main" id="{748BEB4E-078C-0C33-33F1-45B2898031DF}"/>
              </a:ext>
            </a:extLst>
          </p:cNvPr>
          <p:cNvGrpSpPr/>
          <p:nvPr/>
        </p:nvGrpSpPr>
        <p:grpSpPr>
          <a:xfrm>
            <a:off x="2514600" y="2854376"/>
            <a:ext cx="5504686" cy="3142614"/>
            <a:chOff x="2514600" y="2854376"/>
            <a:chExt cx="5504686" cy="3142614"/>
          </a:xfrm>
        </p:grpSpPr>
        <p:cxnSp>
          <p:nvCxnSpPr>
            <p:cNvPr id="1056" name="직선 연결선 1055">
              <a:extLst>
                <a:ext uri="{FF2B5EF4-FFF2-40B4-BE49-F238E27FC236}">
                  <a16:creationId xmlns:a16="http://schemas.microsoft.com/office/drawing/2014/main" id="{5D1236B8-19AC-A7F3-86FE-679FBB9F4D82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954648"/>
              <a:ext cx="0" cy="1843224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직선 연결선 1052">
              <a:extLst>
                <a:ext uri="{FF2B5EF4-FFF2-40B4-BE49-F238E27FC236}">
                  <a16:creationId xmlns:a16="http://schemas.microsoft.com/office/drawing/2014/main" id="{EFE950B2-EE2B-94CF-6CCE-F09D36A66A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1466" y="3384324"/>
              <a:ext cx="3499566" cy="0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직선 연결선 1044">
              <a:extLst>
                <a:ext uri="{FF2B5EF4-FFF2-40B4-BE49-F238E27FC236}">
                  <a16:creationId xmlns:a16="http://schemas.microsoft.com/office/drawing/2014/main" id="{2BBDB933-589B-1579-1A8B-7117CCE89A63}"/>
                </a:ext>
              </a:extLst>
            </p:cNvPr>
            <p:cNvCxnSpPr>
              <a:cxnSpLocks/>
              <a:stCxn id="1036" idx="1"/>
            </p:cNvCxnSpPr>
            <p:nvPr/>
          </p:nvCxnSpPr>
          <p:spPr>
            <a:xfrm flipH="1">
              <a:off x="7258332" y="2854376"/>
              <a:ext cx="760954" cy="0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직선 연결선 1046">
              <a:extLst>
                <a:ext uri="{FF2B5EF4-FFF2-40B4-BE49-F238E27FC236}">
                  <a16:creationId xmlns:a16="http://schemas.microsoft.com/office/drawing/2014/main" id="{0FAE8B97-6FFD-C133-41AD-78944247BC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8332" y="4473081"/>
              <a:ext cx="760954" cy="0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직선 연결선 1047">
              <a:extLst>
                <a:ext uri="{FF2B5EF4-FFF2-40B4-BE49-F238E27FC236}">
                  <a16:creationId xmlns:a16="http://schemas.microsoft.com/office/drawing/2014/main" id="{C944E2FC-A6B6-6AC9-3517-15828AAC34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8332" y="5996990"/>
              <a:ext cx="760954" cy="0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직선 연결선 1048">
              <a:extLst>
                <a:ext uri="{FF2B5EF4-FFF2-40B4-BE49-F238E27FC236}">
                  <a16:creationId xmlns:a16="http://schemas.microsoft.com/office/drawing/2014/main" id="{69F985A6-225E-1300-480E-62F2EF5F7339}"/>
                </a:ext>
              </a:extLst>
            </p:cNvPr>
            <p:cNvCxnSpPr>
              <a:cxnSpLocks/>
            </p:cNvCxnSpPr>
            <p:nvPr/>
          </p:nvCxnSpPr>
          <p:spPr>
            <a:xfrm>
              <a:off x="7271032" y="2870140"/>
              <a:ext cx="0" cy="3126850"/>
            </a:xfrm>
            <a:prstGeom prst="line">
              <a:avLst/>
            </a:prstGeom>
            <a:ln w="38100">
              <a:solidFill>
                <a:srgbClr val="F78535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B19F7C-9DDC-033C-A34A-190FBDEF24D6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4E39CB-EC7C-1321-0FEA-7DD017F1CCA7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94ECAC8-F021-AEE2-6363-4CA2B01A8468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696078-4B25-4648-7B3E-D4E72A7982A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시스템 아키텍처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7E5C3374-5B88-65CF-7189-21BAE0CFAA8D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AA29FE-0FF5-BC68-B4A1-C0B0E5A33AE7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77086A6-520F-9C63-77A0-98EE136368C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pSp>
        <p:nvGrpSpPr>
          <p:cNvPr id="63" name="그룹 62">
            <a:extLst>
              <a:ext uri="{FF2B5EF4-FFF2-40B4-BE49-F238E27FC236}">
                <a16:creationId xmlns:a16="http://schemas.microsoft.com/office/drawing/2014/main" id="{3CAB343E-90B0-352F-6CE0-F06EACCB13DE}"/>
              </a:ext>
            </a:extLst>
          </p:cNvPr>
          <p:cNvGrpSpPr/>
          <p:nvPr/>
        </p:nvGrpSpPr>
        <p:grpSpPr>
          <a:xfrm>
            <a:off x="4357277" y="2560787"/>
            <a:ext cx="1977258" cy="1393861"/>
            <a:chOff x="4621025" y="2745139"/>
            <a:chExt cx="2478430" cy="1747160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22A585B-9FE8-D219-8801-4031E2FFD115}"/>
                </a:ext>
              </a:extLst>
            </p:cNvPr>
            <p:cNvGrpSpPr/>
            <p:nvPr/>
          </p:nvGrpSpPr>
          <p:grpSpPr>
            <a:xfrm>
              <a:off x="4621025" y="2745139"/>
              <a:ext cx="2478430" cy="1747160"/>
              <a:chOff x="2514600" y="1617480"/>
              <a:chExt cx="4165600" cy="1553255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9CC30FDA-C0C3-C2E2-48C9-ACD342B9D3EB}"/>
                  </a:ext>
                </a:extLst>
              </p:cNvPr>
              <p:cNvSpPr/>
              <p:nvPr/>
            </p:nvSpPr>
            <p:spPr>
              <a:xfrm>
                <a:off x="2514600" y="1617480"/>
                <a:ext cx="4165600" cy="358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pc="-80" dirty="0" err="1">
                    <a:solidFill>
                      <a:schemeClr val="tx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백앤드</a:t>
                </a:r>
                <a:endParaRPr lang="en-US" altLang="ko-KR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20787E13-A04B-8C59-E289-92326392A1A9}"/>
                  </a:ext>
                </a:extLst>
              </p:cNvPr>
              <p:cNvSpPr/>
              <p:nvPr/>
            </p:nvSpPr>
            <p:spPr>
              <a:xfrm>
                <a:off x="2514600" y="1989635"/>
                <a:ext cx="4165600" cy="11811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53" name="Picture 2" descr="플라스크 (웹 프레임워크) - 위키백과, 우리 모두의 백과사전">
              <a:extLst>
                <a:ext uri="{FF2B5EF4-FFF2-40B4-BE49-F238E27FC236}">
                  <a16:creationId xmlns:a16="http://schemas.microsoft.com/office/drawing/2014/main" id="{2813D4E4-DE3B-FA67-96FC-4653E5A16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5259" y="3400465"/>
              <a:ext cx="2069961" cy="811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8B58416-A13C-6290-85FA-09AF428D6CED}"/>
              </a:ext>
            </a:extLst>
          </p:cNvPr>
          <p:cNvGrpSpPr/>
          <p:nvPr/>
        </p:nvGrpSpPr>
        <p:grpSpPr>
          <a:xfrm>
            <a:off x="1794208" y="2560787"/>
            <a:ext cx="1977258" cy="1393861"/>
            <a:chOff x="1729957" y="2745139"/>
            <a:chExt cx="2478430" cy="174716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ACDD809-471E-4AD3-06F8-36A503390144}"/>
                </a:ext>
              </a:extLst>
            </p:cNvPr>
            <p:cNvGrpSpPr/>
            <p:nvPr/>
          </p:nvGrpSpPr>
          <p:grpSpPr>
            <a:xfrm>
              <a:off x="1729957" y="2745139"/>
              <a:ext cx="2478430" cy="1747160"/>
              <a:chOff x="2514600" y="1617480"/>
              <a:chExt cx="4165600" cy="1553255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BD40A3E-1A0C-6359-5D1A-228078ABD15D}"/>
                  </a:ext>
                </a:extLst>
              </p:cNvPr>
              <p:cNvSpPr/>
              <p:nvPr/>
            </p:nvSpPr>
            <p:spPr>
              <a:xfrm>
                <a:off x="2514600" y="1617480"/>
                <a:ext cx="4165600" cy="358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pc="-80" dirty="0" err="1">
                    <a:solidFill>
                      <a:schemeClr val="tx1"/>
                    </a:solidFill>
                    <a:latin typeface="페이퍼로지 6 SemiBold" pitchFamily="2" charset="-127"/>
                    <a:ea typeface="페이퍼로지 6 SemiBold" pitchFamily="2" charset="-127"/>
                  </a:rPr>
                  <a:t>프론트앤드</a:t>
                </a:r>
                <a:endParaRPr lang="en-US" altLang="ko-KR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45006828-76DE-17CA-B67F-CB4C75A0DCD8}"/>
                  </a:ext>
                </a:extLst>
              </p:cNvPr>
              <p:cNvSpPr/>
              <p:nvPr/>
            </p:nvSpPr>
            <p:spPr>
              <a:xfrm>
                <a:off x="2514600" y="1989635"/>
                <a:ext cx="4165600" cy="1181100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8759E16-9344-576A-1CCE-185C52BB2C8B}"/>
                </a:ext>
              </a:extLst>
            </p:cNvPr>
            <p:cNvGrpSpPr/>
            <p:nvPr/>
          </p:nvGrpSpPr>
          <p:grpSpPr>
            <a:xfrm>
              <a:off x="2088719" y="3298256"/>
              <a:ext cx="1765934" cy="1059540"/>
              <a:chOff x="2088719" y="3298256"/>
              <a:chExt cx="1765934" cy="1059540"/>
            </a:xfrm>
          </p:grpSpPr>
          <p:pic>
            <p:nvPicPr>
              <p:cNvPr id="2050" name="Picture 2" descr="JavaScript란?">
                <a:extLst>
                  <a:ext uri="{FF2B5EF4-FFF2-40B4-BE49-F238E27FC236}">
                    <a16:creationId xmlns:a16="http://schemas.microsoft.com/office/drawing/2014/main" id="{095E6872-F25D-FE34-C5C1-59FB25DB66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701" r="32701"/>
              <a:stretch>
                <a:fillRect/>
              </a:stretch>
            </p:blipFill>
            <p:spPr bwMode="auto">
              <a:xfrm>
                <a:off x="3123967" y="3298256"/>
                <a:ext cx="730686" cy="10595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2" name="Picture 4" descr="HTML - 위키백과, 우리 모두의 백과사전">
                <a:extLst>
                  <a:ext uri="{FF2B5EF4-FFF2-40B4-BE49-F238E27FC236}">
                    <a16:creationId xmlns:a16="http://schemas.microsoft.com/office/drawing/2014/main" id="{F8DCA61F-FB73-A8A7-F814-C6E7B9F6F2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719" y="3384988"/>
                <a:ext cx="894914" cy="894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385E9AFA-12ED-DE9A-B4B7-7C0382F3CBAF}"/>
              </a:ext>
            </a:extLst>
          </p:cNvPr>
          <p:cNvGrpSpPr/>
          <p:nvPr/>
        </p:nvGrpSpPr>
        <p:grpSpPr>
          <a:xfrm>
            <a:off x="8019286" y="3554558"/>
            <a:ext cx="1977258" cy="1393861"/>
            <a:chOff x="2514600" y="1617480"/>
            <a:chExt cx="4165600" cy="1553255"/>
          </a:xfrm>
        </p:grpSpPr>
        <p:sp>
          <p:nvSpPr>
            <p:cNvPr id="1029" name="직사각형 1028">
              <a:extLst>
                <a:ext uri="{FF2B5EF4-FFF2-40B4-BE49-F238E27FC236}">
                  <a16:creationId xmlns:a16="http://schemas.microsoft.com/office/drawing/2014/main" id="{D4259EB1-C445-C0F7-C255-7C682E25CFAD}"/>
                </a:ext>
              </a:extLst>
            </p:cNvPr>
            <p:cNvSpPr/>
            <p:nvPr/>
          </p:nvSpPr>
          <p:spPr>
            <a:xfrm>
              <a:off x="2514600" y="1617480"/>
              <a:ext cx="4165600" cy="358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이미지 저장소</a:t>
              </a:r>
              <a:endParaRPr lang="en-US" altLang="ko-KR" spc="-8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030" name="사각형: 둥근 모서리 1029">
              <a:extLst>
                <a:ext uri="{FF2B5EF4-FFF2-40B4-BE49-F238E27FC236}">
                  <a16:creationId xmlns:a16="http://schemas.microsoft.com/office/drawing/2014/main" id="{D797C6AB-E286-CDF1-D8E1-94312AD0C485}"/>
                </a:ext>
              </a:extLst>
            </p:cNvPr>
            <p:cNvSpPr/>
            <p:nvPr/>
          </p:nvSpPr>
          <p:spPr>
            <a:xfrm>
              <a:off x="2514600" y="1989635"/>
              <a:ext cx="4165600" cy="118110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32" name="그룹 1031">
            <a:extLst>
              <a:ext uri="{FF2B5EF4-FFF2-40B4-BE49-F238E27FC236}">
                <a16:creationId xmlns:a16="http://schemas.microsoft.com/office/drawing/2014/main" id="{188D958D-E649-6213-EA97-E2E7FFA161C1}"/>
              </a:ext>
            </a:extLst>
          </p:cNvPr>
          <p:cNvGrpSpPr/>
          <p:nvPr/>
        </p:nvGrpSpPr>
        <p:grpSpPr>
          <a:xfrm>
            <a:off x="8019286" y="1990463"/>
            <a:ext cx="1977258" cy="1393861"/>
            <a:chOff x="2514600" y="1617480"/>
            <a:chExt cx="4165600" cy="1553255"/>
          </a:xfrm>
        </p:grpSpPr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A994EE5C-5C15-2F91-B4BD-68E9F16AC9CA}"/>
                </a:ext>
              </a:extLst>
            </p:cNvPr>
            <p:cNvSpPr/>
            <p:nvPr/>
          </p:nvSpPr>
          <p:spPr>
            <a:xfrm>
              <a:off x="2514600" y="1617480"/>
              <a:ext cx="4165600" cy="358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AI </a:t>
              </a:r>
              <a:r>
                <a:rPr lang="ko-KR" altLang="en-US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</a:t>
              </a:r>
              <a:endParaRPr lang="en-US" altLang="ko-KR" spc="-8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036" name="사각형: 둥근 모서리 1035">
              <a:extLst>
                <a:ext uri="{FF2B5EF4-FFF2-40B4-BE49-F238E27FC236}">
                  <a16:creationId xmlns:a16="http://schemas.microsoft.com/office/drawing/2014/main" id="{5EF8B52B-63C0-DA9B-A462-14852B7B3662}"/>
                </a:ext>
              </a:extLst>
            </p:cNvPr>
            <p:cNvSpPr/>
            <p:nvPr/>
          </p:nvSpPr>
          <p:spPr>
            <a:xfrm>
              <a:off x="2514600" y="1989635"/>
              <a:ext cx="4165600" cy="118110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038" name="그룹 1037">
            <a:extLst>
              <a:ext uri="{FF2B5EF4-FFF2-40B4-BE49-F238E27FC236}">
                <a16:creationId xmlns:a16="http://schemas.microsoft.com/office/drawing/2014/main" id="{1BD807FA-E653-F925-65B3-9296947B0BF5}"/>
              </a:ext>
            </a:extLst>
          </p:cNvPr>
          <p:cNvGrpSpPr/>
          <p:nvPr/>
        </p:nvGrpSpPr>
        <p:grpSpPr>
          <a:xfrm>
            <a:off x="8019286" y="5118653"/>
            <a:ext cx="1977258" cy="1393861"/>
            <a:chOff x="2514600" y="1617480"/>
            <a:chExt cx="4165600" cy="1553255"/>
          </a:xfrm>
        </p:grpSpPr>
        <p:sp>
          <p:nvSpPr>
            <p:cNvPr id="1040" name="직사각형 1039">
              <a:extLst>
                <a:ext uri="{FF2B5EF4-FFF2-40B4-BE49-F238E27FC236}">
                  <a16:creationId xmlns:a16="http://schemas.microsoft.com/office/drawing/2014/main" id="{3B34DC48-B955-5C97-637D-B0E354BDB614}"/>
                </a:ext>
              </a:extLst>
            </p:cNvPr>
            <p:cNvSpPr/>
            <p:nvPr/>
          </p:nvSpPr>
          <p:spPr>
            <a:xfrm>
              <a:off x="2514600" y="1617480"/>
              <a:ext cx="4165600" cy="358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pc="-80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DB</a:t>
              </a:r>
            </a:p>
          </p:txBody>
        </p:sp>
        <p:sp>
          <p:nvSpPr>
            <p:cNvPr id="1041" name="사각형: 둥근 모서리 1040">
              <a:extLst>
                <a:ext uri="{FF2B5EF4-FFF2-40B4-BE49-F238E27FC236}">
                  <a16:creationId xmlns:a16="http://schemas.microsoft.com/office/drawing/2014/main" id="{EF4C9E14-3AE7-1247-91FC-0495C48C5C7F}"/>
                </a:ext>
              </a:extLst>
            </p:cNvPr>
            <p:cNvSpPr/>
            <p:nvPr/>
          </p:nvSpPr>
          <p:spPr>
            <a:xfrm>
              <a:off x="2514600" y="1989635"/>
              <a:ext cx="4165600" cy="1181100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054" name="Picture 6" descr="MySQL 강좌 : 제 1강 - 소개 및 설치 - YUN DAE HEE">
            <a:extLst>
              <a:ext uri="{FF2B5EF4-FFF2-40B4-BE49-F238E27FC236}">
                <a16:creationId xmlns:a16="http://schemas.microsoft.com/office/drawing/2014/main" id="{4E86F4D2-FFDF-CC10-A4E2-803C3FD8E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993" y="5464530"/>
            <a:ext cx="1589844" cy="105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그림 1042" descr="클립아트, 스크린샷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987B57-17A6-F762-2BAE-52B61F6C9E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385" y="4046845"/>
            <a:ext cx="859059" cy="859059"/>
          </a:xfrm>
          <a:prstGeom prst="rect">
            <a:avLst/>
          </a:prstGeom>
        </p:spPr>
      </p:pic>
      <p:pic>
        <p:nvPicPr>
          <p:cNvPr id="20" name="그림 19" descr="클립아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C0EBFB-A1EF-623C-CE44-F6413487F3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41" y="4612631"/>
            <a:ext cx="2305388" cy="2305388"/>
          </a:xfrm>
          <a:prstGeom prst="rect">
            <a:avLst/>
          </a:prstGeom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E4DDFF1-8B25-5F07-303E-DC4C5CBCBBD3}"/>
              </a:ext>
            </a:extLst>
          </p:cNvPr>
          <p:cNvSpPr/>
          <p:nvPr/>
        </p:nvSpPr>
        <p:spPr>
          <a:xfrm>
            <a:off x="8098512" y="2459837"/>
            <a:ext cx="1818803" cy="300513"/>
          </a:xfrm>
          <a:prstGeom prst="round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Efficient B2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7E8A99-A3ED-4A8F-3707-95C029133D1D}"/>
              </a:ext>
            </a:extLst>
          </p:cNvPr>
          <p:cNvSpPr/>
          <p:nvPr/>
        </p:nvSpPr>
        <p:spPr>
          <a:xfrm>
            <a:off x="8098512" y="2907088"/>
            <a:ext cx="1818803" cy="300513"/>
          </a:xfrm>
          <a:prstGeom prst="round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Efficient B3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12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A966-210B-DD8C-4AB6-CAA5EFB7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FC23E6-037F-0217-EE61-E7502E6148C2}"/>
              </a:ext>
            </a:extLst>
          </p:cNvPr>
          <p:cNvSpPr/>
          <p:nvPr/>
        </p:nvSpPr>
        <p:spPr>
          <a:xfrm>
            <a:off x="0" y="2411413"/>
            <a:ext cx="10691813" cy="51482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25F3981-CDA2-BD63-F080-977BBF7286BF}"/>
              </a:ext>
            </a:extLst>
          </p:cNvPr>
          <p:cNvGrpSpPr/>
          <p:nvPr/>
        </p:nvGrpSpPr>
        <p:grpSpPr>
          <a:xfrm>
            <a:off x="1025869" y="3259175"/>
            <a:ext cx="1939925" cy="693700"/>
            <a:chOff x="5346699" y="3259175"/>
            <a:chExt cx="1939925" cy="69370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922F9AB-1751-3C0C-75D9-BDB738C8A262}"/>
                </a:ext>
              </a:extLst>
            </p:cNvPr>
            <p:cNvSpPr/>
            <p:nvPr/>
          </p:nvSpPr>
          <p:spPr>
            <a:xfrm>
              <a:off x="5346699" y="3259175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5FBB0561-458A-9D56-BDDA-F13596A5B8BD}"/>
                </a:ext>
              </a:extLst>
            </p:cNvPr>
            <p:cNvSpPr/>
            <p:nvPr/>
          </p:nvSpPr>
          <p:spPr>
            <a:xfrm>
              <a:off x="6083790" y="3352800"/>
              <a:ext cx="465743" cy="198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>
                  <a:solidFill>
                    <a:schemeClr val="bg1">
                      <a:lumMod val="7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사용자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5D503CC-6323-12A2-F2FA-42991E8E89E6}"/>
                </a:ext>
              </a:extLst>
            </p:cNvPr>
            <p:cNvSpPr/>
            <p:nvPr/>
          </p:nvSpPr>
          <p:spPr>
            <a:xfrm>
              <a:off x="5767782" y="3606025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웹 페이지 접속</a:t>
              </a:r>
              <a:endParaRPr lang="en-US" altLang="ko-KR" sz="12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62C760B-3729-E388-1F5F-4FFDC8767461}"/>
              </a:ext>
            </a:extLst>
          </p:cNvPr>
          <p:cNvGrpSpPr/>
          <p:nvPr/>
        </p:nvGrpSpPr>
        <p:grpSpPr>
          <a:xfrm>
            <a:off x="4356634" y="3259175"/>
            <a:ext cx="1939925" cy="693700"/>
            <a:chOff x="5346699" y="3259175"/>
            <a:chExt cx="1939925" cy="69370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88FFA6DB-8D1C-E287-17BA-2670C9B27B08}"/>
                </a:ext>
              </a:extLst>
            </p:cNvPr>
            <p:cNvSpPr/>
            <p:nvPr/>
          </p:nvSpPr>
          <p:spPr>
            <a:xfrm>
              <a:off x="5346699" y="3259175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684CFBE-7706-D858-C191-62E7FAAF3D46}"/>
                </a:ext>
              </a:extLst>
            </p:cNvPr>
            <p:cNvSpPr/>
            <p:nvPr/>
          </p:nvSpPr>
          <p:spPr>
            <a:xfrm>
              <a:off x="6083790" y="3352800"/>
              <a:ext cx="465743" cy="198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>
                  <a:solidFill>
                    <a:schemeClr val="bg1">
                      <a:lumMod val="7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사용자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FF6C711-C9E1-CBEC-20D9-40C059B933E1}"/>
                </a:ext>
              </a:extLst>
            </p:cNvPr>
            <p:cNvSpPr/>
            <p:nvPr/>
          </p:nvSpPr>
          <p:spPr>
            <a:xfrm>
              <a:off x="5767782" y="3606025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이미지 등록</a:t>
              </a:r>
              <a:endParaRPr lang="en-US" altLang="ko-KR" sz="12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132CCD4-D524-8192-BEF2-5BDECFF6894C}"/>
              </a:ext>
            </a:extLst>
          </p:cNvPr>
          <p:cNvGrpSpPr/>
          <p:nvPr/>
        </p:nvGrpSpPr>
        <p:grpSpPr>
          <a:xfrm>
            <a:off x="7687399" y="3259175"/>
            <a:ext cx="1939925" cy="693700"/>
            <a:chOff x="7687399" y="3259175"/>
            <a:chExt cx="1939925" cy="6937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4C9D5EC5-A64D-68AE-4C8D-D821601834E3}"/>
                </a:ext>
              </a:extLst>
            </p:cNvPr>
            <p:cNvSpPr/>
            <p:nvPr/>
          </p:nvSpPr>
          <p:spPr>
            <a:xfrm>
              <a:off x="7687399" y="3259175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F78535"/>
              </a:solidFill>
            </a:ln>
            <a:effectLst>
              <a:glow rad="63500">
                <a:srgbClr val="F78535">
                  <a:alpha val="43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155EBFA-9F74-7D8D-0E74-9F0345DC9B49}"/>
                </a:ext>
              </a:extLst>
            </p:cNvPr>
            <p:cNvSpPr/>
            <p:nvPr/>
          </p:nvSpPr>
          <p:spPr>
            <a:xfrm>
              <a:off x="8199298" y="3352800"/>
              <a:ext cx="916128" cy="198120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DEEP-DISH</a:t>
              </a:r>
              <a:endParaRPr lang="ko-KR" altLang="en-US" sz="100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3841592-8F96-1828-D6A1-3DBFF22E9525}"/>
                </a:ext>
              </a:extLst>
            </p:cNvPr>
            <p:cNvSpPr/>
            <p:nvPr/>
          </p:nvSpPr>
          <p:spPr>
            <a:xfrm>
              <a:off x="8108482" y="3606025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호출</a:t>
              </a:r>
              <a:endParaRPr lang="en-US" altLang="ko-KR" sz="120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0B7E393-2C58-1627-BC8E-BA23FBA194B3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2965794" y="3606025"/>
            <a:ext cx="1390840" cy="0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0EA1EC47-96E4-38DF-94E1-CC466376687D}"/>
              </a:ext>
            </a:extLst>
          </p:cNvPr>
          <p:cNvCxnSpPr>
            <a:cxnSpLocks/>
            <a:stCxn id="23" idx="3"/>
            <a:endCxn id="31" idx="1"/>
          </p:cNvCxnSpPr>
          <p:nvPr/>
        </p:nvCxnSpPr>
        <p:spPr>
          <a:xfrm>
            <a:off x="6296559" y="3606025"/>
            <a:ext cx="1390840" cy="0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5FF87FB-82FB-83A9-569F-78BE8BE5EEB9}"/>
              </a:ext>
            </a:extLst>
          </p:cNvPr>
          <p:cNvGrpSpPr/>
          <p:nvPr/>
        </p:nvGrpSpPr>
        <p:grpSpPr>
          <a:xfrm>
            <a:off x="1025869" y="4570739"/>
            <a:ext cx="1939925" cy="693700"/>
            <a:chOff x="5346699" y="3259175"/>
            <a:chExt cx="1939925" cy="6937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51B13F3-76C0-5E51-4AA2-7F85A69C10B7}"/>
                </a:ext>
              </a:extLst>
            </p:cNvPr>
            <p:cNvSpPr/>
            <p:nvPr/>
          </p:nvSpPr>
          <p:spPr>
            <a:xfrm>
              <a:off x="5346699" y="3259175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CE065299-4381-34F8-0DF2-90C0D5542B0F}"/>
                </a:ext>
              </a:extLst>
            </p:cNvPr>
            <p:cNvSpPr/>
            <p:nvPr/>
          </p:nvSpPr>
          <p:spPr>
            <a:xfrm>
              <a:off x="6083790" y="3352800"/>
              <a:ext cx="465743" cy="198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75000"/>
                    </a:schemeClr>
                  </a:solidFill>
                  <a:latin typeface="페이퍼로지 4 Regular" pitchFamily="2" charset="-127"/>
                  <a:ea typeface="페이퍼로지 4 Regular" pitchFamily="2" charset="-127"/>
                </a:rPr>
                <a:t>사용자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C24502A-4147-B424-318A-342FF22500F8}"/>
                </a:ext>
              </a:extLst>
            </p:cNvPr>
            <p:cNvSpPr/>
            <p:nvPr/>
          </p:nvSpPr>
          <p:spPr>
            <a:xfrm>
              <a:off x="5767782" y="3606025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분석 요약 확인</a:t>
              </a:r>
              <a:endParaRPr lang="en-US" altLang="ko-KR" sz="120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0A25007-191C-E40C-9209-2FABE76F6C5D}"/>
              </a:ext>
            </a:extLst>
          </p:cNvPr>
          <p:cNvGrpSpPr/>
          <p:nvPr/>
        </p:nvGrpSpPr>
        <p:grpSpPr>
          <a:xfrm>
            <a:off x="4356634" y="4570739"/>
            <a:ext cx="1939925" cy="693700"/>
            <a:chOff x="5346699" y="3259175"/>
            <a:chExt cx="1939925" cy="693700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CA4CCA3-D535-695F-9F04-01871296CBF7}"/>
                </a:ext>
              </a:extLst>
            </p:cNvPr>
            <p:cNvSpPr/>
            <p:nvPr/>
          </p:nvSpPr>
          <p:spPr>
            <a:xfrm>
              <a:off x="5346699" y="3259175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F78535"/>
              </a:solidFill>
            </a:ln>
            <a:effectLst>
              <a:glow rad="63500">
                <a:srgbClr val="F78535">
                  <a:alpha val="43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3EA2F3A-D58B-120E-E27A-CAF1E48062E6}"/>
                </a:ext>
              </a:extLst>
            </p:cNvPr>
            <p:cNvSpPr/>
            <p:nvPr/>
          </p:nvSpPr>
          <p:spPr>
            <a:xfrm>
              <a:off x="5867934" y="3352800"/>
              <a:ext cx="897456" cy="198120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DEEP-DISH</a:t>
              </a:r>
              <a:endParaRPr lang="ko-KR" altLang="en-US" sz="1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042C4FB-9A8A-30E6-1BAF-AEBE0F5EC4F6}"/>
                </a:ext>
              </a:extLst>
            </p:cNvPr>
            <p:cNvSpPr/>
            <p:nvPr/>
          </p:nvSpPr>
          <p:spPr>
            <a:xfrm>
              <a:off x="5767782" y="3606025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이미지 분석</a:t>
              </a:r>
              <a:endParaRPr lang="en-US" altLang="ko-KR" sz="120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EBE6C008-7F3C-5C04-D67B-CF983171E64B}"/>
              </a:ext>
            </a:extLst>
          </p:cNvPr>
          <p:cNvGrpSpPr/>
          <p:nvPr/>
        </p:nvGrpSpPr>
        <p:grpSpPr>
          <a:xfrm>
            <a:off x="7687399" y="4570739"/>
            <a:ext cx="1939925" cy="693700"/>
            <a:chOff x="7687399" y="4570739"/>
            <a:chExt cx="1939925" cy="693700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6A6793C5-8F56-721D-36E3-1BED60D20C27}"/>
                </a:ext>
              </a:extLst>
            </p:cNvPr>
            <p:cNvSpPr/>
            <p:nvPr/>
          </p:nvSpPr>
          <p:spPr>
            <a:xfrm>
              <a:off x="7687399" y="4570739"/>
              <a:ext cx="1939925" cy="69370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F78535"/>
              </a:solidFill>
            </a:ln>
            <a:effectLst>
              <a:glow rad="63500">
                <a:srgbClr val="F78535">
                  <a:alpha val="43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C11D2C24-F9D2-2818-69CA-E63BAE7EA455}"/>
                </a:ext>
              </a:extLst>
            </p:cNvPr>
            <p:cNvSpPr/>
            <p:nvPr/>
          </p:nvSpPr>
          <p:spPr>
            <a:xfrm>
              <a:off x="8199298" y="4664364"/>
              <a:ext cx="916128" cy="198120"/>
            </a:xfrm>
            <a:prstGeom prst="roundRect">
              <a:avLst>
                <a:gd name="adj" fmla="val 50000"/>
              </a:avLst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DEEP-DISH</a:t>
              </a:r>
              <a:endParaRPr lang="ko-KR" altLang="en-US" sz="10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65C0B024-F91D-A186-EB3E-C9B7E307DAC7}"/>
                </a:ext>
              </a:extLst>
            </p:cNvPr>
            <p:cNvSpPr/>
            <p:nvPr/>
          </p:nvSpPr>
          <p:spPr>
            <a:xfrm>
              <a:off x="8108482" y="4917589"/>
              <a:ext cx="1097758" cy="2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rgbClr val="2A2A2A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적용</a:t>
              </a:r>
              <a:endParaRPr lang="en-US" altLang="ko-KR" sz="1200" dirty="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2F60E15-F9E0-E1DC-7367-001AFC305534}"/>
              </a:ext>
            </a:extLst>
          </p:cNvPr>
          <p:cNvCxnSpPr>
            <a:stCxn id="58" idx="3"/>
            <a:endCxn id="62" idx="1"/>
          </p:cNvCxnSpPr>
          <p:nvPr/>
        </p:nvCxnSpPr>
        <p:spPr>
          <a:xfrm>
            <a:off x="2965794" y="4917589"/>
            <a:ext cx="1390840" cy="0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6384C4D-5B1E-4DF0-98D8-BEC07F978691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>
            <a:off x="6296559" y="4917589"/>
            <a:ext cx="1390840" cy="0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FE59E4B-320F-A36D-504A-25F9D27D6B91}"/>
              </a:ext>
            </a:extLst>
          </p:cNvPr>
          <p:cNvCxnSpPr>
            <a:cxnSpLocks/>
            <a:stCxn id="31" idx="2"/>
            <a:endCxn id="66" idx="0"/>
          </p:cNvCxnSpPr>
          <p:nvPr/>
        </p:nvCxnSpPr>
        <p:spPr>
          <a:xfrm>
            <a:off x="8657362" y="3952875"/>
            <a:ext cx="0" cy="617864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5A8A87E4-8B0A-68D3-5865-3D00CE0D196D}"/>
              </a:ext>
            </a:extLst>
          </p:cNvPr>
          <p:cNvSpPr/>
          <p:nvPr/>
        </p:nvSpPr>
        <p:spPr>
          <a:xfrm>
            <a:off x="1282700" y="6141648"/>
            <a:ext cx="8087794" cy="693700"/>
          </a:xfrm>
          <a:prstGeom prst="roundRect">
            <a:avLst/>
          </a:prstGeom>
          <a:solidFill>
            <a:srgbClr val="F78535"/>
          </a:solidFill>
          <a:ln w="9525">
            <a:solidFill>
              <a:srgbClr val="F78535"/>
            </a:solidFill>
          </a:ln>
          <a:effectLst>
            <a:glow rad="63500">
              <a:srgbClr val="F78535">
                <a:alpha val="43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6E37CF6-E233-A008-7E53-FCC3DAA9A346}"/>
              </a:ext>
            </a:extLst>
          </p:cNvPr>
          <p:cNvCxnSpPr>
            <a:cxnSpLocks/>
          </p:cNvCxnSpPr>
          <p:nvPr/>
        </p:nvCxnSpPr>
        <p:spPr>
          <a:xfrm>
            <a:off x="1995831" y="5264439"/>
            <a:ext cx="0" cy="809683"/>
          </a:xfrm>
          <a:prstGeom prst="line">
            <a:avLst/>
          </a:prstGeom>
          <a:ln w="12700">
            <a:solidFill>
              <a:srgbClr val="9A8B8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7273B4-B81C-FD5E-1428-B7660AB5CD37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D455ECB-C618-94C6-82D4-6E65BB5EF225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9CD603B-F606-C60F-70DF-15BD81C71FFF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F80180F-D13F-8583-6A99-8E34C4E766C7}"/>
              </a:ext>
            </a:extLst>
          </p:cNvPr>
          <p:cNvSpPr/>
          <p:nvPr/>
        </p:nvSpPr>
        <p:spPr>
          <a:xfrm>
            <a:off x="1025869" y="688851"/>
            <a:ext cx="1533044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주요 기능  </a:t>
            </a:r>
            <a:r>
              <a:rPr lang="en-US" altLang="ko-KR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FLOW</a:t>
            </a: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EAD6A8EE-86D4-07B2-C24D-BB627272C114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BBE135B-F683-1843-47B4-F7593D719E65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F4B074F-8B2B-44ED-D3A0-ABB4D1FD3F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39D0FF3-53A1-2310-C1C1-F4CF40EC5307}"/>
              </a:ext>
            </a:extLst>
          </p:cNvPr>
          <p:cNvSpPr/>
          <p:nvPr/>
        </p:nvSpPr>
        <p:spPr>
          <a:xfrm>
            <a:off x="3789615" y="6268727"/>
            <a:ext cx="5455246" cy="465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상세 이미지 분석 제공 </a:t>
            </a:r>
            <a:r>
              <a:rPr lang="en-US" altLang="ko-KR" sz="20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/ </a:t>
            </a:r>
            <a:r>
              <a:rPr lang="ko-KR" altLang="en-US" sz="20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식재료 분석 트렌드 제공 </a:t>
            </a:r>
            <a:endParaRPr lang="en-US" altLang="ko-KR" sz="2000" dirty="0">
              <a:solidFill>
                <a:schemeClr val="bg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6F9E017-B297-342F-8318-9F0D0DE92BF9}"/>
              </a:ext>
            </a:extLst>
          </p:cNvPr>
          <p:cNvGrpSpPr/>
          <p:nvPr/>
        </p:nvGrpSpPr>
        <p:grpSpPr>
          <a:xfrm>
            <a:off x="1446952" y="5977208"/>
            <a:ext cx="2382754" cy="1087393"/>
            <a:chOff x="1446952" y="5977208"/>
            <a:chExt cx="2382754" cy="1087393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B355D7D3-987C-24F1-F8E4-F9975038B4ED}"/>
                </a:ext>
              </a:extLst>
            </p:cNvPr>
            <p:cNvGrpSpPr/>
            <p:nvPr/>
          </p:nvGrpSpPr>
          <p:grpSpPr>
            <a:xfrm>
              <a:off x="1446952" y="6141648"/>
              <a:ext cx="2382754" cy="693700"/>
              <a:chOff x="1831876" y="6221594"/>
              <a:chExt cx="2382754" cy="693700"/>
            </a:xfrm>
          </p:grpSpPr>
          <p:pic>
            <p:nvPicPr>
              <p:cNvPr id="37" name="그림 36" descr="클립아트, 패스트푸드, 창의성, 일러스트레이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518B42BD-ABEB-26CD-0B7C-905E868E3F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28364" y="6221594"/>
                <a:ext cx="686266" cy="686266"/>
              </a:xfrm>
              <a:prstGeom prst="rect">
                <a:avLst/>
              </a:prstGeom>
            </p:spPr>
          </p:pic>
          <p:pic>
            <p:nvPicPr>
              <p:cNvPr id="39" name="그림 38" descr="원, 그래픽, 예술, 그래픽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800418A-E212-95A3-4761-34ADA3862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78484" y="6316118"/>
                <a:ext cx="554705" cy="554705"/>
              </a:xfrm>
              <a:prstGeom prst="rect">
                <a:avLst/>
              </a:prstGeom>
            </p:spPr>
          </p:pic>
          <p:pic>
            <p:nvPicPr>
              <p:cNvPr id="13" name="그림 12" descr="클립아트, 만화 영화, 일러스트레이션,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D3EAF8E-8E73-59F7-659F-56DD227600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1876" y="6376340"/>
                <a:ext cx="538954" cy="538954"/>
              </a:xfrm>
              <a:prstGeom prst="rect">
                <a:avLst/>
              </a:prstGeom>
            </p:spPr>
          </p:pic>
          <p:pic>
            <p:nvPicPr>
              <p:cNvPr id="41" name="그림 40" descr="클립아트, 패스트푸드, 만화 영화, 일러스트레이션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CE576FC-97BF-AAD8-97C1-F0C6839D9C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86871" y="6353155"/>
                <a:ext cx="554705" cy="554705"/>
              </a:xfrm>
              <a:prstGeom prst="rect">
                <a:avLst/>
              </a:prstGeom>
            </p:spPr>
          </p:pic>
        </p:grpSp>
        <p:pic>
          <p:nvPicPr>
            <p:cNvPr id="46" name="그림 45" descr="상징, 그래픽, 클립아트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266B103-1D69-9CD5-4179-BC2CC1F1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7215" y="5977208"/>
              <a:ext cx="1087393" cy="10873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86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B91A-FE5C-4E81-EC4F-CB612F11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A3E77DBB-7F50-30FA-A48A-70C6971EE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36" y="1402818"/>
            <a:ext cx="7399564" cy="5780037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E717BD0-B3EA-063F-674D-FCEE0BA42D39}"/>
              </a:ext>
            </a:extLst>
          </p:cNvPr>
          <p:cNvSpPr/>
          <p:nvPr/>
        </p:nvSpPr>
        <p:spPr>
          <a:xfrm>
            <a:off x="6877734" y="3362324"/>
            <a:ext cx="3529013" cy="5768975"/>
          </a:xfrm>
          <a:prstGeom prst="roundRect">
            <a:avLst>
              <a:gd name="adj" fmla="val 15038"/>
            </a:avLst>
          </a:prstGeom>
          <a:solidFill>
            <a:schemeClr val="bg1"/>
          </a:solidFill>
          <a:ln>
            <a:solidFill>
              <a:srgbClr val="9A8B80"/>
            </a:solidFill>
          </a:ln>
          <a:effectLst>
            <a:glow rad="76200">
              <a:srgbClr val="9A8B8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D1D15C-12BB-144C-8329-4B454E976628}"/>
              </a:ext>
            </a:extLst>
          </p:cNvPr>
          <p:cNvSpPr/>
          <p:nvPr/>
        </p:nvSpPr>
        <p:spPr>
          <a:xfrm>
            <a:off x="7501701" y="3644784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메뉴 구성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9DBA12E-F300-0E22-BF0C-F0A9A3DE306C}"/>
              </a:ext>
            </a:extLst>
          </p:cNvPr>
          <p:cNvGrpSpPr/>
          <p:nvPr/>
        </p:nvGrpSpPr>
        <p:grpSpPr>
          <a:xfrm>
            <a:off x="7119249" y="3644784"/>
            <a:ext cx="339343" cy="339343"/>
            <a:chOff x="6191070" y="2711708"/>
            <a:chExt cx="339343" cy="33934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297EA2B-25AF-6D82-90C4-ED0503FC9612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10F564F-B035-5403-39B5-00FE87627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C0737D-9955-AD18-0A1B-AEC1CD5F1D7C}"/>
              </a:ext>
            </a:extLst>
          </p:cNvPr>
          <p:cNvSpPr/>
          <p:nvPr/>
        </p:nvSpPr>
        <p:spPr>
          <a:xfrm>
            <a:off x="7528680" y="3984127"/>
            <a:ext cx="2395704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트렌드 분석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이미지 등록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음식 트랜드 분석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재료 트랜드 분석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음식 검색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15FD87-4325-1AAD-1214-62F16743321E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54F4C4E-E3BF-31D3-457B-939DE1D604C4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9BAA9DB-D756-966F-1F9B-897C59C2A0FC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092DE8-BDE5-5757-4CE8-D29DEE79191E}"/>
              </a:ext>
            </a:extLst>
          </p:cNvPr>
          <p:cNvSpPr/>
          <p:nvPr/>
        </p:nvSpPr>
        <p:spPr>
          <a:xfrm>
            <a:off x="1025869" y="688851"/>
            <a:ext cx="1533044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웹 페이지 구현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629275AE-14D4-BA9C-2E9E-C5D0F783E9C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C1202C-7F4E-F030-2C44-D65E71D9A874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04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87E4344-4CBB-706A-9DB1-18A827CD80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DF7576D-8349-FF46-AA44-FDA4E57D1C52}"/>
              </a:ext>
            </a:extLst>
          </p:cNvPr>
          <p:cNvSpPr/>
          <p:nvPr/>
        </p:nvSpPr>
        <p:spPr>
          <a:xfrm>
            <a:off x="7501701" y="5268210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트렌드 </a:t>
            </a:r>
            <a:r>
              <a:rPr lang="en-US" altLang="ko-KR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TOP 10</a:t>
            </a:r>
            <a:endParaRPr lang="ko-KR" altLang="en-US" spc="-80" dirty="0">
              <a:solidFill>
                <a:srgbClr val="F78535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61D0695-00BB-383B-C1DF-F991F68F91E2}"/>
              </a:ext>
            </a:extLst>
          </p:cNvPr>
          <p:cNvGrpSpPr/>
          <p:nvPr/>
        </p:nvGrpSpPr>
        <p:grpSpPr>
          <a:xfrm>
            <a:off x="7119249" y="5268210"/>
            <a:ext cx="339343" cy="339343"/>
            <a:chOff x="6191070" y="2711708"/>
            <a:chExt cx="339343" cy="339343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83CA266-E4D2-7800-8E47-72DDCA3801B2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954CAC-B067-F1E7-0227-CDD907223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D8748C-FDEC-262A-B8D9-6DFE256BBD32}"/>
              </a:ext>
            </a:extLst>
          </p:cNvPr>
          <p:cNvSpPr/>
          <p:nvPr/>
        </p:nvSpPr>
        <p:spPr>
          <a:xfrm>
            <a:off x="7528680" y="5607553"/>
            <a:ext cx="2395704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2025 6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달치 </a:t>
            </a:r>
            <a:r>
              <a:rPr lang="ko-KR" altLang="en-US" sz="14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음식 기준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8358A4-A227-27BE-BE10-C27ABF42F470}"/>
              </a:ext>
            </a:extLst>
          </p:cNvPr>
          <p:cNvSpPr/>
          <p:nvPr/>
        </p:nvSpPr>
        <p:spPr>
          <a:xfrm>
            <a:off x="7501701" y="6296765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주요 음식 </a:t>
            </a:r>
            <a:r>
              <a:rPr lang="ko-KR" altLang="en-US" spc="-80" dirty="0" err="1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언급량</a:t>
            </a:r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 변화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C10761C-2BF5-E1C2-8FDC-D74739452663}"/>
              </a:ext>
            </a:extLst>
          </p:cNvPr>
          <p:cNvGrpSpPr/>
          <p:nvPr/>
        </p:nvGrpSpPr>
        <p:grpSpPr>
          <a:xfrm>
            <a:off x="7119249" y="6296765"/>
            <a:ext cx="339343" cy="339343"/>
            <a:chOff x="6191070" y="2711708"/>
            <a:chExt cx="339343" cy="339343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C48EC5F2-BDAA-D23B-2BA4-59A6BC4584C2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CF07E3B-06E7-1D59-3B0F-0D4E6B972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AB79CF-DA71-1E32-C8A5-9DEA80ABF16A}"/>
              </a:ext>
            </a:extLst>
          </p:cNvPr>
          <p:cNvSpPr/>
          <p:nvPr/>
        </p:nvSpPr>
        <p:spPr>
          <a:xfrm>
            <a:off x="7528680" y="6636108"/>
            <a:ext cx="2645768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최근 </a:t>
            </a:r>
            <a:r>
              <a:rPr lang="en-US" altLang="ko-KR" sz="14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24</a:t>
            </a:r>
            <a:r>
              <a:rPr lang="ko-KR" altLang="en-US" sz="1400" spc="-8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개월 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기준 </a:t>
            </a:r>
            <a:r>
              <a:rPr lang="ko-KR" altLang="en-US" sz="1400" spc="-80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언급량</a:t>
            </a:r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기준 그래프</a:t>
            </a:r>
            <a:endParaRPr lang="en-US" altLang="ko-KR" sz="1400" b="1" spc="-80" dirty="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6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99CB-C928-874C-50C2-A5A7C7AB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8601782F-F44C-1B7F-56AF-74AD7EB6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117"/>
          <a:stretch>
            <a:fillRect/>
          </a:stretch>
        </p:blipFill>
        <p:spPr>
          <a:xfrm>
            <a:off x="425374" y="1468223"/>
            <a:ext cx="6843144" cy="564567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9004A0A-8A5D-2F55-60C5-1C19377D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36" y="1402820"/>
            <a:ext cx="6931807" cy="512453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52C9A0B-4B23-F69F-DB25-EFE7EA7A6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36" y="1402819"/>
            <a:ext cx="6931807" cy="398461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19A9A0-47CD-D557-0B2D-2F66680A4F00}"/>
              </a:ext>
            </a:extLst>
          </p:cNvPr>
          <p:cNvSpPr/>
          <p:nvPr/>
        </p:nvSpPr>
        <p:spPr>
          <a:xfrm>
            <a:off x="6877734" y="3324224"/>
            <a:ext cx="3529013" cy="5768975"/>
          </a:xfrm>
          <a:prstGeom prst="roundRect">
            <a:avLst>
              <a:gd name="adj" fmla="val 15038"/>
            </a:avLst>
          </a:prstGeom>
          <a:solidFill>
            <a:schemeClr val="bg1"/>
          </a:solidFill>
          <a:ln>
            <a:solidFill>
              <a:srgbClr val="9A8B80"/>
            </a:solidFill>
          </a:ln>
          <a:effectLst>
            <a:glow rad="76200">
              <a:srgbClr val="9A8B80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946C8D-3BA6-A625-646E-88C8481D60A0}"/>
              </a:ext>
            </a:extLst>
          </p:cNvPr>
          <p:cNvSpPr/>
          <p:nvPr/>
        </p:nvSpPr>
        <p:spPr>
          <a:xfrm>
            <a:off x="7501701" y="3644784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이미지 등록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D9B709-C25B-4DFD-D259-C8C818B7B627}"/>
              </a:ext>
            </a:extLst>
          </p:cNvPr>
          <p:cNvGrpSpPr/>
          <p:nvPr/>
        </p:nvGrpSpPr>
        <p:grpSpPr>
          <a:xfrm>
            <a:off x="7119249" y="3644784"/>
            <a:ext cx="339343" cy="339343"/>
            <a:chOff x="6191070" y="2711708"/>
            <a:chExt cx="339343" cy="33934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A850E41-3813-24E1-37BA-7B846263827B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AB7C888-04C0-47ED-8FCE-071428E56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282B23-74AC-C74C-4318-22DADB847DBA}"/>
              </a:ext>
            </a:extLst>
          </p:cNvPr>
          <p:cNvSpPr/>
          <p:nvPr/>
        </p:nvSpPr>
        <p:spPr>
          <a:xfrm>
            <a:off x="7528680" y="3984127"/>
            <a:ext cx="2395704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파일 단일 업로드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폴더 업로드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A2496A-F017-3E65-AC7B-85C816986F37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Ⅲ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웹 서비스 구현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A1B58F5-7450-0E28-AC36-550E477BA1A9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16A7AD9-0F11-942C-5A23-43FB8F6F0EBC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6110EB-9B29-DC85-E00B-13740D5F14C1}"/>
              </a:ext>
            </a:extLst>
          </p:cNvPr>
          <p:cNvSpPr/>
          <p:nvPr/>
        </p:nvSpPr>
        <p:spPr>
          <a:xfrm>
            <a:off x="1025869" y="688851"/>
            <a:ext cx="1533044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9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웹 페이지 구현</a:t>
            </a:r>
            <a:endParaRPr lang="en-US" altLang="ko-KR" sz="1400" spc="-9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52CC8911-9035-4121-9239-64421D6FB0DF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CEB8AF-00C3-7EF4-B8CB-2B3AB1D0B338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04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78D0AB0-0690-DE90-CDC8-B78ADF90D4F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2227E5E-1824-EB21-200E-DA6A2E03BD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36" y="1402819"/>
            <a:ext cx="5227863" cy="6007874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9355BCC9-17EC-51BD-4211-5FA49B445EF3}"/>
              </a:ext>
            </a:extLst>
          </p:cNvPr>
          <p:cNvSpPr/>
          <p:nvPr/>
        </p:nvSpPr>
        <p:spPr>
          <a:xfrm>
            <a:off x="7501701" y="4657720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음식 예측 결과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63BD2DD-5065-4BE1-8A20-1F78E294F311}"/>
              </a:ext>
            </a:extLst>
          </p:cNvPr>
          <p:cNvGrpSpPr/>
          <p:nvPr/>
        </p:nvGrpSpPr>
        <p:grpSpPr>
          <a:xfrm>
            <a:off x="7119249" y="4657720"/>
            <a:ext cx="339343" cy="339343"/>
            <a:chOff x="6191070" y="2711708"/>
            <a:chExt cx="339343" cy="339343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DED8371-FD1D-CF77-EA40-2552F571DE24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37C2DE06-E3C1-EB3C-0F5D-C0DD513FA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165C820-6AA3-085E-0E3A-F2F0A90BAF93}"/>
              </a:ext>
            </a:extLst>
          </p:cNvPr>
          <p:cNvSpPr/>
          <p:nvPr/>
        </p:nvSpPr>
        <p:spPr>
          <a:xfrm>
            <a:off x="7528680" y="4997063"/>
            <a:ext cx="2395704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주요 재료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양념 재료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상위 확률 </a:t>
            </a:r>
            <a:r>
              <a: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TOP5</a:t>
            </a:r>
            <a:endParaRPr lang="ko-KR" altLang="en-US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BE3CA48-DC2B-A775-3609-16F694A14602}"/>
              </a:ext>
            </a:extLst>
          </p:cNvPr>
          <p:cNvSpPr/>
          <p:nvPr/>
        </p:nvSpPr>
        <p:spPr>
          <a:xfrm>
            <a:off x="7501701" y="6013579"/>
            <a:ext cx="2947207" cy="330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식재료 상세 정보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7C3B918-80BF-07A7-758A-03843593A1FC}"/>
              </a:ext>
            </a:extLst>
          </p:cNvPr>
          <p:cNvGrpSpPr/>
          <p:nvPr/>
        </p:nvGrpSpPr>
        <p:grpSpPr>
          <a:xfrm>
            <a:off x="7119249" y="6013579"/>
            <a:ext cx="339343" cy="339343"/>
            <a:chOff x="6191070" y="2711708"/>
            <a:chExt cx="339343" cy="33934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E456C89-B73E-9B08-74E8-D75104048E9B}"/>
                </a:ext>
              </a:extLst>
            </p:cNvPr>
            <p:cNvSpPr/>
            <p:nvPr/>
          </p:nvSpPr>
          <p:spPr>
            <a:xfrm>
              <a:off x="6191070" y="2711708"/>
              <a:ext cx="339343" cy="339343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6E749CD-4E37-0A4E-081A-5CC3B610A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81518" y="2765704"/>
              <a:ext cx="158446" cy="231351"/>
            </a:xfrm>
            <a:prstGeom prst="rect">
              <a:avLst/>
            </a:prstGeom>
          </p:spPr>
        </p:pic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8B156EE-9832-03D0-71B0-ACE967BBB4F7}"/>
              </a:ext>
            </a:extLst>
          </p:cNvPr>
          <p:cNvSpPr/>
          <p:nvPr/>
        </p:nvSpPr>
        <p:spPr>
          <a:xfrm>
            <a:off x="7528680" y="6352922"/>
            <a:ext cx="2395704" cy="1045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기본 조리 정보 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맛 특징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조리단계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조리 설명</a:t>
            </a:r>
            <a:endParaRPr lang="en-US" altLang="ko-KR" sz="1400" spc="-8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영양 정보 </a:t>
            </a:r>
          </a:p>
        </p:txBody>
      </p:sp>
    </p:spTree>
    <p:extLst>
      <p:ext uri="{BB962C8B-B14F-4D97-AF65-F5344CB8AC3E}">
        <p14:creationId xmlns:p14="http://schemas.microsoft.com/office/powerpoint/2010/main" val="264647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6C0C-562A-B8FA-41AC-B19293E7D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인크루트 - 알려드립니다">
            <a:extLst>
              <a:ext uri="{FF2B5EF4-FFF2-40B4-BE49-F238E27FC236}">
                <a16:creationId xmlns:a16="http://schemas.microsoft.com/office/drawing/2014/main" id="{AE1CC4CD-57C7-853E-7F98-6DAC69CB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5" r="32053"/>
          <a:stretch>
            <a:fillRect/>
          </a:stretch>
        </p:blipFill>
        <p:spPr bwMode="auto">
          <a:xfrm>
            <a:off x="5974449" y="4"/>
            <a:ext cx="4717369" cy="7559667"/>
          </a:xfrm>
          <a:custGeom>
            <a:avLst/>
            <a:gdLst>
              <a:gd name="connsiteX0" fmla="*/ 0 w 4717369"/>
              <a:gd name="connsiteY0" fmla="*/ 0 h 7559667"/>
              <a:gd name="connsiteX1" fmla="*/ 4717369 w 4717369"/>
              <a:gd name="connsiteY1" fmla="*/ 0 h 7559667"/>
              <a:gd name="connsiteX2" fmla="*/ 4717369 w 4717369"/>
              <a:gd name="connsiteY2" fmla="*/ 7559667 h 7559667"/>
              <a:gd name="connsiteX3" fmla="*/ 0 w 4717369"/>
              <a:gd name="connsiteY3" fmla="*/ 7559667 h 75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7369" h="7559667">
                <a:moveTo>
                  <a:pt x="0" y="0"/>
                </a:moveTo>
                <a:lnTo>
                  <a:pt x="4717369" y="0"/>
                </a:lnTo>
                <a:lnTo>
                  <a:pt x="4717369" y="7559667"/>
                </a:lnTo>
                <a:lnTo>
                  <a:pt x="0" y="755966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CD1ADB-58F6-E359-F265-B5BA90756B5A}"/>
              </a:ext>
            </a:extLst>
          </p:cNvPr>
          <p:cNvSpPr/>
          <p:nvPr/>
        </p:nvSpPr>
        <p:spPr>
          <a:xfrm>
            <a:off x="5974448" y="4"/>
            <a:ext cx="4717369" cy="7559675"/>
          </a:xfrm>
          <a:prstGeom prst="rect">
            <a:avLst/>
          </a:prstGeom>
          <a:gradFill>
            <a:gsLst>
              <a:gs pos="0">
                <a:schemeClr val="bg1">
                  <a:alpha val="59000"/>
                </a:schemeClr>
              </a:gs>
              <a:gs pos="99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85" name="자유형: 도형 1084">
            <a:extLst>
              <a:ext uri="{FF2B5EF4-FFF2-40B4-BE49-F238E27FC236}">
                <a16:creationId xmlns:a16="http://schemas.microsoft.com/office/drawing/2014/main" id="{ED4CA555-1B00-C800-5208-17166E69A094}"/>
              </a:ext>
            </a:extLst>
          </p:cNvPr>
          <p:cNvSpPr/>
          <p:nvPr/>
        </p:nvSpPr>
        <p:spPr>
          <a:xfrm flipV="1">
            <a:off x="-13605" y="0"/>
            <a:ext cx="6862244" cy="3779838"/>
          </a:xfrm>
          <a:custGeom>
            <a:avLst/>
            <a:gdLst>
              <a:gd name="connsiteX0" fmla="*/ 0 w 6197659"/>
              <a:gd name="connsiteY0" fmla="*/ 3779838 h 3779838"/>
              <a:gd name="connsiteX1" fmla="*/ 6197659 w 6197659"/>
              <a:gd name="connsiteY1" fmla="*/ 3779838 h 3779838"/>
              <a:gd name="connsiteX2" fmla="*/ 6197659 w 6197659"/>
              <a:gd name="connsiteY2" fmla="*/ 991943 h 3779838"/>
              <a:gd name="connsiteX3" fmla="*/ 5233716 w 6197659"/>
              <a:gd name="connsiteY3" fmla="*/ 0 h 3779838"/>
              <a:gd name="connsiteX4" fmla="*/ 0 w 6197659"/>
              <a:gd name="connsiteY4" fmla="*/ 0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59" h="3779838">
                <a:moveTo>
                  <a:pt x="0" y="3779838"/>
                </a:moveTo>
                <a:lnTo>
                  <a:pt x="6197659" y="3779838"/>
                </a:lnTo>
                <a:lnTo>
                  <a:pt x="6197659" y="991943"/>
                </a:lnTo>
                <a:cubicBezTo>
                  <a:pt x="6197659" y="444108"/>
                  <a:pt x="5766087" y="0"/>
                  <a:pt x="52337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E174D0F2-DC88-EDCB-EA3C-EEE85EBD7944}"/>
              </a:ext>
            </a:extLst>
          </p:cNvPr>
          <p:cNvSpPr/>
          <p:nvPr/>
        </p:nvSpPr>
        <p:spPr>
          <a:xfrm>
            <a:off x="-13607" y="3642614"/>
            <a:ext cx="6862245" cy="3917067"/>
          </a:xfrm>
          <a:custGeom>
            <a:avLst/>
            <a:gdLst>
              <a:gd name="connsiteX0" fmla="*/ 0 w 6197660"/>
              <a:gd name="connsiteY0" fmla="*/ 0 h 3779838"/>
              <a:gd name="connsiteX1" fmla="*/ 5233717 w 6197660"/>
              <a:gd name="connsiteY1" fmla="*/ 0 h 3779838"/>
              <a:gd name="connsiteX2" fmla="*/ 6197660 w 6197660"/>
              <a:gd name="connsiteY2" fmla="*/ 991943 h 3779838"/>
              <a:gd name="connsiteX3" fmla="*/ 6197660 w 6197660"/>
              <a:gd name="connsiteY3" fmla="*/ 3779838 h 3779838"/>
              <a:gd name="connsiteX4" fmla="*/ 0 w 6197660"/>
              <a:gd name="connsiteY4" fmla="*/ 3779838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60" h="3779838">
                <a:moveTo>
                  <a:pt x="0" y="0"/>
                </a:moveTo>
                <a:lnTo>
                  <a:pt x="5233717" y="0"/>
                </a:lnTo>
                <a:cubicBezTo>
                  <a:pt x="5766088" y="0"/>
                  <a:pt x="6197660" y="444108"/>
                  <a:pt x="6197660" y="991943"/>
                </a:cubicBezTo>
                <a:lnTo>
                  <a:pt x="6197660" y="3779838"/>
                </a:lnTo>
                <a:lnTo>
                  <a:pt x="0" y="3779838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0" name="직사각형 1089">
            <a:extLst>
              <a:ext uri="{FF2B5EF4-FFF2-40B4-BE49-F238E27FC236}">
                <a16:creationId xmlns:a16="http://schemas.microsoft.com/office/drawing/2014/main" id="{0D0C3474-2FDA-D593-76E6-4F694383161A}"/>
              </a:ext>
            </a:extLst>
          </p:cNvPr>
          <p:cNvSpPr/>
          <p:nvPr/>
        </p:nvSpPr>
        <p:spPr>
          <a:xfrm>
            <a:off x="1206955" y="1842556"/>
            <a:ext cx="2404836" cy="1280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>
                <a:latin typeface="페이퍼로지 9 Black" pitchFamily="2" charset="-127"/>
                <a:ea typeface="페이퍼로지 9 Black" pitchFamily="2" charset="-127"/>
              </a:rPr>
              <a:t>Ⅳ</a:t>
            </a:r>
            <a:endParaRPr lang="ko-KR" altLang="en-US" sz="8800">
              <a:latin typeface="페이퍼로지 9 Black" pitchFamily="2" charset="-127"/>
              <a:ea typeface="페이퍼로지 9 Black" pitchFamily="2" charset="-127"/>
            </a:endParaRPr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D115AB61-0997-34AF-F6D4-A976F5442B90}"/>
              </a:ext>
            </a:extLst>
          </p:cNvPr>
          <p:cNvGrpSpPr/>
          <p:nvPr/>
        </p:nvGrpSpPr>
        <p:grpSpPr>
          <a:xfrm>
            <a:off x="399146" y="980435"/>
            <a:ext cx="4020454" cy="712177"/>
            <a:chOff x="-20863" y="1282164"/>
            <a:chExt cx="4020454" cy="712177"/>
          </a:xfrm>
        </p:grpSpPr>
        <p:sp>
          <p:nvSpPr>
            <p:cNvPr id="1126" name="직사각형 1125">
              <a:extLst>
                <a:ext uri="{FF2B5EF4-FFF2-40B4-BE49-F238E27FC236}">
                  <a16:creationId xmlns:a16="http://schemas.microsoft.com/office/drawing/2014/main" id="{55D6A7DA-75D0-2D77-4072-C9343B156017}"/>
                </a:ext>
              </a:extLst>
            </p:cNvPr>
            <p:cNvSpPr/>
            <p:nvPr/>
          </p:nvSpPr>
          <p:spPr>
            <a:xfrm>
              <a:off x="-20863" y="1282164"/>
              <a:ext cx="4020454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기업맞춤형 </a:t>
              </a:r>
              <a:r>
                <a:rPr lang="en-US" altLang="ko-KR" sz="1900">
                  <a:latin typeface="페이퍼로지 6 SemiBold" pitchFamily="2" charset="-127"/>
                  <a:ea typeface="페이퍼로지 6 SemiBold" pitchFamily="2" charset="-127"/>
                </a:rPr>
                <a:t>AI-X </a:t>
              </a:r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융복합 인재 양성 교육</a:t>
              </a:r>
            </a:p>
          </p:txBody>
        </p:sp>
        <p:sp>
          <p:nvSpPr>
            <p:cNvPr id="1127" name="직사각형 1126">
              <a:extLst>
                <a:ext uri="{FF2B5EF4-FFF2-40B4-BE49-F238E27FC236}">
                  <a16:creationId xmlns:a16="http://schemas.microsoft.com/office/drawing/2014/main" id="{4EBA3500-FCA2-7F50-0205-B250D13FFF05}"/>
                </a:ext>
              </a:extLst>
            </p:cNvPr>
            <p:cNvSpPr/>
            <p:nvPr/>
          </p:nvSpPr>
          <p:spPr>
            <a:xfrm>
              <a:off x="206828" y="1611925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페이퍼로지 4 Regular" pitchFamily="2" charset="-127"/>
                  <a:ea typeface="페이퍼로지 4 Regular" pitchFamily="2" charset="-127"/>
                </a:rPr>
                <a:t>B2B </a:t>
              </a:r>
              <a:r>
                <a:rPr lang="ko-KR" altLang="en-US" sz="1400">
                  <a:latin typeface="페이퍼로지 4 Regular" pitchFamily="2" charset="-127"/>
                  <a:ea typeface="페이퍼로지 4 Regular" pitchFamily="2" charset="-127"/>
                </a:rPr>
                <a:t>고객 제품 수요량 예측 기반 재고 최적화</a:t>
              </a: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id="{441BBF3C-6F15-B87A-1D5F-639DCE639F2A}"/>
              </a:ext>
            </a:extLst>
          </p:cNvPr>
          <p:cNvGrpSpPr/>
          <p:nvPr/>
        </p:nvGrpSpPr>
        <p:grpSpPr>
          <a:xfrm>
            <a:off x="626837" y="3334507"/>
            <a:ext cx="3565072" cy="705186"/>
            <a:chOff x="206828" y="3622608"/>
            <a:chExt cx="3565072" cy="705186"/>
          </a:xfrm>
        </p:grpSpPr>
        <p:sp>
          <p:nvSpPr>
            <p:cNvPr id="1128" name="직사각형 1127">
              <a:extLst>
                <a:ext uri="{FF2B5EF4-FFF2-40B4-BE49-F238E27FC236}">
                  <a16:creationId xmlns:a16="http://schemas.microsoft.com/office/drawing/2014/main" id="{2A8A9AC4-09DF-37AC-01DC-6675A3FEFB11}"/>
                </a:ext>
              </a:extLst>
            </p:cNvPr>
            <p:cNvSpPr/>
            <p:nvPr/>
          </p:nvSpPr>
          <p:spPr>
            <a:xfrm>
              <a:off x="206828" y="362260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>
                  <a:latin typeface="페이퍼로지 6 SemiBold" pitchFamily="2" charset="-127"/>
                  <a:ea typeface="페이퍼로지 6 SemiBold" pitchFamily="2" charset="-127"/>
                </a:rPr>
                <a:t>개발 환경 및 협업</a:t>
              </a:r>
            </a:p>
          </p:txBody>
        </p:sp>
        <p:sp>
          <p:nvSpPr>
            <p:cNvPr id="1130" name="직사각형 1129">
              <a:extLst>
                <a:ext uri="{FF2B5EF4-FFF2-40B4-BE49-F238E27FC236}">
                  <a16:creationId xmlns:a16="http://schemas.microsoft.com/office/drawing/2014/main" id="{9AB58D7C-B459-67B8-A778-FD89CC9BFB35}"/>
                </a:ext>
              </a:extLst>
            </p:cNvPr>
            <p:cNvSpPr/>
            <p:nvPr/>
          </p:nvSpPr>
          <p:spPr>
            <a:xfrm>
              <a:off x="206828" y="394537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Development Environment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4181C3D7-5E0C-A1E7-35E0-9762838E25DD}"/>
              </a:ext>
            </a:extLst>
          </p:cNvPr>
          <p:cNvSpPr/>
          <p:nvPr/>
        </p:nvSpPr>
        <p:spPr>
          <a:xfrm>
            <a:off x="1421494" y="4409453"/>
            <a:ext cx="2998105" cy="130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01.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개발환경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02.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역할분담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03.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세부 설정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EB856CA4-F214-6011-6138-FDF93DDAB6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896" y="5975658"/>
            <a:ext cx="1162954" cy="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4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5D6C-B5C4-DA68-536E-D6CA703D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A92FD54-A769-0C47-B10E-600086D7D715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Ⅳ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개발환경 및 협업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A3B9DEA-65D0-4979-5C0D-869871CA382E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3826B16-0FB8-DFBB-AF5B-A325A5011731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A163B1-6CC4-35A0-618C-59A9684DB98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개발환경</a:t>
            </a:r>
            <a:endParaRPr lang="en-US" altLang="ko-KR" sz="140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FB3332F1-B1A7-F2AB-07C5-2264FB7C263C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C564CB-567A-A5FA-891E-E51DB76D0408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62D17F2-B744-FAE5-1567-0BC27F33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705A5078-C727-386B-B62D-8BD767F47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44301"/>
              </p:ext>
            </p:extLst>
          </p:nvPr>
        </p:nvGraphicFramePr>
        <p:xfrm>
          <a:off x="800101" y="1511299"/>
          <a:ext cx="8734425" cy="5375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8704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6995721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</a:tblGrid>
              <a:tr h="315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기술명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개발 환경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08000">
                        <a:defRPr/>
                      </a:pP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Windows 11, </a:t>
                      </a: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VSCode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, </a:t>
                      </a: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Jupyter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 Notebook, Google </a:t>
                      </a: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Colab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 Pro+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9027458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언어 </a:t>
                      </a:r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프레임워크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>
                        <a:defRPr/>
                      </a:pP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Python 3.10, Flask(Jinja2), Bootstrap 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181119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AI </a:t>
                      </a:r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모델</a:t>
                      </a:r>
                      <a:endParaRPr lang="en-US" altLang="ko-KR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EffidientNet-B3</a:t>
                      </a:r>
                      <a:r>
                        <a:rPr lang="en-US" altLang="ko-KR" sz="1400">
                          <a:solidFill>
                            <a:srgbClr val="3F3F48"/>
                          </a:solidFill>
                          <a:latin typeface="+mn-ea"/>
                        </a:rPr>
                        <a:t>, ResNet18, ML(XGBoost, RandomForest,SVM,LR,LGBM)</a:t>
                      </a:r>
                      <a:endParaRPr lang="en-US" altLang="ko-KR" sz="14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9995232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라이브러리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PyTorch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, TensorFlow, scikit-learn, pandas, </a:t>
                      </a: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matplotilib</a:t>
                      </a:r>
                      <a:endParaRPr lang="en-US" altLang="ko-KR" sz="1400" dirty="0">
                        <a:solidFill>
                          <a:srgbClr val="3F3F48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3962761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DB</a:t>
                      </a:r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MySQL 8.0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버전관리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Git + GitHub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380026"/>
                  </a:ext>
                </a:extLst>
              </a:tr>
              <a:tr h="7228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기타도구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BeautifulSoup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크롤링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),Chart.js(</a:t>
                      </a:r>
                      <a:r>
                        <a:rPr lang="ko-KR" altLang="en-US" sz="1400" dirty="0">
                          <a:solidFill>
                            <a:srgbClr val="3F3F48"/>
                          </a:solidFill>
                          <a:latin typeface="+mn-ea"/>
                        </a:rPr>
                        <a:t>시각화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),</a:t>
                      </a:r>
                      <a:r>
                        <a:rPr lang="en-US" altLang="ko-KR" sz="1400" dirty="0" err="1">
                          <a:solidFill>
                            <a:srgbClr val="3F3F48"/>
                          </a:solidFill>
                          <a:latin typeface="+mn-ea"/>
                        </a:rPr>
                        <a:t>Streamlit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3F3F48"/>
                          </a:solidFill>
                          <a:latin typeface="+mn-ea"/>
                        </a:rPr>
                        <a:t>간이 테스트 </a:t>
                      </a:r>
                      <a:r>
                        <a:rPr lang="en-US" altLang="ko-KR" sz="1400" dirty="0">
                          <a:solidFill>
                            <a:srgbClr val="3F3F48"/>
                          </a:solidFill>
                          <a:latin typeface="+mn-ea"/>
                        </a:rPr>
                        <a:t>UI)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296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01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E4FA7-492F-FD6F-58A7-1FADCC91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B09A4334-569C-E7E5-94AC-9A4382502AA4}"/>
              </a:ext>
            </a:extLst>
          </p:cNvPr>
          <p:cNvSpPr/>
          <p:nvPr/>
        </p:nvSpPr>
        <p:spPr>
          <a:xfrm>
            <a:off x="871964" y="2232661"/>
            <a:ext cx="2646858" cy="1547173"/>
          </a:xfrm>
          <a:prstGeom prst="round2SameRect">
            <a:avLst>
              <a:gd name="adj1" fmla="val 30749"/>
              <a:gd name="adj2" fmla="val 0"/>
            </a:avLst>
          </a:prstGeom>
          <a:gradFill flip="none" rotWithShape="1">
            <a:gsLst>
              <a:gs pos="100000">
                <a:schemeClr val="bg1">
                  <a:alpha val="40000"/>
                </a:schemeClr>
              </a:gs>
              <a:gs pos="0">
                <a:srgbClr val="FCD6BC"/>
              </a:gs>
            </a:gsLst>
            <a:lin ang="5400000" scaled="1"/>
            <a:tileRect/>
          </a:gradFill>
          <a:ln>
            <a:gradFill>
              <a:gsLst>
                <a:gs pos="0">
                  <a:srgbClr val="F78535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08B4602-F98C-6CEF-4DE7-70917D7973A1}"/>
              </a:ext>
            </a:extLst>
          </p:cNvPr>
          <p:cNvGrpSpPr/>
          <p:nvPr/>
        </p:nvGrpSpPr>
        <p:grpSpPr>
          <a:xfrm>
            <a:off x="871964" y="1843810"/>
            <a:ext cx="2801668" cy="1461206"/>
            <a:chOff x="436336" y="3376769"/>
            <a:chExt cx="3073207" cy="1602828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DE2AF4B-4EA1-5D12-2121-4C59AA364459}"/>
                </a:ext>
              </a:extLst>
            </p:cNvPr>
            <p:cNvSpPr/>
            <p:nvPr/>
          </p:nvSpPr>
          <p:spPr>
            <a:xfrm>
              <a:off x="605158" y="3376769"/>
              <a:ext cx="1244946" cy="331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ko-KR" altLang="en-US" dirty="0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최 장 호</a:t>
              </a:r>
              <a:endParaRPr lang="en-US" altLang="ko-KR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6A9648B-C9BB-9438-2B6D-C748E775408B}"/>
                </a:ext>
              </a:extLst>
            </p:cNvPr>
            <p:cNvSpPr/>
            <p:nvPr/>
          </p:nvSpPr>
          <p:spPr>
            <a:xfrm>
              <a:off x="436336" y="4169670"/>
              <a:ext cx="3073207" cy="809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음식 이미지를 판별하는 </a:t>
              </a:r>
              <a:endParaRPr lang="en-US" altLang="ko-KR" sz="160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구축 및 웹서비스 구현</a:t>
              </a:r>
              <a:endParaRPr lang="en-US" altLang="ko-KR" sz="160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8AD242B7-0028-6979-6EC8-765CBC6FCADE}"/>
              </a:ext>
            </a:extLst>
          </p:cNvPr>
          <p:cNvSpPr/>
          <p:nvPr/>
        </p:nvSpPr>
        <p:spPr>
          <a:xfrm>
            <a:off x="3880021" y="2232664"/>
            <a:ext cx="2646858" cy="1547173"/>
          </a:xfrm>
          <a:prstGeom prst="round2SameRect">
            <a:avLst>
              <a:gd name="adj1" fmla="val 30749"/>
              <a:gd name="adj2" fmla="val 0"/>
            </a:avLst>
          </a:prstGeom>
          <a:gradFill flip="none" rotWithShape="1">
            <a:gsLst>
              <a:gs pos="100000">
                <a:schemeClr val="bg1">
                  <a:alpha val="40000"/>
                </a:schemeClr>
              </a:gs>
              <a:gs pos="0">
                <a:srgbClr val="FCD6BC"/>
              </a:gs>
            </a:gsLst>
            <a:lin ang="5400000" scaled="1"/>
            <a:tileRect/>
          </a:gradFill>
          <a:ln>
            <a:gradFill>
              <a:gsLst>
                <a:gs pos="0">
                  <a:srgbClr val="F78535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BE62763-A9F3-8557-3D6C-CF7A73815E5C}"/>
              </a:ext>
            </a:extLst>
          </p:cNvPr>
          <p:cNvGrpSpPr/>
          <p:nvPr/>
        </p:nvGrpSpPr>
        <p:grpSpPr>
          <a:xfrm>
            <a:off x="3880021" y="1843810"/>
            <a:ext cx="2801667" cy="1461207"/>
            <a:chOff x="436336" y="3376769"/>
            <a:chExt cx="3073206" cy="160283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F02E99D-9513-1552-A82D-2770D363F70F}"/>
                </a:ext>
              </a:extLst>
            </p:cNvPr>
            <p:cNvSpPr/>
            <p:nvPr/>
          </p:nvSpPr>
          <p:spPr>
            <a:xfrm>
              <a:off x="605158" y="3376769"/>
              <a:ext cx="1244946" cy="331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ko-KR" altLang="en-US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유성미</a:t>
              </a:r>
              <a:endParaRPr lang="en-US" altLang="ko-KR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C693BB0-689C-E2D9-063E-00848C01BAC2}"/>
                </a:ext>
              </a:extLst>
            </p:cNvPr>
            <p:cNvSpPr/>
            <p:nvPr/>
          </p:nvSpPr>
          <p:spPr>
            <a:xfrm>
              <a:off x="436336" y="4169672"/>
              <a:ext cx="3073206" cy="809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브랜드 이미지를 판별하는 </a:t>
              </a:r>
              <a:endParaRPr lang="en-US" altLang="ko-KR" sz="16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모델 </a:t>
              </a:r>
              <a:r>
                <a:rPr lang="ko-KR" altLang="en-US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구축 및 데이터 수집</a:t>
              </a:r>
              <a:endParaRPr lang="en-US" altLang="ko-KR" sz="16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15" name="사각형: 둥근 위쪽 모서리 14">
            <a:extLst>
              <a:ext uri="{FF2B5EF4-FFF2-40B4-BE49-F238E27FC236}">
                <a16:creationId xmlns:a16="http://schemas.microsoft.com/office/drawing/2014/main" id="{875F3C3A-5148-B54D-5F49-7711231A5106}"/>
              </a:ext>
            </a:extLst>
          </p:cNvPr>
          <p:cNvSpPr/>
          <p:nvPr/>
        </p:nvSpPr>
        <p:spPr>
          <a:xfrm>
            <a:off x="7018182" y="2232664"/>
            <a:ext cx="2646858" cy="1547173"/>
          </a:xfrm>
          <a:prstGeom prst="round2SameRect">
            <a:avLst>
              <a:gd name="adj1" fmla="val 30749"/>
              <a:gd name="adj2" fmla="val 0"/>
            </a:avLst>
          </a:prstGeom>
          <a:gradFill flip="none" rotWithShape="1">
            <a:gsLst>
              <a:gs pos="100000">
                <a:schemeClr val="bg1">
                  <a:alpha val="40000"/>
                </a:schemeClr>
              </a:gs>
              <a:gs pos="0">
                <a:srgbClr val="FCD6BC"/>
              </a:gs>
            </a:gsLst>
            <a:lin ang="5400000" scaled="1"/>
            <a:tileRect/>
          </a:gradFill>
          <a:ln>
            <a:gradFill>
              <a:gsLst>
                <a:gs pos="0">
                  <a:srgbClr val="F78535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6FE1B34-FC6E-B77E-8CD1-1E398BFAA61F}"/>
              </a:ext>
            </a:extLst>
          </p:cNvPr>
          <p:cNvGrpSpPr/>
          <p:nvPr/>
        </p:nvGrpSpPr>
        <p:grpSpPr>
          <a:xfrm>
            <a:off x="7018182" y="1843810"/>
            <a:ext cx="2801667" cy="1461207"/>
            <a:chOff x="436336" y="3376769"/>
            <a:chExt cx="3073206" cy="160283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724F5FD-70B3-FD6C-49AB-F467350572DA}"/>
                </a:ext>
              </a:extLst>
            </p:cNvPr>
            <p:cNvSpPr/>
            <p:nvPr/>
          </p:nvSpPr>
          <p:spPr>
            <a:xfrm>
              <a:off x="605158" y="3376769"/>
              <a:ext cx="1244946" cy="331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ko-KR" altLang="en-US">
                  <a:solidFill>
                    <a:schemeClr val="tx1"/>
                  </a:solidFill>
                  <a:latin typeface="페이퍼로지 6 SemiBold" pitchFamily="2" charset="-127"/>
                  <a:ea typeface="페이퍼로지 6 SemiBold" pitchFamily="2" charset="-127"/>
                </a:rPr>
                <a:t>박광수</a:t>
              </a:r>
              <a:endParaRPr lang="en-US" altLang="ko-KR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3CC2BC1-3731-E5AA-18FE-EC1E39063BFA}"/>
                </a:ext>
              </a:extLst>
            </p:cNvPr>
            <p:cNvSpPr/>
            <p:nvPr/>
          </p:nvSpPr>
          <p:spPr>
            <a:xfrm>
              <a:off x="436336" y="4169672"/>
              <a:ext cx="3073206" cy="8099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데이터 수집</a:t>
              </a:r>
              <a:r>
                <a:rPr lang="en-US" altLang="ko-KR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,</a:t>
              </a:r>
              <a:r>
                <a:rPr lang="ko-KR" altLang="en-US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정제</a:t>
              </a:r>
              <a:r>
                <a:rPr lang="en-US" altLang="ko-KR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,</a:t>
              </a:r>
              <a:r>
                <a:rPr lang="ko-KR" altLang="en-US" sz="1600" dirty="0">
                  <a:solidFill>
                    <a:srgbClr val="F78535"/>
                  </a:solidFill>
                  <a:latin typeface="페이퍼로지 6 SemiBold" pitchFamily="2" charset="-127"/>
                  <a:ea typeface="페이퍼로지 6 SemiBold" pitchFamily="2" charset="-127"/>
                </a:rPr>
                <a:t>취합 </a:t>
              </a: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B2DCF6C-B13B-1DC3-0F43-D35D06F446E6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Ⅳ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개발환경 및 협업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74785DD-2DE9-B858-7B17-04B38161CDCA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9993744-DC78-DFCD-4A6E-42346BB9F7FE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E4BFB29-D70C-8C77-ED78-7D1BA5E0A1A4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역할분담</a:t>
            </a:r>
            <a:endParaRPr lang="en-US" altLang="ko-KR" sz="140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44125A4E-51F1-202D-31EE-01F505BCABE2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4A7BE26-40E5-E169-5349-15756C7BF551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37EB259-2053-2DC5-4323-A3747D73011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679D0868-CB23-8516-31C8-142420C5DB4D}"/>
              </a:ext>
            </a:extLst>
          </p:cNvPr>
          <p:cNvGrpSpPr/>
          <p:nvPr/>
        </p:nvGrpSpPr>
        <p:grpSpPr>
          <a:xfrm>
            <a:off x="985089" y="3385814"/>
            <a:ext cx="2420608" cy="2143918"/>
            <a:chOff x="985089" y="4896466"/>
            <a:chExt cx="2420608" cy="2143918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EFAE23DB-7908-64B1-3753-91237D7E0BC7}"/>
                </a:ext>
              </a:extLst>
            </p:cNvPr>
            <p:cNvSpPr/>
            <p:nvPr/>
          </p:nvSpPr>
          <p:spPr>
            <a:xfrm>
              <a:off x="985089" y="48964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1 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설계 및 구성 </a:t>
              </a:r>
              <a:endParaRPr lang="en-US" altLang="ko-KR" sz="12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b="1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(ResNet50,Efficient-B2,XGBOOST</a:t>
              </a:r>
              <a:r>
                <a:rPr lang="ko-KR" altLang="en-US" sz="1000" b="1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000" b="1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200" b="1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A8DA299-CA7B-5873-3384-276F2EFC6123}"/>
                </a:ext>
              </a:extLst>
            </p:cNvPr>
            <p:cNvSpPr/>
            <p:nvPr/>
          </p:nvSpPr>
          <p:spPr>
            <a:xfrm>
              <a:off x="985089" y="54797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웹 총괄 기획 및 제작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E29F311-656C-CCAE-8A41-C225494B93EF}"/>
                </a:ext>
              </a:extLst>
            </p:cNvPr>
            <p:cNvSpPr/>
            <p:nvPr/>
          </p:nvSpPr>
          <p:spPr>
            <a:xfrm>
              <a:off x="985089" y="60630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DB 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기획 및 구성 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66E42C7-2998-DFAB-8CA8-3EA481A813B1}"/>
                </a:ext>
              </a:extLst>
            </p:cNvPr>
            <p:cNvSpPr/>
            <p:nvPr/>
          </p:nvSpPr>
          <p:spPr>
            <a:xfrm>
              <a:off x="985089" y="6646365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프로젝트 관리 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(git 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총괄 관리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2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BF08152-359C-B638-3BCD-16078D453B55}"/>
              </a:ext>
            </a:extLst>
          </p:cNvPr>
          <p:cNvGrpSpPr/>
          <p:nvPr/>
        </p:nvGrpSpPr>
        <p:grpSpPr>
          <a:xfrm>
            <a:off x="3993146" y="3385814"/>
            <a:ext cx="2420608" cy="2143917"/>
            <a:chOff x="985089" y="4896466"/>
            <a:chExt cx="2420608" cy="2143917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183FE9E-7603-C0CD-F84A-73206993183E}"/>
                </a:ext>
              </a:extLst>
            </p:cNvPr>
            <p:cNvSpPr/>
            <p:nvPr/>
          </p:nvSpPr>
          <p:spPr>
            <a:xfrm>
              <a:off x="985089" y="48964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모델 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2 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설계 및 구성</a:t>
              </a:r>
              <a:endParaRPr lang="en-US" altLang="ko-KR" sz="12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r>
                <a:rPr lang="en-US" altLang="ko-KR" sz="1000" b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(ResNet50,Efficient-B3</a:t>
              </a:r>
              <a:r>
                <a:rPr lang="ko-KR" altLang="en-US" sz="1000" b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  <a:r>
                <a:rPr lang="en-US" altLang="ko-KR" sz="1000" b="1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000" b="1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789B5B44-BA4F-D253-EC44-03CD45DA1AD1}"/>
                </a:ext>
              </a:extLst>
            </p:cNvPr>
            <p:cNvSpPr/>
            <p:nvPr/>
          </p:nvSpPr>
          <p:spPr>
            <a:xfrm>
              <a:off x="985089" y="54797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데이터 </a:t>
              </a:r>
              <a:r>
                <a:rPr lang="ko-KR" altLang="en-US" sz="1200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크롤링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진행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(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정적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,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동적</a:t>
              </a:r>
              <a:r>
                <a:rPr lang="en-US" altLang="ko-KR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)</a:t>
              </a:r>
              <a:endParaRPr lang="ko-KR" altLang="en-US" sz="12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A41B1A2F-B0C0-C79B-288A-0BDD02ABF75B}"/>
                </a:ext>
              </a:extLst>
            </p:cNvPr>
            <p:cNvSpPr/>
            <p:nvPr/>
          </p:nvSpPr>
          <p:spPr>
            <a:xfrm>
              <a:off x="985089" y="6063066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이미지 데이터 노이즈 제거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E389A35-4AE5-FED2-785B-7520839760EB}"/>
                </a:ext>
              </a:extLst>
            </p:cNvPr>
            <p:cNvSpPr/>
            <p:nvPr/>
          </p:nvSpPr>
          <p:spPr>
            <a:xfrm>
              <a:off x="985089" y="6646364"/>
              <a:ext cx="2420608" cy="3940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F785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메타 데이터 정제 작업</a:t>
              </a: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AEF676F-498F-B936-9F22-EA7E03BD97BF}"/>
              </a:ext>
            </a:extLst>
          </p:cNvPr>
          <p:cNvSpPr/>
          <p:nvPr/>
        </p:nvSpPr>
        <p:spPr>
          <a:xfrm>
            <a:off x="7131307" y="3385814"/>
            <a:ext cx="2420608" cy="3940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F78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메타 데이터 수집 및 취합</a:t>
            </a:r>
          </a:p>
        </p:txBody>
      </p:sp>
    </p:spTree>
    <p:extLst>
      <p:ext uri="{BB962C8B-B14F-4D97-AF65-F5344CB8AC3E}">
        <p14:creationId xmlns:p14="http://schemas.microsoft.com/office/powerpoint/2010/main" val="143238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C011656-6E9C-E7C1-8CF3-0B4CC00BB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475718"/>
              </p:ext>
            </p:extLst>
          </p:nvPr>
        </p:nvGraphicFramePr>
        <p:xfrm>
          <a:off x="539679" y="1511301"/>
          <a:ext cx="9612452" cy="59770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396">
                  <a:extLst>
                    <a:ext uri="{9D8B030D-6E8A-4147-A177-3AD203B41FA5}">
                      <a16:colId xmlns:a16="http://schemas.microsoft.com/office/drawing/2014/main" val="1144041550"/>
                    </a:ext>
                  </a:extLst>
                </a:gridCol>
                <a:gridCol w="1573968">
                  <a:extLst>
                    <a:ext uri="{9D8B030D-6E8A-4147-A177-3AD203B41FA5}">
                      <a16:colId xmlns:a16="http://schemas.microsoft.com/office/drawing/2014/main" val="3363747221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961480816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887640998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4067555143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2038158419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1216583738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764720026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2781246081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3974683610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195176119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2308820514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2513038519"/>
                    </a:ext>
                  </a:extLst>
                </a:gridCol>
                <a:gridCol w="597424">
                  <a:extLst>
                    <a:ext uri="{9D8B030D-6E8A-4147-A177-3AD203B41FA5}">
                      <a16:colId xmlns:a16="http://schemas.microsoft.com/office/drawing/2014/main" val="2175996877"/>
                    </a:ext>
                  </a:extLst>
                </a:gridCol>
              </a:tblGrid>
              <a:tr h="485318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활동</a:t>
                      </a:r>
                      <a:endParaRPr lang="en-US" altLang="ko-KR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ctr" latinLnBrk="1"/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내역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프로젝트 일정 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152468"/>
                  </a:ext>
                </a:extLst>
              </a:tr>
              <a:tr h="65230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10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목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11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금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14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월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15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화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16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17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목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18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금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21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월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22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화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23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endParaRPr lang="en-US" altLang="ko-KR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</a:t>
                      </a: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endParaRPr lang="en-US" altLang="ko-KR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목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25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일</a:t>
                      </a:r>
                      <a:b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</a:b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금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endParaRPr lang="ko-KR" altLang="en-US" sz="1400">
                        <a:solidFill>
                          <a:schemeClr val="bg1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8B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259615"/>
                  </a:ext>
                </a:extLst>
              </a:tr>
              <a:tr h="6523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기획 및 설계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프로젝트 설계</a:t>
                      </a:r>
                      <a:endParaRPr lang="en-US" altLang="ko-KR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9027458"/>
                  </a:ext>
                </a:extLst>
              </a:tr>
              <a:tr h="68402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 수집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1005059"/>
                  </a:ext>
                </a:extLst>
              </a:tr>
              <a:tr h="6523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기술 연구</a:t>
                      </a:r>
                      <a:endParaRPr lang="en-US" altLang="ko-KR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GPT </a:t>
                      </a:r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연동 실습 및 샘플 테스트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181119"/>
                  </a:ext>
                </a:extLst>
              </a:tr>
              <a:tr h="6523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연구 실험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모델 실험 </a:t>
                      </a:r>
                      <a:r>
                        <a:rPr lang="en-US" altLang="ko-KR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&amp; </a:t>
                      </a:r>
                    </a:p>
                    <a:p>
                      <a:pPr algn="ctr" latinLnBrk="1"/>
                      <a:r>
                        <a:rPr lang="en-US" altLang="ko-KR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 </a:t>
                      </a:r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연구 가설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9995232"/>
                  </a:ext>
                </a:extLst>
              </a:tr>
              <a:tr h="5153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시연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8978549"/>
                  </a:ext>
                </a:extLst>
              </a:tr>
              <a:tr h="6523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시스템</a:t>
                      </a:r>
                      <a:endParaRPr lang="en-US" altLang="ko-KR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 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웹 시스템 구현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3962761"/>
                  </a:ext>
                </a:extLst>
              </a:tr>
              <a:tr h="51539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문서작성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결과 보고서 작성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2332158"/>
                  </a:ext>
                </a:extLst>
              </a:tr>
              <a:tr h="5153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 시각화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78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9720256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F41E758B-E07B-A7DE-F251-03F5FF2FC299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Ⅳ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개발환경 및 협업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1EAE05-A9DC-4682-9D55-C23BE7E09C9E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E7F2805-533E-A928-E28E-00B9EAF759DD}"/>
              </a:ext>
            </a:extLst>
          </p:cNvPr>
          <p:cNvSpPr/>
          <p:nvPr/>
        </p:nvSpPr>
        <p:spPr>
          <a:xfrm>
            <a:off x="436336" y="672703"/>
            <a:ext cx="20782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790A805-D21E-DC70-A538-F6D7B5BFD0ED}"/>
              </a:ext>
            </a:extLst>
          </p:cNvPr>
          <p:cNvSpPr/>
          <p:nvPr/>
        </p:nvSpPr>
        <p:spPr>
          <a:xfrm>
            <a:off x="1025869" y="688851"/>
            <a:ext cx="1408176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세부 일정 </a:t>
            </a:r>
            <a:endParaRPr lang="en-US" altLang="ko-KR" sz="1400" dirty="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AC4BE3E1-1C56-99E0-8ECA-248242EC3E99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A84A68-4ABE-0665-1C3E-720A9E74FDD8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03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5B33E3E-06B0-975E-57A7-42E8C4D768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DBA7F77F-13CC-2158-1113-DAE0912248D8}"/>
              </a:ext>
            </a:extLst>
          </p:cNvPr>
          <p:cNvGrpSpPr/>
          <p:nvPr/>
        </p:nvGrpSpPr>
        <p:grpSpPr>
          <a:xfrm>
            <a:off x="9385300" y="1145628"/>
            <a:ext cx="716017" cy="213273"/>
            <a:chOff x="9385300" y="1145628"/>
            <a:chExt cx="716017" cy="213273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57C58DE-64BF-4EAD-ED11-019FEE2A1EB9}"/>
                </a:ext>
              </a:extLst>
            </p:cNvPr>
            <p:cNvSpPr/>
            <p:nvPr/>
          </p:nvSpPr>
          <p:spPr>
            <a:xfrm>
              <a:off x="9963150" y="1145628"/>
              <a:ext cx="138167" cy="213273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474E5DC-4668-CA1D-6B08-01C984288E7F}"/>
                </a:ext>
              </a:extLst>
            </p:cNvPr>
            <p:cNvSpPr/>
            <p:nvPr/>
          </p:nvSpPr>
          <p:spPr>
            <a:xfrm>
              <a:off x="9385300" y="1145628"/>
              <a:ext cx="716017" cy="2132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박광수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27D24D2-8E7F-A51C-FE72-C41EE1AF73DA}"/>
              </a:ext>
            </a:extLst>
          </p:cNvPr>
          <p:cNvGrpSpPr/>
          <p:nvPr/>
        </p:nvGrpSpPr>
        <p:grpSpPr>
          <a:xfrm>
            <a:off x="8600200" y="1145628"/>
            <a:ext cx="716017" cy="213273"/>
            <a:chOff x="8600200" y="1145628"/>
            <a:chExt cx="716017" cy="21327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2C529B2-9FB7-BB89-09D4-C57A83CAB13D}"/>
                </a:ext>
              </a:extLst>
            </p:cNvPr>
            <p:cNvSpPr/>
            <p:nvPr/>
          </p:nvSpPr>
          <p:spPr>
            <a:xfrm>
              <a:off x="9178050" y="1145628"/>
              <a:ext cx="138167" cy="21327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5B5AD07-01C6-24BD-2864-DB9016FE466A}"/>
                </a:ext>
              </a:extLst>
            </p:cNvPr>
            <p:cNvSpPr/>
            <p:nvPr/>
          </p:nvSpPr>
          <p:spPr>
            <a:xfrm>
              <a:off x="8600200" y="1145628"/>
              <a:ext cx="716017" cy="2132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유성미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974FB2F-DA2A-F513-982E-08863EB15253}"/>
              </a:ext>
            </a:extLst>
          </p:cNvPr>
          <p:cNvGrpSpPr/>
          <p:nvPr/>
        </p:nvGrpSpPr>
        <p:grpSpPr>
          <a:xfrm>
            <a:off x="7815100" y="1145628"/>
            <a:ext cx="716017" cy="213273"/>
            <a:chOff x="7815100" y="1145628"/>
            <a:chExt cx="716017" cy="213273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19F1447-9866-A933-DC77-9C10BCB3C73C}"/>
                </a:ext>
              </a:extLst>
            </p:cNvPr>
            <p:cNvSpPr/>
            <p:nvPr/>
          </p:nvSpPr>
          <p:spPr>
            <a:xfrm>
              <a:off x="8392950" y="1145628"/>
              <a:ext cx="138167" cy="213273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A85ADF5-65AB-A88B-E321-7D03E66F581B}"/>
                </a:ext>
              </a:extLst>
            </p:cNvPr>
            <p:cNvSpPr/>
            <p:nvPr/>
          </p:nvSpPr>
          <p:spPr>
            <a:xfrm>
              <a:off x="7815100" y="1145628"/>
              <a:ext cx="716017" cy="2132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 err="1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최장호</a:t>
              </a:r>
              <a:r>
                <a:rPr lang="ko-KR" altLang="en-US" sz="120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 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50B9701-9BEA-6E21-D174-B62331A6B5C3}"/>
              </a:ext>
            </a:extLst>
          </p:cNvPr>
          <p:cNvGrpSpPr/>
          <p:nvPr/>
        </p:nvGrpSpPr>
        <p:grpSpPr>
          <a:xfrm>
            <a:off x="2992275" y="2679154"/>
            <a:ext cx="1113000" cy="573909"/>
            <a:chOff x="2992275" y="2679154"/>
            <a:chExt cx="1113000" cy="573909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C9BFD6C-C1BC-FF8B-C692-824A7B3589B7}"/>
                </a:ext>
              </a:extLst>
            </p:cNvPr>
            <p:cNvSpPr/>
            <p:nvPr/>
          </p:nvSpPr>
          <p:spPr>
            <a:xfrm>
              <a:off x="2992275" y="2679154"/>
              <a:ext cx="1113000" cy="156122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5B72000-7F6D-CD4A-2F37-A73584AFE4FA}"/>
                </a:ext>
              </a:extLst>
            </p:cNvPr>
            <p:cNvSpPr/>
            <p:nvPr/>
          </p:nvSpPr>
          <p:spPr>
            <a:xfrm>
              <a:off x="2992275" y="2888047"/>
              <a:ext cx="1113000" cy="15612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BD106CF-C89C-669E-1D8A-4A2335C9DCB7}"/>
                </a:ext>
              </a:extLst>
            </p:cNvPr>
            <p:cNvSpPr/>
            <p:nvPr/>
          </p:nvSpPr>
          <p:spPr>
            <a:xfrm>
              <a:off x="2992275" y="3096941"/>
              <a:ext cx="1113000" cy="15612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7F2C91B-D0C6-6A33-09E1-4AA0DB6814B2}"/>
              </a:ext>
            </a:extLst>
          </p:cNvPr>
          <p:cNvGrpSpPr/>
          <p:nvPr/>
        </p:nvGrpSpPr>
        <p:grpSpPr>
          <a:xfrm>
            <a:off x="2992274" y="3353901"/>
            <a:ext cx="2354425" cy="573909"/>
            <a:chOff x="2992275" y="3353901"/>
            <a:chExt cx="1113000" cy="573909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46E1900-28DC-5970-8E9D-B3CCA9CB66DB}"/>
                </a:ext>
              </a:extLst>
            </p:cNvPr>
            <p:cNvSpPr/>
            <p:nvPr/>
          </p:nvSpPr>
          <p:spPr>
            <a:xfrm>
              <a:off x="2992275" y="3353901"/>
              <a:ext cx="1113000" cy="156122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611D426-8CF1-583D-B791-794F6BBA1AD2}"/>
                </a:ext>
              </a:extLst>
            </p:cNvPr>
            <p:cNvSpPr/>
            <p:nvPr/>
          </p:nvSpPr>
          <p:spPr>
            <a:xfrm>
              <a:off x="2992275" y="3562794"/>
              <a:ext cx="1113000" cy="15612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01E352B-72DF-7C67-A01A-DD24F1082223}"/>
                </a:ext>
              </a:extLst>
            </p:cNvPr>
            <p:cNvSpPr/>
            <p:nvPr/>
          </p:nvSpPr>
          <p:spPr>
            <a:xfrm>
              <a:off x="2992275" y="3771688"/>
              <a:ext cx="1113000" cy="15612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4BF1D68-ABE1-C53E-4100-5B680FF53BC4}"/>
              </a:ext>
            </a:extLst>
          </p:cNvPr>
          <p:cNvGrpSpPr/>
          <p:nvPr/>
        </p:nvGrpSpPr>
        <p:grpSpPr>
          <a:xfrm>
            <a:off x="5345113" y="4096593"/>
            <a:ext cx="1113000" cy="365015"/>
            <a:chOff x="2992275" y="2679154"/>
            <a:chExt cx="1113000" cy="36501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89E3144-930F-F200-5B3B-C3B295546726}"/>
                </a:ext>
              </a:extLst>
            </p:cNvPr>
            <p:cNvSpPr/>
            <p:nvPr/>
          </p:nvSpPr>
          <p:spPr>
            <a:xfrm>
              <a:off x="2992275" y="2679154"/>
              <a:ext cx="1113000" cy="156122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289187B-84DD-7B85-A9E3-DBEB8146D926}"/>
                </a:ext>
              </a:extLst>
            </p:cNvPr>
            <p:cNvSpPr/>
            <p:nvPr/>
          </p:nvSpPr>
          <p:spPr>
            <a:xfrm>
              <a:off x="2992275" y="2888047"/>
              <a:ext cx="1113000" cy="15612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F107201-2CEA-0B28-668F-91A4BD9E447B}"/>
              </a:ext>
            </a:extLst>
          </p:cNvPr>
          <p:cNvGrpSpPr/>
          <p:nvPr/>
        </p:nvGrpSpPr>
        <p:grpSpPr>
          <a:xfrm>
            <a:off x="5345110" y="4695514"/>
            <a:ext cx="3546230" cy="565875"/>
            <a:chOff x="2992274" y="2679154"/>
            <a:chExt cx="2126836" cy="56587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4B32FD1-8F43-DF4E-D1C5-2166A03A6554}"/>
                </a:ext>
              </a:extLst>
            </p:cNvPr>
            <p:cNvSpPr/>
            <p:nvPr/>
          </p:nvSpPr>
          <p:spPr>
            <a:xfrm>
              <a:off x="2992275" y="2679154"/>
              <a:ext cx="1113000" cy="156122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F067C64F-F485-E3BA-9522-7FDBD1448B2F}"/>
                </a:ext>
              </a:extLst>
            </p:cNvPr>
            <p:cNvSpPr/>
            <p:nvPr/>
          </p:nvSpPr>
          <p:spPr>
            <a:xfrm>
              <a:off x="2992275" y="2888047"/>
              <a:ext cx="1878486" cy="15612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01D8945-EC1C-FB93-36A1-27F29E10F7BA}"/>
                </a:ext>
              </a:extLst>
            </p:cNvPr>
            <p:cNvSpPr/>
            <p:nvPr/>
          </p:nvSpPr>
          <p:spPr>
            <a:xfrm>
              <a:off x="2992274" y="3088907"/>
              <a:ext cx="2126836" cy="15612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C273CEA-B6D4-9F09-AE67-CE8C70B0B41C}"/>
              </a:ext>
            </a:extLst>
          </p:cNvPr>
          <p:cNvSpPr/>
          <p:nvPr/>
        </p:nvSpPr>
        <p:spPr>
          <a:xfrm>
            <a:off x="7815100" y="5355610"/>
            <a:ext cx="1076243" cy="156122"/>
          </a:xfrm>
          <a:prstGeom prst="rect">
            <a:avLst/>
          </a:prstGeom>
          <a:solidFill>
            <a:srgbClr val="3151F3"/>
          </a:solidFill>
          <a:ln>
            <a:solidFill>
              <a:srgbClr val="3151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36AA4AC-BEF6-012C-6ECA-1753847D8090}"/>
              </a:ext>
            </a:extLst>
          </p:cNvPr>
          <p:cNvSpPr/>
          <p:nvPr/>
        </p:nvSpPr>
        <p:spPr>
          <a:xfrm>
            <a:off x="7815100" y="5586134"/>
            <a:ext cx="1076243" cy="15612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7A4C302-8C63-93DF-7956-D9B4D211CB74}"/>
              </a:ext>
            </a:extLst>
          </p:cNvPr>
          <p:cNvSpPr/>
          <p:nvPr/>
        </p:nvSpPr>
        <p:spPr>
          <a:xfrm>
            <a:off x="9075888" y="5858573"/>
            <a:ext cx="1076243" cy="156122"/>
          </a:xfrm>
          <a:prstGeom prst="rect">
            <a:avLst/>
          </a:prstGeom>
          <a:solidFill>
            <a:srgbClr val="3151F3"/>
          </a:solidFill>
          <a:ln>
            <a:solidFill>
              <a:srgbClr val="3151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B2A3D11-8AF0-63E5-8C7D-C07AC45F47AA}"/>
              </a:ext>
            </a:extLst>
          </p:cNvPr>
          <p:cNvSpPr/>
          <p:nvPr/>
        </p:nvSpPr>
        <p:spPr>
          <a:xfrm>
            <a:off x="8537766" y="6041806"/>
            <a:ext cx="1076243" cy="15612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8379C0-68CB-C6E2-AEAA-BC4485B8F1F0}"/>
              </a:ext>
            </a:extLst>
          </p:cNvPr>
          <p:cNvSpPr/>
          <p:nvPr/>
        </p:nvSpPr>
        <p:spPr>
          <a:xfrm>
            <a:off x="8537767" y="6257925"/>
            <a:ext cx="538122" cy="15612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9D48ED-1132-9F07-E704-51E649EFAAAD}"/>
              </a:ext>
            </a:extLst>
          </p:cNvPr>
          <p:cNvSpPr/>
          <p:nvPr/>
        </p:nvSpPr>
        <p:spPr>
          <a:xfrm>
            <a:off x="8537766" y="6740705"/>
            <a:ext cx="1614365" cy="15612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E054057-2A7E-2453-7796-0F1BF1331525}"/>
              </a:ext>
            </a:extLst>
          </p:cNvPr>
          <p:cNvSpPr/>
          <p:nvPr/>
        </p:nvSpPr>
        <p:spPr>
          <a:xfrm>
            <a:off x="9614009" y="6557472"/>
            <a:ext cx="538122" cy="156122"/>
          </a:xfrm>
          <a:prstGeom prst="rect">
            <a:avLst/>
          </a:prstGeom>
          <a:solidFill>
            <a:srgbClr val="3151F3"/>
          </a:solidFill>
          <a:ln>
            <a:solidFill>
              <a:srgbClr val="3151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C50408F-4974-C865-F60F-E7CCB79F548A}"/>
              </a:ext>
            </a:extLst>
          </p:cNvPr>
          <p:cNvGrpSpPr/>
          <p:nvPr/>
        </p:nvGrpSpPr>
        <p:grpSpPr>
          <a:xfrm>
            <a:off x="7496013" y="7029148"/>
            <a:ext cx="1113000" cy="365015"/>
            <a:chOff x="2992275" y="2679154"/>
            <a:chExt cx="1113000" cy="3650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3EB79B2-9660-F75A-F505-28ADB984745E}"/>
                </a:ext>
              </a:extLst>
            </p:cNvPr>
            <p:cNvSpPr/>
            <p:nvPr/>
          </p:nvSpPr>
          <p:spPr>
            <a:xfrm>
              <a:off x="2992275" y="2679154"/>
              <a:ext cx="1113000" cy="156122"/>
            </a:xfrm>
            <a:prstGeom prst="rect">
              <a:avLst/>
            </a:prstGeom>
            <a:solidFill>
              <a:srgbClr val="3151F3"/>
            </a:solidFill>
            <a:ln>
              <a:solidFill>
                <a:srgbClr val="3151F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BA728AC-8F0B-B6C4-DD39-569FA017124D}"/>
                </a:ext>
              </a:extLst>
            </p:cNvPr>
            <p:cNvSpPr/>
            <p:nvPr/>
          </p:nvSpPr>
          <p:spPr>
            <a:xfrm>
              <a:off x="2992275" y="2888047"/>
              <a:ext cx="1113000" cy="15612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0821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0894-5BCB-D32A-B2F4-FB372ED6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기업 성장 이미지 - Freepik에서 무료 다운로드">
            <a:extLst>
              <a:ext uri="{FF2B5EF4-FFF2-40B4-BE49-F238E27FC236}">
                <a16:creationId xmlns:a16="http://schemas.microsoft.com/office/drawing/2014/main" id="{0C83A0CD-C479-E24A-836C-61D0C6BEB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58" t="2921" r="4482" b="477"/>
          <a:stretch>
            <a:fillRect/>
          </a:stretch>
        </p:blipFill>
        <p:spPr bwMode="auto">
          <a:xfrm>
            <a:off x="5974448" y="5"/>
            <a:ext cx="4717369" cy="7559675"/>
          </a:xfrm>
          <a:custGeom>
            <a:avLst/>
            <a:gdLst>
              <a:gd name="connsiteX0" fmla="*/ 0 w 4717369"/>
              <a:gd name="connsiteY0" fmla="*/ 0 h 7559675"/>
              <a:gd name="connsiteX1" fmla="*/ 4717369 w 4717369"/>
              <a:gd name="connsiteY1" fmla="*/ 0 h 7559675"/>
              <a:gd name="connsiteX2" fmla="*/ 4717369 w 4717369"/>
              <a:gd name="connsiteY2" fmla="*/ 7559675 h 7559675"/>
              <a:gd name="connsiteX3" fmla="*/ 0 w 4717369"/>
              <a:gd name="connsiteY3" fmla="*/ 7559675 h 755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7369" h="7559675">
                <a:moveTo>
                  <a:pt x="0" y="0"/>
                </a:moveTo>
                <a:lnTo>
                  <a:pt x="4717369" y="0"/>
                </a:lnTo>
                <a:lnTo>
                  <a:pt x="4717369" y="7559675"/>
                </a:lnTo>
                <a:lnTo>
                  <a:pt x="0" y="755967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4AD13BD-D9D2-6819-EE17-84A063191948}"/>
              </a:ext>
            </a:extLst>
          </p:cNvPr>
          <p:cNvSpPr/>
          <p:nvPr/>
        </p:nvSpPr>
        <p:spPr>
          <a:xfrm>
            <a:off x="5974448" y="4"/>
            <a:ext cx="4717369" cy="7559675"/>
          </a:xfrm>
          <a:prstGeom prst="rect">
            <a:avLst/>
          </a:prstGeom>
          <a:gradFill>
            <a:gsLst>
              <a:gs pos="0">
                <a:schemeClr val="bg1">
                  <a:alpha val="59000"/>
                </a:schemeClr>
              </a:gs>
              <a:gs pos="99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/>
          </a:p>
        </p:txBody>
      </p:sp>
      <p:sp>
        <p:nvSpPr>
          <p:cNvPr id="1085" name="자유형: 도형 1084">
            <a:extLst>
              <a:ext uri="{FF2B5EF4-FFF2-40B4-BE49-F238E27FC236}">
                <a16:creationId xmlns:a16="http://schemas.microsoft.com/office/drawing/2014/main" id="{62FC5B68-BE7C-758C-3F1B-9C8567F01F01}"/>
              </a:ext>
            </a:extLst>
          </p:cNvPr>
          <p:cNvSpPr/>
          <p:nvPr/>
        </p:nvSpPr>
        <p:spPr>
          <a:xfrm flipV="1">
            <a:off x="-13605" y="0"/>
            <a:ext cx="6862244" cy="3779838"/>
          </a:xfrm>
          <a:custGeom>
            <a:avLst/>
            <a:gdLst>
              <a:gd name="connsiteX0" fmla="*/ 0 w 6197659"/>
              <a:gd name="connsiteY0" fmla="*/ 3779838 h 3779838"/>
              <a:gd name="connsiteX1" fmla="*/ 6197659 w 6197659"/>
              <a:gd name="connsiteY1" fmla="*/ 3779838 h 3779838"/>
              <a:gd name="connsiteX2" fmla="*/ 6197659 w 6197659"/>
              <a:gd name="connsiteY2" fmla="*/ 991943 h 3779838"/>
              <a:gd name="connsiteX3" fmla="*/ 5233716 w 6197659"/>
              <a:gd name="connsiteY3" fmla="*/ 0 h 3779838"/>
              <a:gd name="connsiteX4" fmla="*/ 0 w 6197659"/>
              <a:gd name="connsiteY4" fmla="*/ 0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59" h="3779838">
                <a:moveTo>
                  <a:pt x="0" y="3779838"/>
                </a:moveTo>
                <a:lnTo>
                  <a:pt x="6197659" y="3779838"/>
                </a:lnTo>
                <a:lnTo>
                  <a:pt x="6197659" y="991943"/>
                </a:lnTo>
                <a:cubicBezTo>
                  <a:pt x="6197659" y="444108"/>
                  <a:pt x="5766087" y="0"/>
                  <a:pt x="5233716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6" name="자유형: 도형 1085">
            <a:extLst>
              <a:ext uri="{FF2B5EF4-FFF2-40B4-BE49-F238E27FC236}">
                <a16:creationId xmlns:a16="http://schemas.microsoft.com/office/drawing/2014/main" id="{8CE28525-09B3-1435-7FB0-BA6EF7AF0EEB}"/>
              </a:ext>
            </a:extLst>
          </p:cNvPr>
          <p:cNvSpPr/>
          <p:nvPr/>
        </p:nvSpPr>
        <p:spPr>
          <a:xfrm>
            <a:off x="-13607" y="3642614"/>
            <a:ext cx="6862245" cy="3917067"/>
          </a:xfrm>
          <a:custGeom>
            <a:avLst/>
            <a:gdLst>
              <a:gd name="connsiteX0" fmla="*/ 0 w 6197660"/>
              <a:gd name="connsiteY0" fmla="*/ 0 h 3779838"/>
              <a:gd name="connsiteX1" fmla="*/ 5233717 w 6197660"/>
              <a:gd name="connsiteY1" fmla="*/ 0 h 3779838"/>
              <a:gd name="connsiteX2" fmla="*/ 6197660 w 6197660"/>
              <a:gd name="connsiteY2" fmla="*/ 991943 h 3779838"/>
              <a:gd name="connsiteX3" fmla="*/ 6197660 w 6197660"/>
              <a:gd name="connsiteY3" fmla="*/ 3779838 h 3779838"/>
              <a:gd name="connsiteX4" fmla="*/ 0 w 6197660"/>
              <a:gd name="connsiteY4" fmla="*/ 3779838 h 377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7660" h="3779838">
                <a:moveTo>
                  <a:pt x="0" y="0"/>
                </a:moveTo>
                <a:lnTo>
                  <a:pt x="5233717" y="0"/>
                </a:lnTo>
                <a:cubicBezTo>
                  <a:pt x="5766088" y="0"/>
                  <a:pt x="6197660" y="444108"/>
                  <a:pt x="6197660" y="991943"/>
                </a:cubicBezTo>
                <a:lnTo>
                  <a:pt x="6197660" y="3779838"/>
                </a:lnTo>
                <a:lnTo>
                  <a:pt x="0" y="3779838"/>
                </a:ln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0" name="직사각형 1089">
            <a:extLst>
              <a:ext uri="{FF2B5EF4-FFF2-40B4-BE49-F238E27FC236}">
                <a16:creationId xmlns:a16="http://schemas.microsoft.com/office/drawing/2014/main" id="{3C74B6DE-CFC4-0F09-0727-AC2123BB6E01}"/>
              </a:ext>
            </a:extLst>
          </p:cNvPr>
          <p:cNvSpPr/>
          <p:nvPr/>
        </p:nvSpPr>
        <p:spPr>
          <a:xfrm>
            <a:off x="1206955" y="1842556"/>
            <a:ext cx="2404836" cy="1280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800">
                <a:latin typeface="페이퍼로지 9 Black" pitchFamily="2" charset="-127"/>
                <a:ea typeface="페이퍼로지 9 Black" pitchFamily="2" charset="-127"/>
              </a:rPr>
              <a:t>Ⅴ</a:t>
            </a:r>
            <a:endParaRPr lang="ko-KR" altLang="en-US" sz="8800">
              <a:latin typeface="페이퍼로지 9 Black" pitchFamily="2" charset="-127"/>
              <a:ea typeface="페이퍼로지 9 Black" pitchFamily="2" charset="-127"/>
            </a:endParaRPr>
          </a:p>
        </p:txBody>
      </p:sp>
      <p:grpSp>
        <p:nvGrpSpPr>
          <p:cNvPr id="1131" name="그룹 1130">
            <a:extLst>
              <a:ext uri="{FF2B5EF4-FFF2-40B4-BE49-F238E27FC236}">
                <a16:creationId xmlns:a16="http://schemas.microsoft.com/office/drawing/2014/main" id="{D74265E7-34BA-D621-A78C-9E1AD4E338BE}"/>
              </a:ext>
            </a:extLst>
          </p:cNvPr>
          <p:cNvGrpSpPr/>
          <p:nvPr/>
        </p:nvGrpSpPr>
        <p:grpSpPr>
          <a:xfrm>
            <a:off x="399146" y="980435"/>
            <a:ext cx="4020454" cy="712177"/>
            <a:chOff x="-20863" y="1282164"/>
            <a:chExt cx="4020454" cy="712177"/>
          </a:xfrm>
        </p:grpSpPr>
        <p:sp>
          <p:nvSpPr>
            <p:cNvPr id="1126" name="직사각형 1125">
              <a:extLst>
                <a:ext uri="{FF2B5EF4-FFF2-40B4-BE49-F238E27FC236}">
                  <a16:creationId xmlns:a16="http://schemas.microsoft.com/office/drawing/2014/main" id="{F13D80E2-9521-8423-4B16-FC76E831F03D}"/>
                </a:ext>
              </a:extLst>
            </p:cNvPr>
            <p:cNvSpPr/>
            <p:nvPr/>
          </p:nvSpPr>
          <p:spPr>
            <a:xfrm>
              <a:off x="-20863" y="1282164"/>
              <a:ext cx="4020454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기업맞춤형 </a:t>
              </a:r>
              <a:r>
                <a:rPr lang="en-US" altLang="ko-KR" sz="1900">
                  <a:latin typeface="페이퍼로지 6 SemiBold" pitchFamily="2" charset="-127"/>
                  <a:ea typeface="페이퍼로지 6 SemiBold" pitchFamily="2" charset="-127"/>
                </a:rPr>
                <a:t>AI-X </a:t>
              </a:r>
              <a:r>
                <a:rPr lang="ko-KR" altLang="en-US" sz="1900">
                  <a:latin typeface="페이퍼로지 6 SemiBold" pitchFamily="2" charset="-127"/>
                  <a:ea typeface="페이퍼로지 6 SemiBold" pitchFamily="2" charset="-127"/>
                </a:rPr>
                <a:t>융복합 인재 양성 교육</a:t>
              </a:r>
            </a:p>
          </p:txBody>
        </p:sp>
        <p:sp>
          <p:nvSpPr>
            <p:cNvPr id="1127" name="직사각형 1126">
              <a:extLst>
                <a:ext uri="{FF2B5EF4-FFF2-40B4-BE49-F238E27FC236}">
                  <a16:creationId xmlns:a16="http://schemas.microsoft.com/office/drawing/2014/main" id="{6AA3F4B7-E589-C461-44F7-0304FABF207E}"/>
                </a:ext>
              </a:extLst>
            </p:cNvPr>
            <p:cNvSpPr/>
            <p:nvPr/>
          </p:nvSpPr>
          <p:spPr>
            <a:xfrm>
              <a:off x="206828" y="1611925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>
                  <a:latin typeface="페이퍼로지 4 Regular" pitchFamily="2" charset="-127"/>
                  <a:ea typeface="페이퍼로지 4 Regular" pitchFamily="2" charset="-127"/>
                </a:rPr>
                <a:t>B2B </a:t>
              </a:r>
              <a:r>
                <a:rPr lang="ko-KR" altLang="en-US" sz="1400">
                  <a:latin typeface="페이퍼로지 4 Regular" pitchFamily="2" charset="-127"/>
                  <a:ea typeface="페이퍼로지 4 Regular" pitchFamily="2" charset="-127"/>
                </a:rPr>
                <a:t>고객 제품 수요량 예측 기반 재고 최적화</a:t>
              </a:r>
            </a:p>
          </p:txBody>
        </p:sp>
      </p:grpSp>
      <p:grpSp>
        <p:nvGrpSpPr>
          <p:cNvPr id="1134" name="그룹 1133">
            <a:extLst>
              <a:ext uri="{FF2B5EF4-FFF2-40B4-BE49-F238E27FC236}">
                <a16:creationId xmlns:a16="http://schemas.microsoft.com/office/drawing/2014/main" id="{9F43446D-BFAE-66FC-6DCA-B22DD1046A99}"/>
              </a:ext>
            </a:extLst>
          </p:cNvPr>
          <p:cNvGrpSpPr/>
          <p:nvPr/>
        </p:nvGrpSpPr>
        <p:grpSpPr>
          <a:xfrm>
            <a:off x="626837" y="3334507"/>
            <a:ext cx="3565072" cy="705186"/>
            <a:chOff x="206828" y="3622608"/>
            <a:chExt cx="3565072" cy="705186"/>
          </a:xfrm>
        </p:grpSpPr>
        <p:sp>
          <p:nvSpPr>
            <p:cNvPr id="1128" name="직사각형 1127">
              <a:extLst>
                <a:ext uri="{FF2B5EF4-FFF2-40B4-BE49-F238E27FC236}">
                  <a16:creationId xmlns:a16="http://schemas.microsoft.com/office/drawing/2014/main" id="{B4079AED-A23E-42E7-780F-1D5979C304F3}"/>
                </a:ext>
              </a:extLst>
            </p:cNvPr>
            <p:cNvSpPr/>
            <p:nvPr/>
          </p:nvSpPr>
          <p:spPr>
            <a:xfrm>
              <a:off x="206828" y="362260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200">
                  <a:latin typeface="페이퍼로지 6 SemiBold" pitchFamily="2" charset="-127"/>
                  <a:ea typeface="페이퍼로지 6 SemiBold" pitchFamily="2" charset="-127"/>
                </a:rPr>
                <a:t>기대효과</a:t>
              </a:r>
            </a:p>
          </p:txBody>
        </p:sp>
        <p:sp>
          <p:nvSpPr>
            <p:cNvPr id="1130" name="직사각형 1129">
              <a:extLst>
                <a:ext uri="{FF2B5EF4-FFF2-40B4-BE49-F238E27FC236}">
                  <a16:creationId xmlns:a16="http://schemas.microsoft.com/office/drawing/2014/main" id="{18C14D2B-86AC-BDD4-9BA9-C18910A7CE3A}"/>
                </a:ext>
              </a:extLst>
            </p:cNvPr>
            <p:cNvSpPr/>
            <p:nvPr/>
          </p:nvSpPr>
          <p:spPr>
            <a:xfrm>
              <a:off x="206828" y="3945378"/>
              <a:ext cx="3565072" cy="3824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페이퍼로지 4 Regular" pitchFamily="2" charset="-127"/>
                  <a:ea typeface="페이퍼로지 4 Regular" pitchFamily="2" charset="-127"/>
                </a:rPr>
                <a:t>Expected Outcomes</a:t>
              </a:r>
              <a:endParaRPr lang="ko-KR" altLang="en-US" sz="1400" dirty="0"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1133" name="직사각형 1132">
            <a:extLst>
              <a:ext uri="{FF2B5EF4-FFF2-40B4-BE49-F238E27FC236}">
                <a16:creationId xmlns:a16="http://schemas.microsoft.com/office/drawing/2014/main" id="{0A9D4C65-5631-8C7B-3130-091BDEBE15F1}"/>
              </a:ext>
            </a:extLst>
          </p:cNvPr>
          <p:cNvSpPr/>
          <p:nvPr/>
        </p:nvSpPr>
        <p:spPr>
          <a:xfrm>
            <a:off x="1421494" y="4409453"/>
            <a:ext cx="2998105" cy="1307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01.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사용자 및 비즈니스 가치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02.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비즈니스 확장 가능성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페이퍼로지 4 Regular" pitchFamily="2" charset="-127"/>
                <a:ea typeface="페이퍼로지 4 Regular" pitchFamily="2" charset="-127"/>
              </a:rPr>
              <a:t>03. </a:t>
            </a:r>
            <a:r>
              <a:rPr lang="ko-KR" altLang="en-US" sz="1400">
                <a:latin typeface="페이퍼로지 4 Regular" pitchFamily="2" charset="-127"/>
                <a:ea typeface="페이퍼로지 4 Regular" pitchFamily="2" charset="-127"/>
              </a:rPr>
              <a:t>한계점 및 개선방향</a:t>
            </a:r>
            <a:endParaRPr lang="en-US" altLang="ko-KR" sz="1400"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6D4BA38-0EB3-3F23-9615-B3072490B5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27896" y="5975658"/>
            <a:ext cx="1162954" cy="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2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94F4-F4E1-A6D6-94DB-2A069C47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6BB8D9AD-4DBB-B0EC-5BF8-A782B71B8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587" y="2545892"/>
            <a:ext cx="6709504" cy="5029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535942C-CCE2-DB97-C44D-922F6DB08167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Ⅴ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기대효과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33F8C9-6EF6-BA15-39C7-F4374CFD5D26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6662C3E-1608-02A4-7A59-FA874159C0C1}"/>
              </a:ext>
            </a:extLst>
          </p:cNvPr>
          <p:cNvSpPr/>
          <p:nvPr/>
        </p:nvSpPr>
        <p:spPr>
          <a:xfrm>
            <a:off x="436336" y="672703"/>
            <a:ext cx="25100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EF6871-B73E-7669-5C6E-CF5B0618093A}"/>
              </a:ext>
            </a:extLst>
          </p:cNvPr>
          <p:cNvSpPr/>
          <p:nvPr/>
        </p:nvSpPr>
        <p:spPr>
          <a:xfrm>
            <a:off x="1025868" y="688851"/>
            <a:ext cx="1933367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사용자 및 비즈니스 가치 </a:t>
            </a:r>
            <a:endParaRPr lang="en-US" altLang="ko-KR" sz="140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3A873F8-7ED1-50E1-F38E-DD57A2F39640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73BCAF6-7C8B-5AFB-3DA8-BDE674FD58CE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84CF69-025F-F836-3DC8-B4CB8E2E586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E6F1648-26FF-E67F-86EF-85ED4DAFF55B}"/>
              </a:ext>
            </a:extLst>
          </p:cNvPr>
          <p:cNvSpPr/>
          <p:nvPr/>
        </p:nvSpPr>
        <p:spPr>
          <a:xfrm>
            <a:off x="712984" y="2907088"/>
            <a:ext cx="2892064" cy="5616802"/>
          </a:xfrm>
          <a:prstGeom prst="roundRect">
            <a:avLst>
              <a:gd name="adj" fmla="val 304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BBB374D-03B6-5536-99D8-BC49190EF1A5}"/>
              </a:ext>
            </a:extLst>
          </p:cNvPr>
          <p:cNvSpPr/>
          <p:nvPr/>
        </p:nvSpPr>
        <p:spPr>
          <a:xfrm>
            <a:off x="1277685" y="3194771"/>
            <a:ext cx="1762662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가설 페르소나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F1B37D-C851-D32C-2498-1918BED972E8}"/>
              </a:ext>
            </a:extLst>
          </p:cNvPr>
          <p:cNvSpPr/>
          <p:nvPr/>
        </p:nvSpPr>
        <p:spPr>
          <a:xfrm>
            <a:off x="1133523" y="3626771"/>
            <a:ext cx="1929065" cy="301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이름 </a:t>
            </a:r>
            <a:r>
              <a:rPr lang="en-US" altLang="ko-KR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: </a:t>
            </a:r>
            <a:r>
              <a:rPr lang="ko-KR" altLang="en-US" sz="1400" dirty="0" err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김미래</a:t>
            </a:r>
            <a:endParaRPr lang="en-US" altLang="ko-KR" sz="140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EFA94A-F3B7-27B4-4DDA-1BF130D38B2B}"/>
              </a:ext>
            </a:extLst>
          </p:cNvPr>
          <p:cNvSpPr/>
          <p:nvPr/>
        </p:nvSpPr>
        <p:spPr>
          <a:xfrm>
            <a:off x="1133523" y="3956313"/>
            <a:ext cx="1929065" cy="3018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업종 </a:t>
            </a:r>
            <a:r>
              <a:rPr lang="en-US" altLang="ko-KR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퓨전 한식당 </a:t>
            </a:r>
            <a:endParaRPr lang="en-US" altLang="ko-KR" sz="140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99D573-A739-06A4-CCC1-E0312D4701F2}"/>
              </a:ext>
            </a:extLst>
          </p:cNvPr>
          <p:cNvSpPr/>
          <p:nvPr/>
        </p:nvSpPr>
        <p:spPr>
          <a:xfrm>
            <a:off x="1133523" y="4230890"/>
            <a:ext cx="2157666" cy="508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특징 </a:t>
            </a:r>
            <a:r>
              <a:rPr lang="en-US" altLang="ko-KR" sz="1400" dirty="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: </a:t>
            </a:r>
            <a:r>
              <a:rPr lang="ko-KR" altLang="en-US" sz="14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도전적이며</a:t>
            </a:r>
            <a:r>
              <a:rPr lang="en-US" altLang="ko-KR" sz="14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창의적인 요리개발에 진심인 사장님</a:t>
            </a:r>
            <a:endParaRPr lang="en-US" altLang="ko-KR" sz="1400" dirty="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47" name="그림 46" descr="클립아트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D69594-FA06-716E-3BFA-33C70A0E8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68" y="5014217"/>
            <a:ext cx="2489444" cy="2489444"/>
          </a:xfrm>
          <a:prstGeom prst="rect">
            <a:avLst/>
          </a:prstGeom>
          <a:effectLst>
            <a:glow rad="127000">
              <a:srgbClr val="97B9F1">
                <a:alpha val="70000"/>
              </a:srgbClr>
            </a:glow>
          </a:effectLst>
        </p:spPr>
      </p:pic>
      <p:grpSp>
        <p:nvGrpSpPr>
          <p:cNvPr id="4115" name="그룹 4114">
            <a:extLst>
              <a:ext uri="{FF2B5EF4-FFF2-40B4-BE49-F238E27FC236}">
                <a16:creationId xmlns:a16="http://schemas.microsoft.com/office/drawing/2014/main" id="{38B83C14-8DFE-7D6C-97AB-9E7AB02EC4BF}"/>
              </a:ext>
            </a:extLst>
          </p:cNvPr>
          <p:cNvGrpSpPr/>
          <p:nvPr/>
        </p:nvGrpSpPr>
        <p:grpSpPr>
          <a:xfrm>
            <a:off x="4413934" y="2907088"/>
            <a:ext cx="1809066" cy="875589"/>
            <a:chOff x="4413934" y="2907088"/>
            <a:chExt cx="1809066" cy="875589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7774975-4FF3-5A8F-FD97-873778318839}"/>
                </a:ext>
              </a:extLst>
            </p:cNvPr>
            <p:cNvGrpSpPr/>
            <p:nvPr/>
          </p:nvGrpSpPr>
          <p:grpSpPr>
            <a:xfrm>
              <a:off x="4413934" y="2907088"/>
              <a:ext cx="1809066" cy="875589"/>
              <a:chOff x="3814677" y="3040041"/>
              <a:chExt cx="3726699" cy="2059304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8A6CB0D1-54C2-4667-B5FA-99399045F31F}"/>
                  </a:ext>
                </a:extLst>
              </p:cNvPr>
              <p:cNvSpPr/>
              <p:nvPr/>
            </p:nvSpPr>
            <p:spPr>
              <a:xfrm>
                <a:off x="3814677" y="3040041"/>
                <a:ext cx="3726699" cy="2059304"/>
              </a:xfrm>
              <a:prstGeom prst="roundRect">
                <a:avLst>
                  <a:gd name="adj" fmla="val 13850"/>
                </a:avLst>
              </a:prstGeom>
              <a:gradFill>
                <a:gsLst>
                  <a:gs pos="0">
                    <a:srgbClr val="2A2A2A"/>
                  </a:gs>
                  <a:gs pos="100000">
                    <a:srgbClr val="00206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8B0E6AD8-950E-E636-6F14-55DFBF6B30B9}"/>
                  </a:ext>
                </a:extLst>
              </p:cNvPr>
              <p:cNvSpPr/>
              <p:nvPr/>
            </p:nvSpPr>
            <p:spPr>
              <a:xfrm rot="16200000">
                <a:off x="3843830" y="3205303"/>
                <a:ext cx="530846" cy="419878"/>
              </a:xfrm>
              <a:custGeom>
                <a:avLst/>
                <a:gdLst>
                  <a:gd name="connsiteX0" fmla="*/ 530846 w 530846"/>
                  <a:gd name="connsiteY0" fmla="*/ 318202 h 419878"/>
                  <a:gd name="connsiteX1" fmla="*/ 530846 w 530846"/>
                  <a:gd name="connsiteY1" fmla="*/ 342200 h 419878"/>
                  <a:gd name="connsiteX2" fmla="*/ 453168 w 530846"/>
                  <a:gd name="connsiteY2" fmla="*/ 419878 h 419878"/>
                  <a:gd name="connsiteX3" fmla="*/ 453168 w 530846"/>
                  <a:gd name="connsiteY3" fmla="*/ 419877 h 419878"/>
                  <a:gd name="connsiteX4" fmla="*/ 375490 w 530846"/>
                  <a:gd name="connsiteY4" fmla="*/ 342199 h 419878"/>
                  <a:gd name="connsiteX5" fmla="*/ 375491 w 530846"/>
                  <a:gd name="connsiteY5" fmla="*/ 318202 h 419878"/>
                  <a:gd name="connsiteX6" fmla="*/ 376858 w 530846"/>
                  <a:gd name="connsiteY6" fmla="*/ 311429 h 419878"/>
                  <a:gd name="connsiteX7" fmla="*/ 376858 w 530846"/>
                  <a:gd name="connsiteY7" fmla="*/ 280165 h 419878"/>
                  <a:gd name="connsiteX8" fmla="*/ 250682 w 530846"/>
                  <a:gd name="connsiteY8" fmla="*/ 153989 h 419878"/>
                  <a:gd name="connsiteX9" fmla="*/ 108450 w 530846"/>
                  <a:gd name="connsiteY9" fmla="*/ 153989 h 419878"/>
                  <a:gd name="connsiteX10" fmla="*/ 101677 w 530846"/>
                  <a:gd name="connsiteY10" fmla="*/ 155357 h 419878"/>
                  <a:gd name="connsiteX11" fmla="*/ 77678 w 530846"/>
                  <a:gd name="connsiteY11" fmla="*/ 155357 h 419878"/>
                  <a:gd name="connsiteX12" fmla="*/ 0 w 530846"/>
                  <a:gd name="connsiteY12" fmla="*/ 77679 h 419878"/>
                  <a:gd name="connsiteX13" fmla="*/ 1 w 530846"/>
                  <a:gd name="connsiteY13" fmla="*/ 77679 h 419878"/>
                  <a:gd name="connsiteX14" fmla="*/ 77679 w 530846"/>
                  <a:gd name="connsiteY14" fmla="*/ 0 h 419878"/>
                  <a:gd name="connsiteX15" fmla="*/ 101677 w 530846"/>
                  <a:gd name="connsiteY15" fmla="*/ 1 h 419878"/>
                  <a:gd name="connsiteX16" fmla="*/ 101679 w 530846"/>
                  <a:gd name="connsiteY16" fmla="*/ 2 h 419878"/>
                  <a:gd name="connsiteX17" fmla="*/ 250682 w 530846"/>
                  <a:gd name="connsiteY17" fmla="*/ 2 h 419878"/>
                  <a:gd name="connsiteX18" fmla="*/ 530845 w 530846"/>
                  <a:gd name="connsiteY18" fmla="*/ 280165 h 419878"/>
                  <a:gd name="connsiteX19" fmla="*/ 530845 w 530846"/>
                  <a:gd name="connsiteY19" fmla="*/ 318200 h 419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0846" h="419878">
                    <a:moveTo>
                      <a:pt x="530846" y="318202"/>
                    </a:moveTo>
                    <a:lnTo>
                      <a:pt x="530846" y="342200"/>
                    </a:lnTo>
                    <a:cubicBezTo>
                      <a:pt x="530846" y="385100"/>
                      <a:pt x="496068" y="419878"/>
                      <a:pt x="453168" y="419878"/>
                    </a:cubicBezTo>
                    <a:lnTo>
                      <a:pt x="453168" y="419877"/>
                    </a:lnTo>
                    <a:cubicBezTo>
                      <a:pt x="410268" y="419877"/>
                      <a:pt x="375490" y="385099"/>
                      <a:pt x="375490" y="342199"/>
                    </a:cubicBezTo>
                    <a:lnTo>
                      <a:pt x="375491" y="318202"/>
                    </a:lnTo>
                    <a:lnTo>
                      <a:pt x="376858" y="311429"/>
                    </a:lnTo>
                    <a:lnTo>
                      <a:pt x="376858" y="280165"/>
                    </a:lnTo>
                    <a:cubicBezTo>
                      <a:pt x="376858" y="210480"/>
                      <a:pt x="320367" y="153989"/>
                      <a:pt x="250682" y="153989"/>
                    </a:cubicBezTo>
                    <a:lnTo>
                      <a:pt x="108450" y="153989"/>
                    </a:lnTo>
                    <a:lnTo>
                      <a:pt x="101677" y="155357"/>
                    </a:lnTo>
                    <a:lnTo>
                      <a:pt x="77678" y="155357"/>
                    </a:lnTo>
                    <a:cubicBezTo>
                      <a:pt x="34778" y="155357"/>
                      <a:pt x="0" y="120579"/>
                      <a:pt x="0" y="77679"/>
                    </a:cubicBezTo>
                    <a:lnTo>
                      <a:pt x="1" y="77679"/>
                    </a:lnTo>
                    <a:cubicBezTo>
                      <a:pt x="1" y="34779"/>
                      <a:pt x="34779" y="0"/>
                      <a:pt x="77679" y="0"/>
                    </a:cubicBezTo>
                    <a:lnTo>
                      <a:pt x="101677" y="1"/>
                    </a:lnTo>
                    <a:lnTo>
                      <a:pt x="101679" y="2"/>
                    </a:lnTo>
                    <a:lnTo>
                      <a:pt x="250682" y="2"/>
                    </a:lnTo>
                    <a:cubicBezTo>
                      <a:pt x="405412" y="2"/>
                      <a:pt x="530845" y="125435"/>
                      <a:pt x="530845" y="280165"/>
                    </a:cubicBezTo>
                    <a:lnTo>
                      <a:pt x="530845" y="3182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CA3E4922-BC94-4263-DCA3-1642DB6EF472}"/>
                  </a:ext>
                </a:extLst>
              </p:cNvPr>
              <p:cNvSpPr/>
              <p:nvPr/>
            </p:nvSpPr>
            <p:spPr>
              <a:xfrm rot="16200000" flipH="1" flipV="1">
                <a:off x="6955950" y="4543788"/>
                <a:ext cx="530846" cy="419878"/>
              </a:xfrm>
              <a:custGeom>
                <a:avLst/>
                <a:gdLst>
                  <a:gd name="connsiteX0" fmla="*/ 530846 w 530846"/>
                  <a:gd name="connsiteY0" fmla="*/ 318202 h 419878"/>
                  <a:gd name="connsiteX1" fmla="*/ 530846 w 530846"/>
                  <a:gd name="connsiteY1" fmla="*/ 342200 h 419878"/>
                  <a:gd name="connsiteX2" fmla="*/ 453168 w 530846"/>
                  <a:gd name="connsiteY2" fmla="*/ 419878 h 419878"/>
                  <a:gd name="connsiteX3" fmla="*/ 453168 w 530846"/>
                  <a:gd name="connsiteY3" fmla="*/ 419877 h 419878"/>
                  <a:gd name="connsiteX4" fmla="*/ 375490 w 530846"/>
                  <a:gd name="connsiteY4" fmla="*/ 342199 h 419878"/>
                  <a:gd name="connsiteX5" fmla="*/ 375491 w 530846"/>
                  <a:gd name="connsiteY5" fmla="*/ 318202 h 419878"/>
                  <a:gd name="connsiteX6" fmla="*/ 376858 w 530846"/>
                  <a:gd name="connsiteY6" fmla="*/ 311429 h 419878"/>
                  <a:gd name="connsiteX7" fmla="*/ 376858 w 530846"/>
                  <a:gd name="connsiteY7" fmla="*/ 280165 h 419878"/>
                  <a:gd name="connsiteX8" fmla="*/ 250682 w 530846"/>
                  <a:gd name="connsiteY8" fmla="*/ 153989 h 419878"/>
                  <a:gd name="connsiteX9" fmla="*/ 108450 w 530846"/>
                  <a:gd name="connsiteY9" fmla="*/ 153989 h 419878"/>
                  <a:gd name="connsiteX10" fmla="*/ 101677 w 530846"/>
                  <a:gd name="connsiteY10" fmla="*/ 155357 h 419878"/>
                  <a:gd name="connsiteX11" fmla="*/ 77678 w 530846"/>
                  <a:gd name="connsiteY11" fmla="*/ 155357 h 419878"/>
                  <a:gd name="connsiteX12" fmla="*/ 0 w 530846"/>
                  <a:gd name="connsiteY12" fmla="*/ 77679 h 419878"/>
                  <a:gd name="connsiteX13" fmla="*/ 1 w 530846"/>
                  <a:gd name="connsiteY13" fmla="*/ 77679 h 419878"/>
                  <a:gd name="connsiteX14" fmla="*/ 77679 w 530846"/>
                  <a:gd name="connsiteY14" fmla="*/ 0 h 419878"/>
                  <a:gd name="connsiteX15" fmla="*/ 101677 w 530846"/>
                  <a:gd name="connsiteY15" fmla="*/ 1 h 419878"/>
                  <a:gd name="connsiteX16" fmla="*/ 101679 w 530846"/>
                  <a:gd name="connsiteY16" fmla="*/ 2 h 419878"/>
                  <a:gd name="connsiteX17" fmla="*/ 250682 w 530846"/>
                  <a:gd name="connsiteY17" fmla="*/ 2 h 419878"/>
                  <a:gd name="connsiteX18" fmla="*/ 530845 w 530846"/>
                  <a:gd name="connsiteY18" fmla="*/ 280165 h 419878"/>
                  <a:gd name="connsiteX19" fmla="*/ 530845 w 530846"/>
                  <a:gd name="connsiteY19" fmla="*/ 318200 h 419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0846" h="419878">
                    <a:moveTo>
                      <a:pt x="530846" y="318202"/>
                    </a:moveTo>
                    <a:lnTo>
                      <a:pt x="530846" y="342200"/>
                    </a:lnTo>
                    <a:cubicBezTo>
                      <a:pt x="530846" y="385100"/>
                      <a:pt x="496068" y="419878"/>
                      <a:pt x="453168" y="419878"/>
                    </a:cubicBezTo>
                    <a:lnTo>
                      <a:pt x="453168" y="419877"/>
                    </a:lnTo>
                    <a:cubicBezTo>
                      <a:pt x="410268" y="419877"/>
                      <a:pt x="375490" y="385099"/>
                      <a:pt x="375490" y="342199"/>
                    </a:cubicBezTo>
                    <a:lnTo>
                      <a:pt x="375491" y="318202"/>
                    </a:lnTo>
                    <a:lnTo>
                      <a:pt x="376858" y="311429"/>
                    </a:lnTo>
                    <a:lnTo>
                      <a:pt x="376858" y="280165"/>
                    </a:lnTo>
                    <a:cubicBezTo>
                      <a:pt x="376858" y="210480"/>
                      <a:pt x="320367" y="153989"/>
                      <a:pt x="250682" y="153989"/>
                    </a:cubicBezTo>
                    <a:lnTo>
                      <a:pt x="108450" y="153989"/>
                    </a:lnTo>
                    <a:lnTo>
                      <a:pt x="101677" y="155357"/>
                    </a:lnTo>
                    <a:lnTo>
                      <a:pt x="77678" y="155357"/>
                    </a:lnTo>
                    <a:cubicBezTo>
                      <a:pt x="34778" y="155357"/>
                      <a:pt x="0" y="120579"/>
                      <a:pt x="0" y="77679"/>
                    </a:cubicBezTo>
                    <a:lnTo>
                      <a:pt x="1" y="77679"/>
                    </a:lnTo>
                    <a:cubicBezTo>
                      <a:pt x="1" y="34779"/>
                      <a:pt x="34779" y="0"/>
                      <a:pt x="77679" y="0"/>
                    </a:cubicBezTo>
                    <a:lnTo>
                      <a:pt x="101677" y="1"/>
                    </a:lnTo>
                    <a:lnTo>
                      <a:pt x="101679" y="2"/>
                    </a:lnTo>
                    <a:lnTo>
                      <a:pt x="250682" y="2"/>
                    </a:lnTo>
                    <a:cubicBezTo>
                      <a:pt x="405412" y="2"/>
                      <a:pt x="530845" y="125435"/>
                      <a:pt x="530845" y="280165"/>
                    </a:cubicBezTo>
                    <a:lnTo>
                      <a:pt x="530845" y="318200"/>
                    </a:lnTo>
                    <a:close/>
                  </a:path>
                </a:pathLst>
              </a:custGeom>
              <a:solidFill>
                <a:srgbClr val="3151F3">
                  <a:alpha val="4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988CCAF-AB21-ADEF-E81F-3C4656B5AACB}"/>
                </a:ext>
              </a:extLst>
            </p:cNvPr>
            <p:cNvSpPr/>
            <p:nvPr/>
          </p:nvSpPr>
          <p:spPr>
            <a:xfrm>
              <a:off x="4471083" y="2981574"/>
              <a:ext cx="1698487" cy="43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ko-KR" altLang="en-US" sz="2400" spc="-8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밤늦은 주방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F9E4FC87-BC3B-328A-4B32-0AC4BD974A28}"/>
                </a:ext>
              </a:extLst>
            </p:cNvPr>
            <p:cNvSpPr/>
            <p:nvPr/>
          </p:nvSpPr>
          <p:spPr>
            <a:xfrm>
              <a:off x="4471084" y="3342770"/>
              <a:ext cx="1698486" cy="43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신메뉴의 압박</a:t>
              </a:r>
              <a:r>
                <a:rPr lang="en-US" altLang="ko-KR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-</a:t>
              </a:r>
              <a:endParaRPr lang="ko-KR" altLang="en-US" sz="14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3BDC597-0BF2-CC49-C5E6-F9BAD2C2FDD6}"/>
              </a:ext>
            </a:extLst>
          </p:cNvPr>
          <p:cNvGrpSpPr/>
          <p:nvPr/>
        </p:nvGrpSpPr>
        <p:grpSpPr>
          <a:xfrm>
            <a:off x="4414618" y="4059476"/>
            <a:ext cx="1938558" cy="338137"/>
            <a:chOff x="6019548" y="2259777"/>
            <a:chExt cx="1938558" cy="338137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A617796-0FDD-02D3-33C0-0C90A9951CCD}"/>
                </a:ext>
              </a:extLst>
            </p:cNvPr>
            <p:cNvGrpSpPr/>
            <p:nvPr/>
          </p:nvGrpSpPr>
          <p:grpSpPr>
            <a:xfrm>
              <a:off x="6019548" y="2259777"/>
              <a:ext cx="1938558" cy="338137"/>
              <a:chOff x="6019548" y="3183370"/>
              <a:chExt cx="1938558" cy="338137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195F31F5-6FD3-2C53-5827-4A173C2174E3}"/>
                  </a:ext>
                </a:extLst>
              </p:cNvPr>
              <p:cNvSpPr/>
              <p:nvPr/>
            </p:nvSpPr>
            <p:spPr>
              <a:xfrm>
                <a:off x="6019548" y="3206035"/>
                <a:ext cx="1938558" cy="27669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EA23E66-5EE0-DC20-87E1-DB99DAFD2B2D}"/>
                  </a:ext>
                </a:extLst>
              </p:cNvPr>
              <p:cNvSpPr/>
              <p:nvPr/>
            </p:nvSpPr>
            <p:spPr>
              <a:xfrm>
                <a:off x="6176929" y="3183370"/>
                <a:ext cx="1459359" cy="338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spc="-8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요즘 뜨는 맛집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09F0B121-1D2F-918C-849B-B9F69806FDA5}"/>
                </a:ext>
              </a:extLst>
            </p:cNvPr>
            <p:cNvGrpSpPr/>
            <p:nvPr/>
          </p:nvGrpSpPr>
          <p:grpSpPr>
            <a:xfrm>
              <a:off x="7687478" y="2336267"/>
              <a:ext cx="169773" cy="163967"/>
              <a:chOff x="7687478" y="2336267"/>
              <a:chExt cx="169773" cy="163967"/>
            </a:xfrm>
          </p:grpSpPr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5464CC18-4B2F-DA77-6280-68165531388C}"/>
                  </a:ext>
                </a:extLst>
              </p:cNvPr>
              <p:cNvSpPr/>
              <p:nvPr/>
            </p:nvSpPr>
            <p:spPr>
              <a:xfrm>
                <a:off x="7687478" y="2336267"/>
                <a:ext cx="141304" cy="14130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81E52C8D-D232-75ED-E7D9-46EA85AB558A}"/>
                  </a:ext>
                </a:extLst>
              </p:cNvPr>
              <p:cNvCxnSpPr>
                <a:cxnSpLocks/>
                <a:stCxn id="53" idx="5"/>
              </p:cNvCxnSpPr>
              <p:nvPr/>
            </p:nvCxnSpPr>
            <p:spPr>
              <a:xfrm>
                <a:off x="7808089" y="2456876"/>
                <a:ext cx="49162" cy="4335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1CAC512-51EC-FC28-514C-4A9E43E45C17}"/>
              </a:ext>
            </a:extLst>
          </p:cNvPr>
          <p:cNvGrpSpPr/>
          <p:nvPr/>
        </p:nvGrpSpPr>
        <p:grpSpPr>
          <a:xfrm>
            <a:off x="4414618" y="4401503"/>
            <a:ext cx="1938558" cy="338137"/>
            <a:chOff x="6019548" y="2259777"/>
            <a:chExt cx="1938558" cy="338137"/>
          </a:xfrm>
        </p:grpSpPr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ED461E71-E7B8-FB9D-AF19-F000D69B3BDD}"/>
                </a:ext>
              </a:extLst>
            </p:cNvPr>
            <p:cNvGrpSpPr/>
            <p:nvPr/>
          </p:nvGrpSpPr>
          <p:grpSpPr>
            <a:xfrm>
              <a:off x="6019548" y="2259777"/>
              <a:ext cx="1938558" cy="338137"/>
              <a:chOff x="6019548" y="3183370"/>
              <a:chExt cx="1938558" cy="338137"/>
            </a:xfrm>
          </p:grpSpPr>
          <p:sp>
            <p:nvSpPr>
              <p:cNvPr id="4099" name="사각형: 둥근 모서리 4098">
                <a:extLst>
                  <a:ext uri="{FF2B5EF4-FFF2-40B4-BE49-F238E27FC236}">
                    <a16:creationId xmlns:a16="http://schemas.microsoft.com/office/drawing/2014/main" id="{983102B1-7E05-F81D-7463-77E3EEEA6700}"/>
                  </a:ext>
                </a:extLst>
              </p:cNvPr>
              <p:cNvSpPr/>
              <p:nvPr/>
            </p:nvSpPr>
            <p:spPr>
              <a:xfrm>
                <a:off x="6019548" y="3206035"/>
                <a:ext cx="1938558" cy="27669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01" name="직사각형 4100">
                <a:extLst>
                  <a:ext uri="{FF2B5EF4-FFF2-40B4-BE49-F238E27FC236}">
                    <a16:creationId xmlns:a16="http://schemas.microsoft.com/office/drawing/2014/main" id="{77D55A41-0F80-7FBF-833C-D15ABA49FFC3}"/>
                  </a:ext>
                </a:extLst>
              </p:cNvPr>
              <p:cNvSpPr/>
              <p:nvPr/>
            </p:nvSpPr>
            <p:spPr>
              <a:xfrm>
                <a:off x="6176929" y="3183370"/>
                <a:ext cx="1459359" cy="338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spc="-8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인기 식재료</a:t>
                </a:r>
              </a:p>
            </p:txBody>
          </p:sp>
        </p:grpSp>
        <p:grpSp>
          <p:nvGrpSpPr>
            <p:cNvPr id="4096" name="그룹 4095">
              <a:extLst>
                <a:ext uri="{FF2B5EF4-FFF2-40B4-BE49-F238E27FC236}">
                  <a16:creationId xmlns:a16="http://schemas.microsoft.com/office/drawing/2014/main" id="{7A96E0BD-6ACB-A66E-9B6D-D7079AEF2258}"/>
                </a:ext>
              </a:extLst>
            </p:cNvPr>
            <p:cNvGrpSpPr/>
            <p:nvPr/>
          </p:nvGrpSpPr>
          <p:grpSpPr>
            <a:xfrm>
              <a:off x="7687478" y="2336267"/>
              <a:ext cx="169773" cy="163967"/>
              <a:chOff x="7687478" y="2336267"/>
              <a:chExt cx="169773" cy="163967"/>
            </a:xfrm>
          </p:grpSpPr>
          <p:sp>
            <p:nvSpPr>
              <p:cNvPr id="4097" name="타원 4096">
                <a:extLst>
                  <a:ext uri="{FF2B5EF4-FFF2-40B4-BE49-F238E27FC236}">
                    <a16:creationId xmlns:a16="http://schemas.microsoft.com/office/drawing/2014/main" id="{88DBBA5F-B349-D942-1A83-BF8CFB745149}"/>
                  </a:ext>
                </a:extLst>
              </p:cNvPr>
              <p:cNvSpPr/>
              <p:nvPr/>
            </p:nvSpPr>
            <p:spPr>
              <a:xfrm>
                <a:off x="7687478" y="2336267"/>
                <a:ext cx="141304" cy="14130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098" name="직선 연결선 4097">
                <a:extLst>
                  <a:ext uri="{FF2B5EF4-FFF2-40B4-BE49-F238E27FC236}">
                    <a16:creationId xmlns:a16="http://schemas.microsoft.com/office/drawing/2014/main" id="{784C689B-7790-1382-E1E8-6FDB9EBA0FB7}"/>
                  </a:ext>
                </a:extLst>
              </p:cNvPr>
              <p:cNvCxnSpPr>
                <a:cxnSpLocks/>
                <a:stCxn id="4097" idx="5"/>
              </p:cNvCxnSpPr>
              <p:nvPr/>
            </p:nvCxnSpPr>
            <p:spPr>
              <a:xfrm>
                <a:off x="7808089" y="2456876"/>
                <a:ext cx="49162" cy="4335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4103" name="그룹 4102">
            <a:extLst>
              <a:ext uri="{FF2B5EF4-FFF2-40B4-BE49-F238E27FC236}">
                <a16:creationId xmlns:a16="http://schemas.microsoft.com/office/drawing/2014/main" id="{9F5657CE-D19E-EA6F-1466-16A333884830}"/>
              </a:ext>
            </a:extLst>
          </p:cNvPr>
          <p:cNvGrpSpPr/>
          <p:nvPr/>
        </p:nvGrpSpPr>
        <p:grpSpPr>
          <a:xfrm>
            <a:off x="4414618" y="4739640"/>
            <a:ext cx="1938558" cy="338137"/>
            <a:chOff x="6019548" y="2259777"/>
            <a:chExt cx="1938558" cy="338137"/>
          </a:xfrm>
        </p:grpSpPr>
        <p:grpSp>
          <p:nvGrpSpPr>
            <p:cNvPr id="4104" name="그룹 4103">
              <a:extLst>
                <a:ext uri="{FF2B5EF4-FFF2-40B4-BE49-F238E27FC236}">
                  <a16:creationId xmlns:a16="http://schemas.microsoft.com/office/drawing/2014/main" id="{FFACA70D-E5C5-6F72-0D22-9006603E82D5}"/>
                </a:ext>
              </a:extLst>
            </p:cNvPr>
            <p:cNvGrpSpPr/>
            <p:nvPr/>
          </p:nvGrpSpPr>
          <p:grpSpPr>
            <a:xfrm>
              <a:off x="6019548" y="2259777"/>
              <a:ext cx="1938558" cy="338137"/>
              <a:chOff x="6019548" y="3183370"/>
              <a:chExt cx="1938558" cy="338137"/>
            </a:xfrm>
          </p:grpSpPr>
          <p:sp>
            <p:nvSpPr>
              <p:cNvPr id="4108" name="사각형: 둥근 모서리 4107">
                <a:extLst>
                  <a:ext uri="{FF2B5EF4-FFF2-40B4-BE49-F238E27FC236}">
                    <a16:creationId xmlns:a16="http://schemas.microsoft.com/office/drawing/2014/main" id="{07B4CE4D-C028-55D7-C0B3-E9541343A953}"/>
                  </a:ext>
                </a:extLst>
              </p:cNvPr>
              <p:cNvSpPr/>
              <p:nvPr/>
            </p:nvSpPr>
            <p:spPr>
              <a:xfrm>
                <a:off x="6019548" y="3206035"/>
                <a:ext cx="1938558" cy="27669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rgbClr val="9A8B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09" name="직사각형 4108">
                <a:extLst>
                  <a:ext uri="{FF2B5EF4-FFF2-40B4-BE49-F238E27FC236}">
                    <a16:creationId xmlns:a16="http://schemas.microsoft.com/office/drawing/2014/main" id="{52FA02E0-ED24-506C-5C5D-CF2E6DDB2C61}"/>
                  </a:ext>
                </a:extLst>
              </p:cNvPr>
              <p:cNvSpPr/>
              <p:nvPr/>
            </p:nvSpPr>
            <p:spPr>
              <a:xfrm>
                <a:off x="6176929" y="3183370"/>
                <a:ext cx="1459359" cy="33813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600" spc="-80" dirty="0">
                    <a:solidFill>
                      <a:schemeClr val="tx1"/>
                    </a:solidFill>
                    <a:latin typeface="페이퍼로지 4 Regular" pitchFamily="2" charset="-127"/>
                    <a:ea typeface="페이퍼로지 4 Regular" pitchFamily="2" charset="-127"/>
                  </a:rPr>
                  <a:t>퓨전 한식 레시피</a:t>
                </a:r>
              </a:p>
            </p:txBody>
          </p:sp>
        </p:grpSp>
        <p:grpSp>
          <p:nvGrpSpPr>
            <p:cNvPr id="4105" name="그룹 4104">
              <a:extLst>
                <a:ext uri="{FF2B5EF4-FFF2-40B4-BE49-F238E27FC236}">
                  <a16:creationId xmlns:a16="http://schemas.microsoft.com/office/drawing/2014/main" id="{A55262A5-C3AF-DDAE-5FD6-35DEA4D8A2BE}"/>
                </a:ext>
              </a:extLst>
            </p:cNvPr>
            <p:cNvGrpSpPr/>
            <p:nvPr/>
          </p:nvGrpSpPr>
          <p:grpSpPr>
            <a:xfrm>
              <a:off x="7687478" y="2336267"/>
              <a:ext cx="169773" cy="163967"/>
              <a:chOff x="7687478" y="2336267"/>
              <a:chExt cx="169773" cy="163967"/>
            </a:xfrm>
          </p:grpSpPr>
          <p:sp>
            <p:nvSpPr>
              <p:cNvPr id="4106" name="타원 4105">
                <a:extLst>
                  <a:ext uri="{FF2B5EF4-FFF2-40B4-BE49-F238E27FC236}">
                    <a16:creationId xmlns:a16="http://schemas.microsoft.com/office/drawing/2014/main" id="{553D8568-73FF-FA4F-D8BD-99A3D83B17D0}"/>
                  </a:ext>
                </a:extLst>
              </p:cNvPr>
              <p:cNvSpPr/>
              <p:nvPr/>
            </p:nvSpPr>
            <p:spPr>
              <a:xfrm>
                <a:off x="7687478" y="2336267"/>
                <a:ext cx="141304" cy="14130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4107" name="직선 연결선 4106">
                <a:extLst>
                  <a:ext uri="{FF2B5EF4-FFF2-40B4-BE49-F238E27FC236}">
                    <a16:creationId xmlns:a16="http://schemas.microsoft.com/office/drawing/2014/main" id="{CA354A4F-AEE3-232C-25D8-D338408525DC}"/>
                  </a:ext>
                </a:extLst>
              </p:cNvPr>
              <p:cNvCxnSpPr>
                <a:cxnSpLocks/>
                <a:stCxn id="4106" idx="5"/>
              </p:cNvCxnSpPr>
              <p:nvPr/>
            </p:nvCxnSpPr>
            <p:spPr>
              <a:xfrm>
                <a:off x="7808089" y="2456876"/>
                <a:ext cx="49162" cy="43358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F785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4118" name="그룹 4117">
            <a:extLst>
              <a:ext uri="{FF2B5EF4-FFF2-40B4-BE49-F238E27FC236}">
                <a16:creationId xmlns:a16="http://schemas.microsoft.com/office/drawing/2014/main" id="{F120465B-8DE3-8E6F-19D9-6EC2DF1DCE43}"/>
              </a:ext>
            </a:extLst>
          </p:cNvPr>
          <p:cNvGrpSpPr/>
          <p:nvPr/>
        </p:nvGrpSpPr>
        <p:grpSpPr>
          <a:xfrm>
            <a:off x="4080013" y="3066618"/>
            <a:ext cx="6244368" cy="4305716"/>
            <a:chOff x="4126903" y="3079368"/>
            <a:chExt cx="6244368" cy="4305716"/>
          </a:xfrm>
        </p:grpSpPr>
        <p:pic>
          <p:nvPicPr>
            <p:cNvPr id="4111" name="그림 4110">
              <a:extLst>
                <a:ext uri="{FF2B5EF4-FFF2-40B4-BE49-F238E27FC236}">
                  <a16:creationId xmlns:a16="http://schemas.microsoft.com/office/drawing/2014/main" id="{D3D4F22D-C8A3-873F-1D43-B438F66A3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26903" y="3079368"/>
              <a:ext cx="1991394" cy="4305716"/>
            </a:xfrm>
            <a:prstGeom prst="rect">
              <a:avLst/>
            </a:prstGeom>
          </p:spPr>
        </p:pic>
        <p:pic>
          <p:nvPicPr>
            <p:cNvPr id="4113" name="그림 4112">
              <a:extLst>
                <a:ext uri="{FF2B5EF4-FFF2-40B4-BE49-F238E27FC236}">
                  <a16:creationId xmlns:a16="http://schemas.microsoft.com/office/drawing/2014/main" id="{0735465A-5D70-1E82-E616-0A3A19923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71537" y="3079368"/>
              <a:ext cx="1955099" cy="4227240"/>
            </a:xfrm>
            <a:prstGeom prst="rect">
              <a:avLst/>
            </a:prstGeom>
          </p:spPr>
        </p:pic>
        <p:pic>
          <p:nvPicPr>
            <p:cNvPr id="4117" name="그림 4116">
              <a:extLst>
                <a:ext uri="{FF2B5EF4-FFF2-40B4-BE49-F238E27FC236}">
                  <a16:creationId xmlns:a16="http://schemas.microsoft.com/office/drawing/2014/main" id="{90D8775D-F79C-93ED-B653-99C46A14A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79877" y="3079369"/>
              <a:ext cx="1991394" cy="4305715"/>
            </a:xfrm>
            <a:prstGeom prst="rect">
              <a:avLst/>
            </a:prstGeom>
          </p:spPr>
        </p:pic>
      </p:grpSp>
      <p:grpSp>
        <p:nvGrpSpPr>
          <p:cNvPr id="4126" name="그룹 4125">
            <a:extLst>
              <a:ext uri="{FF2B5EF4-FFF2-40B4-BE49-F238E27FC236}">
                <a16:creationId xmlns:a16="http://schemas.microsoft.com/office/drawing/2014/main" id="{311218CF-DC96-2CE8-9E02-3B41B8BE3DC0}"/>
              </a:ext>
            </a:extLst>
          </p:cNvPr>
          <p:cNvGrpSpPr/>
          <p:nvPr/>
        </p:nvGrpSpPr>
        <p:grpSpPr>
          <a:xfrm>
            <a:off x="4074081" y="3066618"/>
            <a:ext cx="6250299" cy="4305715"/>
            <a:chOff x="4074081" y="3066618"/>
            <a:chExt cx="6250299" cy="4305715"/>
          </a:xfrm>
        </p:grpSpPr>
        <p:sp>
          <p:nvSpPr>
            <p:cNvPr id="4124" name="직사각형 4123">
              <a:extLst>
                <a:ext uri="{FF2B5EF4-FFF2-40B4-BE49-F238E27FC236}">
                  <a16:creationId xmlns:a16="http://schemas.microsoft.com/office/drawing/2014/main" id="{806C9C52-1AB6-D7F5-D063-CFE1155F9B31}"/>
                </a:ext>
              </a:extLst>
            </p:cNvPr>
            <p:cNvSpPr/>
            <p:nvPr/>
          </p:nvSpPr>
          <p:spPr>
            <a:xfrm>
              <a:off x="4074081" y="3066618"/>
              <a:ext cx="6250299" cy="4305715"/>
            </a:xfrm>
            <a:prstGeom prst="rect">
              <a:avLst/>
            </a:prstGeom>
            <a:solidFill>
              <a:schemeClr val="tx1">
                <a:alpha val="8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5" name="TextBox 4124">
              <a:extLst>
                <a:ext uri="{FF2B5EF4-FFF2-40B4-BE49-F238E27FC236}">
                  <a16:creationId xmlns:a16="http://schemas.microsoft.com/office/drawing/2014/main" id="{7701D3C3-80B0-3DBD-5CA8-42266C629A95}"/>
                </a:ext>
              </a:extLst>
            </p:cNvPr>
            <p:cNvSpPr txBox="1"/>
            <p:nvPr/>
          </p:nvSpPr>
          <p:spPr>
            <a:xfrm>
              <a:off x="4603569" y="4253775"/>
              <a:ext cx="51972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이게 트렌드 일까</a:t>
              </a:r>
              <a:r>
                <a:rPr lang="en-US" altLang="ko-KR" sz="5400" dirty="0">
                  <a:solidFill>
                    <a:schemeClr val="bg1"/>
                  </a:solidFill>
                  <a:latin typeface="페이퍼로지 6 SemiBold" pitchFamily="2" charset="-127"/>
                  <a:ea typeface="페이퍼로지 6 SemiBold" pitchFamily="2" charset="-127"/>
                </a:rPr>
                <a:t>?</a:t>
              </a:r>
              <a:endParaRPr lang="ko-KR" altLang="en-US" sz="540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</p:txBody>
        </p:sp>
      </p:grpSp>
      <p:sp>
        <p:nvSpPr>
          <p:cNvPr id="4137" name="사각형: 둥근 모서리 4136">
            <a:extLst>
              <a:ext uri="{FF2B5EF4-FFF2-40B4-BE49-F238E27FC236}">
                <a16:creationId xmlns:a16="http://schemas.microsoft.com/office/drawing/2014/main" id="{5F4A1AD4-2ABB-B83D-5A3A-752A8BEEC9BE}"/>
              </a:ext>
            </a:extLst>
          </p:cNvPr>
          <p:cNvSpPr/>
          <p:nvPr/>
        </p:nvSpPr>
        <p:spPr>
          <a:xfrm>
            <a:off x="4821814" y="5600701"/>
            <a:ext cx="4748906" cy="3599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감</a:t>
            </a:r>
            <a:r>
              <a:rPr lang="en-US" altLang="ko-KR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과 </a:t>
            </a:r>
            <a:r>
              <a:rPr lang="en-US" altLang="ko-KR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주변 이야기</a:t>
            </a:r>
            <a:r>
              <a:rPr lang="en-US" altLang="ko-KR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’</a:t>
            </a:r>
            <a:r>
              <a:rPr lang="ko-KR" altLang="en-US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에 의존하여 </a:t>
            </a:r>
            <a:r>
              <a:rPr lang="ko-KR" altLang="en-US" sz="1400" dirty="0" err="1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신메뉴</a:t>
            </a:r>
            <a:r>
              <a:rPr lang="ko-KR" altLang="en-US" sz="1400" dirty="0">
                <a:solidFill>
                  <a:srgbClr val="2A2A2A"/>
                </a:solidFill>
                <a:latin typeface="페이퍼로지 5 Medium" pitchFamily="2" charset="-127"/>
                <a:ea typeface="페이퍼로지 5 Medium" pitchFamily="2" charset="-127"/>
              </a:rPr>
              <a:t> 개발  </a:t>
            </a:r>
          </a:p>
        </p:txBody>
      </p:sp>
      <p:sp>
        <p:nvSpPr>
          <p:cNvPr id="4138" name="사각형: 둥근 모서리 4137">
            <a:extLst>
              <a:ext uri="{FF2B5EF4-FFF2-40B4-BE49-F238E27FC236}">
                <a16:creationId xmlns:a16="http://schemas.microsoft.com/office/drawing/2014/main" id="{B9866D0E-AFA5-FCC0-9945-096E389862F1}"/>
              </a:ext>
            </a:extLst>
          </p:cNvPr>
          <p:cNvSpPr/>
          <p:nvPr/>
        </p:nvSpPr>
        <p:spPr>
          <a:xfrm>
            <a:off x="4821814" y="6078944"/>
            <a:ext cx="4748906" cy="359990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음식 방송과 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SNS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의 음식은 이미 철 지난 유행 또는 가짜 유행 </a:t>
            </a:r>
          </a:p>
        </p:txBody>
      </p:sp>
    </p:spTree>
    <p:extLst>
      <p:ext uri="{BB962C8B-B14F-4D97-AF65-F5344CB8AC3E}">
        <p14:creationId xmlns:p14="http://schemas.microsoft.com/office/powerpoint/2010/main" val="11121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" grpId="0" animBg="1"/>
      <p:bldP spid="413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A110-DF7C-315E-8BFC-C2B773FA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187576A-BFDF-08B6-99D3-0268491FB95B}"/>
              </a:ext>
            </a:extLst>
          </p:cNvPr>
          <p:cNvSpPr/>
          <p:nvPr/>
        </p:nvSpPr>
        <p:spPr>
          <a:xfrm>
            <a:off x="1287898" y="2566026"/>
            <a:ext cx="3786168" cy="2161249"/>
          </a:xfrm>
          <a:prstGeom prst="roundRect">
            <a:avLst>
              <a:gd name="adj" fmla="val 14053"/>
            </a:avLst>
          </a:prstGeom>
          <a:solidFill>
            <a:srgbClr val="FCD2B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E49B53-D431-6146-A25A-64384FC313A8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Ⅴ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기대효과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2FB926-5C00-31B4-28C7-5912FA224CEA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3CD5DD0-CC6F-1E39-FCC6-5769C7B6F8EE}"/>
              </a:ext>
            </a:extLst>
          </p:cNvPr>
          <p:cNvSpPr/>
          <p:nvPr/>
        </p:nvSpPr>
        <p:spPr>
          <a:xfrm>
            <a:off x="436336" y="672703"/>
            <a:ext cx="25100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DCF29C-8EAE-7C9E-C3DC-8921669231F2}"/>
              </a:ext>
            </a:extLst>
          </p:cNvPr>
          <p:cNvSpPr/>
          <p:nvPr/>
        </p:nvSpPr>
        <p:spPr>
          <a:xfrm>
            <a:off x="1025868" y="688851"/>
            <a:ext cx="1933367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사용자 및 비즈니스 가치 </a:t>
            </a:r>
            <a:endParaRPr lang="en-US" altLang="ko-KR" sz="140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333BFBC2-E2EB-516E-C257-875D8A74BE57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6E6607-CBB8-57A0-E1C5-0995679E8235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01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0AFD65-0029-5A80-D574-A3E8AE22326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96AC5A0-3804-D7A5-DDFA-8F21C29A7584}"/>
              </a:ext>
            </a:extLst>
          </p:cNvPr>
          <p:cNvSpPr/>
          <p:nvPr/>
        </p:nvSpPr>
        <p:spPr>
          <a:xfrm>
            <a:off x="1287898" y="5048372"/>
            <a:ext cx="3786168" cy="2161249"/>
          </a:xfrm>
          <a:prstGeom prst="roundRect">
            <a:avLst>
              <a:gd name="adj" fmla="val 14053"/>
            </a:avLst>
          </a:prstGeom>
          <a:solidFill>
            <a:srgbClr val="9A8B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AA317D1-C1A2-EEE2-B658-B4801AE2ADBD}"/>
              </a:ext>
            </a:extLst>
          </p:cNvPr>
          <p:cNvSpPr/>
          <p:nvPr/>
        </p:nvSpPr>
        <p:spPr>
          <a:xfrm>
            <a:off x="5597525" y="2566026"/>
            <a:ext cx="3786168" cy="2161249"/>
          </a:xfrm>
          <a:prstGeom prst="roundRect">
            <a:avLst>
              <a:gd name="adj" fmla="val 14053"/>
            </a:avLst>
          </a:prstGeom>
          <a:solidFill>
            <a:srgbClr val="9A8B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5CF98F0-7C8A-8992-F631-B62B3F7B49F7}"/>
              </a:ext>
            </a:extLst>
          </p:cNvPr>
          <p:cNvSpPr/>
          <p:nvPr/>
        </p:nvSpPr>
        <p:spPr>
          <a:xfrm>
            <a:off x="5597525" y="5048372"/>
            <a:ext cx="3786168" cy="2161249"/>
          </a:xfrm>
          <a:prstGeom prst="roundRect">
            <a:avLst>
              <a:gd name="adj" fmla="val 14053"/>
            </a:avLst>
          </a:prstGeom>
          <a:solidFill>
            <a:srgbClr val="FCD2B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BD1258B-0814-7F0D-DCD6-7819DC8EDA0E}"/>
              </a:ext>
            </a:extLst>
          </p:cNvPr>
          <p:cNvSpPr/>
          <p:nvPr/>
        </p:nvSpPr>
        <p:spPr>
          <a:xfrm>
            <a:off x="1468064" y="2667315"/>
            <a:ext cx="2164136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비즈니스 영역별 변화 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285EAAA-FE7C-B67E-C1E8-79931B35C433}"/>
              </a:ext>
            </a:extLst>
          </p:cNvPr>
          <p:cNvSpPr/>
          <p:nvPr/>
        </p:nvSpPr>
        <p:spPr>
          <a:xfrm>
            <a:off x="5852298" y="2667315"/>
            <a:ext cx="2164136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심리적 변화 단계 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1BA9A4C-F7CA-37E7-1FE7-EEBF6642ADA5}"/>
              </a:ext>
            </a:extLst>
          </p:cNvPr>
          <p:cNvSpPr/>
          <p:nvPr/>
        </p:nvSpPr>
        <p:spPr>
          <a:xfrm>
            <a:off x="1468064" y="5166811"/>
            <a:ext cx="2164136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의사결정 프로세스 변화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C3753A07-1C3C-6EFE-7D4C-EFDB6BD3C74B}"/>
              </a:ext>
            </a:extLst>
          </p:cNvPr>
          <p:cNvSpPr/>
          <p:nvPr/>
        </p:nvSpPr>
        <p:spPr>
          <a:xfrm>
            <a:off x="5852298" y="5166811"/>
            <a:ext cx="2164136" cy="295222"/>
          </a:xfrm>
          <a:prstGeom prst="roundRect">
            <a:avLst>
              <a:gd name="adj" fmla="val 50000"/>
            </a:avLst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pc="-90" dirty="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rPr>
              <a:t>비즈니스 성과 변화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2EF8F72-7F19-D442-213C-1023A59FAE69}"/>
              </a:ext>
            </a:extLst>
          </p:cNvPr>
          <p:cNvSpPr/>
          <p:nvPr/>
        </p:nvSpPr>
        <p:spPr>
          <a:xfrm>
            <a:off x="1287897" y="3086100"/>
            <a:ext cx="3806391" cy="143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과거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감과 경험에 의존 → 현재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데이터 기반 </a:t>
            </a:r>
            <a:endParaRPr lang="en-US" altLang="ko-KR" sz="150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고객 관리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단순 응대 →  트렌드 선도 맛집 </a:t>
            </a:r>
            <a:endParaRPr lang="en-US" altLang="ko-KR" sz="150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재고 관리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과다 재고와 폐기 반복 →  최적화 식자재 관리</a:t>
            </a:r>
            <a:endParaRPr lang="en-US" altLang="ko-KR" sz="1500" dirty="0">
              <a:solidFill>
                <a:srgbClr val="2A2A2A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CFF38CF-5493-F904-3A92-FFA0361A0C3D}"/>
              </a:ext>
            </a:extLst>
          </p:cNvPr>
          <p:cNvSpPr/>
          <p:nvPr/>
        </p:nvSpPr>
        <p:spPr>
          <a:xfrm>
            <a:off x="5617747" y="3086100"/>
            <a:ext cx="3806391" cy="143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불안 →  안도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: 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트렌드 </a:t>
            </a:r>
            <a:r>
              <a:rPr lang="ko-KR" altLang="en-US" sz="1500" dirty="0" err="1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놓칠까봐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불안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혼란 →   명확성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핵심만 추려주는 인사이트 선명한 방향성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고립 → 연결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혼자 개발하던 메뉴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시장의 흐름속에서 함께 호흡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반응 → 선도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따라가기 바빴던 트렌드 → 미리 예측 하는 혁신가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32687C5-0823-1B5E-2A8B-DA75582B9536}"/>
              </a:ext>
            </a:extLst>
          </p:cNvPr>
          <p:cNvSpPr/>
          <p:nvPr/>
        </p:nvSpPr>
        <p:spPr>
          <a:xfrm>
            <a:off x="1287897" y="5566694"/>
            <a:ext cx="3806391" cy="143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직감적 → 데이터 기반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이거 해볼까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?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에서 데이터를 보니 이 메뉴가 성공 </a:t>
            </a:r>
            <a:r>
              <a:rPr lang="ko-KR" altLang="en-US" sz="1500" dirty="0" err="1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유행할거같아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단기적 → 장기적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내일 </a:t>
            </a:r>
            <a:r>
              <a:rPr lang="ko-KR" altLang="en-US" sz="1500" dirty="0" err="1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뭐팔지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?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에서 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다음분기 메뉴 라인업과 브랜드 방향성까지 계획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수동적 → 능동적 </a:t>
            </a:r>
            <a:r>
              <a:rPr lang="en-US" altLang="ko-KR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rPr>
              <a:t>다가올 트렌드 미리 준비</a:t>
            </a:r>
            <a:endParaRPr lang="en-US" altLang="ko-KR" sz="1500" dirty="0">
              <a:solidFill>
                <a:schemeClr val="bg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D242693-4732-FB25-AB31-E5419D0AC921}"/>
              </a:ext>
            </a:extLst>
          </p:cNvPr>
          <p:cNvSpPr/>
          <p:nvPr/>
        </p:nvSpPr>
        <p:spPr>
          <a:xfrm>
            <a:off x="5617747" y="5566694"/>
            <a:ext cx="3806391" cy="143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고객 피드백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 </a:t>
            </a:r>
            <a:r>
              <a:rPr lang="ko-KR" altLang="en-US" sz="1500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별점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3.2 → 4.8 (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그래프로 표현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SNS </a:t>
            </a:r>
            <a:r>
              <a:rPr lang="ko-KR" altLang="en-US" sz="1500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언급량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 월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회 → 월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50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회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증가 화살표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r>
              <a:rPr lang="ko-KR" altLang="en-US" sz="1500" dirty="0" err="1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신메뉴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 개발 주기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 분기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회 → 월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회 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타임라인으로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단골 고객 비율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 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30% → 65% (</a:t>
            </a:r>
            <a:r>
              <a:rPr lang="ko-KR" altLang="en-US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파이 차트로</a:t>
            </a:r>
            <a:r>
              <a:rPr lang="en-US" altLang="ko-KR" sz="150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164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55AC5-4427-0A08-4A86-521D9390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CFC2810B-278E-B391-802E-9BCB8EA00871}"/>
              </a:ext>
            </a:extLst>
          </p:cNvPr>
          <p:cNvSpPr/>
          <p:nvPr/>
        </p:nvSpPr>
        <p:spPr>
          <a:xfrm>
            <a:off x="0" y="4195092"/>
            <a:ext cx="10691814" cy="3364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81E5B4-C5E4-9875-B45A-427C7EF947C9}"/>
              </a:ext>
            </a:extLst>
          </p:cNvPr>
          <p:cNvSpPr/>
          <p:nvPr/>
        </p:nvSpPr>
        <p:spPr>
          <a:xfrm>
            <a:off x="366329" y="274145"/>
            <a:ext cx="3565072" cy="382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Ⅴ </a:t>
            </a:r>
            <a:r>
              <a:rPr lang="ko-KR" altLang="en-US" sz="2000">
                <a:solidFill>
                  <a:srgbClr val="2A2A2A"/>
                </a:solidFill>
                <a:latin typeface="페이퍼로지 6 SemiBold" pitchFamily="2" charset="-127"/>
                <a:ea typeface="페이퍼로지 6 SemiBold" pitchFamily="2" charset="-127"/>
              </a:rPr>
              <a:t>기대효과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C6CAD6B-88EE-222C-8783-2ECA5A7AE51A}"/>
              </a:ext>
            </a:extLst>
          </p:cNvPr>
          <p:cNvCxnSpPr>
            <a:cxnSpLocks/>
          </p:cNvCxnSpPr>
          <p:nvPr/>
        </p:nvCxnSpPr>
        <p:spPr>
          <a:xfrm>
            <a:off x="493490" y="825104"/>
            <a:ext cx="9913257" cy="0"/>
          </a:xfrm>
          <a:prstGeom prst="line">
            <a:avLst/>
          </a:prstGeom>
          <a:ln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3B721A9-6448-0FF4-3C4A-8A743E0FCD04}"/>
              </a:ext>
            </a:extLst>
          </p:cNvPr>
          <p:cNvSpPr/>
          <p:nvPr/>
        </p:nvSpPr>
        <p:spPr>
          <a:xfrm>
            <a:off x="436336" y="672703"/>
            <a:ext cx="2510064" cy="3048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628A6B-B8EB-6E1E-737E-089EF32A2765}"/>
              </a:ext>
            </a:extLst>
          </p:cNvPr>
          <p:cNvSpPr/>
          <p:nvPr/>
        </p:nvSpPr>
        <p:spPr>
          <a:xfrm>
            <a:off x="1025868" y="688851"/>
            <a:ext cx="1933367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</a:rPr>
              <a:t>비즈니스 확장 가능성</a:t>
            </a:r>
            <a:endParaRPr lang="en-US" altLang="ko-KR" sz="1400">
              <a:solidFill>
                <a:schemeClr val="tx1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4986CDCF-7217-CF69-B20F-A80AD41D512B}"/>
              </a:ext>
            </a:extLst>
          </p:cNvPr>
          <p:cNvSpPr/>
          <p:nvPr/>
        </p:nvSpPr>
        <p:spPr>
          <a:xfrm>
            <a:off x="436341" y="672703"/>
            <a:ext cx="507485" cy="304800"/>
          </a:xfrm>
          <a:custGeom>
            <a:avLst/>
            <a:gdLst>
              <a:gd name="connsiteX0" fmla="*/ 152400 w 507485"/>
              <a:gd name="connsiteY0" fmla="*/ 0 h 304800"/>
              <a:gd name="connsiteX1" fmla="*/ 507485 w 507485"/>
              <a:gd name="connsiteY1" fmla="*/ 0 h 304800"/>
              <a:gd name="connsiteX2" fmla="*/ 431285 w 507485"/>
              <a:gd name="connsiteY2" fmla="*/ 304800 h 304800"/>
              <a:gd name="connsiteX3" fmla="*/ 152400 w 507485"/>
              <a:gd name="connsiteY3" fmla="*/ 304800 h 304800"/>
              <a:gd name="connsiteX4" fmla="*/ 0 w 507485"/>
              <a:gd name="connsiteY4" fmla="*/ 152400 h 304800"/>
              <a:gd name="connsiteX5" fmla="*/ 152400 w 507485"/>
              <a:gd name="connsiteY5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7485" h="304800">
                <a:moveTo>
                  <a:pt x="152400" y="0"/>
                </a:moveTo>
                <a:lnTo>
                  <a:pt x="507485" y="0"/>
                </a:lnTo>
                <a:lnTo>
                  <a:pt x="431285" y="304800"/>
                </a:lnTo>
                <a:lnTo>
                  <a:pt x="152400" y="304800"/>
                </a:lnTo>
                <a:cubicBezTo>
                  <a:pt x="68232" y="304800"/>
                  <a:pt x="0" y="236568"/>
                  <a:pt x="0" y="152400"/>
                </a:cubicBez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8CC8F7-254E-FD8F-BD71-EAAB9B320C8B}"/>
              </a:ext>
            </a:extLst>
          </p:cNvPr>
          <p:cNvSpPr/>
          <p:nvPr/>
        </p:nvSpPr>
        <p:spPr>
          <a:xfrm>
            <a:off x="480654" y="688851"/>
            <a:ext cx="464660" cy="272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페이퍼로지 9 Black" pitchFamily="2" charset="-127"/>
                <a:ea typeface="페이퍼로지 9 Black" pitchFamily="2" charset="-127"/>
              </a:rPr>
              <a:t>02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243605D-6694-A9CC-C296-A44EA128CD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77741" y="78846"/>
            <a:ext cx="2422203" cy="81161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19E9193-849E-5E53-AA24-DC3F5B4CC125}"/>
              </a:ext>
            </a:extLst>
          </p:cNvPr>
          <p:cNvSpPr/>
          <p:nvPr/>
        </p:nvSpPr>
        <p:spPr>
          <a:xfrm>
            <a:off x="943826" y="1430678"/>
            <a:ext cx="9913257" cy="870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식품 관련 비즈니스에 특화된 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기반 트렌드 분석 플랫폼으로서</a:t>
            </a:r>
            <a:r>
              <a:rPr lang="en-US" altLang="ko-KR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,</a:t>
            </a:r>
          </a:p>
          <a:p>
            <a:r>
              <a:rPr lang="ko-KR" altLang="en-US" sz="2400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새로운  </a:t>
            </a:r>
            <a:r>
              <a:rPr lang="en-US" altLang="ko-KR" sz="2400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B2B </a:t>
            </a:r>
            <a:r>
              <a:rPr lang="ko-KR" altLang="en-US" sz="2400" spc="-80" dirty="0">
                <a:solidFill>
                  <a:srgbClr val="F78535"/>
                </a:solidFill>
                <a:latin typeface="페이퍼로지 7 Bold" pitchFamily="2" charset="-127"/>
                <a:ea typeface="페이퍼로지 7 Bold" pitchFamily="2" charset="-127"/>
              </a:rPr>
              <a:t>목표  </a:t>
            </a:r>
            <a:r>
              <a: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생성 및 로드맵</a:t>
            </a:r>
            <a:endParaRPr lang="en-US" altLang="ko-KR" sz="2400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endParaRPr lang="en-US" altLang="ko-KR" sz="2600" spc="-8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13D950B-36C7-5334-DEAE-49C924880865}"/>
              </a:ext>
            </a:extLst>
          </p:cNvPr>
          <p:cNvSpPr/>
          <p:nvPr/>
        </p:nvSpPr>
        <p:spPr>
          <a:xfrm>
            <a:off x="943826" y="2416560"/>
            <a:ext cx="2488306" cy="359990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B2B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중장기 목표 및 성과지표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097EB-3BAE-D8D5-B35B-578319633756}"/>
              </a:ext>
            </a:extLst>
          </p:cNvPr>
          <p:cNvSpPr txBox="1"/>
          <p:nvPr/>
        </p:nvSpPr>
        <p:spPr>
          <a:xfrm>
            <a:off x="1379263" y="2821664"/>
            <a:ext cx="80249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1. </a:t>
            </a:r>
            <a:r>
              <a:rPr lang="ko-KR" altLang="en-US" sz="1400" dirty="0">
                <a:latin typeface="페이퍼로지 6 SemiBold" pitchFamily="2" charset="-127"/>
                <a:ea typeface="페이퍼로지 6 SemiBold" pitchFamily="2" charset="-127"/>
              </a:rPr>
              <a:t>성공적인 의사결정 동반자 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데이터 기반으로  사업 불확실성 대폭 감소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4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메뉴 개발 자신감 증대 및 성공률 향상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D785F-5C18-F279-8E0D-00C88C5DCE38}"/>
              </a:ext>
            </a:extLst>
          </p:cNvPr>
          <p:cNvSpPr txBox="1"/>
          <p:nvPr/>
        </p:nvSpPr>
        <p:spPr>
          <a:xfrm>
            <a:off x="1379263" y="3106090"/>
            <a:ext cx="8783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2. </a:t>
            </a:r>
            <a:r>
              <a:rPr lang="ko-KR" altLang="en-US" sz="1400" dirty="0">
                <a:latin typeface="페이퍼로지 6 SemiBold" pitchFamily="2" charset="-127"/>
                <a:ea typeface="페이퍼로지 6 SemiBold" pitchFamily="2" charset="-127"/>
              </a:rPr>
              <a:t>지속 가능한 비즈니스 성장 견인 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식재료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음식 트렌드로 </a:t>
            </a:r>
            <a:r>
              <a:rPr lang="ko-KR" altLang="en-US" sz="1400" dirty="0" err="1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신메뉴</a:t>
            </a:r>
            <a:r>
              <a:rPr lang="ko-KR" altLang="en-US" sz="14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 출시 주간 단축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시장 선도를 통해 지속 가능한 시장 견인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E4EC9-B4AF-FE2C-1CE5-2EBEF0BDD71A}"/>
              </a:ext>
            </a:extLst>
          </p:cNvPr>
          <p:cNvSpPr txBox="1"/>
          <p:nvPr/>
        </p:nvSpPr>
        <p:spPr>
          <a:xfrm>
            <a:off x="1379263" y="3390516"/>
            <a:ext cx="870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3. </a:t>
            </a:r>
            <a:r>
              <a:rPr lang="ko-KR" altLang="en-US" sz="1400" dirty="0">
                <a:latin typeface="페이퍼로지 6 SemiBold" pitchFamily="2" charset="-127"/>
                <a:ea typeface="페이퍼로지 6 SemiBold" pitchFamily="2" charset="-127"/>
              </a:rPr>
              <a:t>효율적인 운영 혁신 실현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트렌드 분석 시간 획기적 단축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운영 효율 극대화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식재료 폐기 감소로 </a:t>
            </a:r>
            <a:r>
              <a:rPr lang="ko-KR" altLang="en-US" sz="1400" dirty="0">
                <a:solidFill>
                  <a:srgbClr val="F78535"/>
                </a:solidFill>
                <a:latin typeface="페이퍼로지 6 SemiBold" pitchFamily="2" charset="-127"/>
                <a:ea typeface="페이퍼로지 6 SemiBold" pitchFamily="2" charset="-127"/>
              </a:rPr>
              <a:t>실질적인 비용 절감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체감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4E34BE-2A08-A50F-DE49-BCAB8BED0C66}"/>
              </a:ext>
            </a:extLst>
          </p:cNvPr>
          <p:cNvSpPr txBox="1"/>
          <p:nvPr/>
        </p:nvSpPr>
        <p:spPr>
          <a:xfrm>
            <a:off x="1379263" y="3674943"/>
            <a:ext cx="8423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</a:rPr>
              <a:t>4. </a:t>
            </a:r>
            <a:r>
              <a:rPr lang="ko-KR" altLang="en-US" sz="1400" dirty="0">
                <a:latin typeface="페이퍼로지 6 SemiBold" pitchFamily="2" charset="-127"/>
                <a:ea typeface="페이퍼로지 6 SemiBold" pitchFamily="2" charset="-127"/>
              </a:rPr>
              <a:t>식품 산업 디지털 전환 선도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식품 산업 데이터 기반 경영 표준 제시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산업 전반의 디지털 전환 및 생태계 확장에 기여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0094161-0B24-E2D9-0F00-5F2E890CF51C}"/>
              </a:ext>
            </a:extLst>
          </p:cNvPr>
          <p:cNvGrpSpPr/>
          <p:nvPr/>
        </p:nvGrpSpPr>
        <p:grpSpPr>
          <a:xfrm>
            <a:off x="2564310" y="4479518"/>
            <a:ext cx="5563194" cy="4409724"/>
            <a:chOff x="2564310" y="4682110"/>
            <a:chExt cx="5563194" cy="4409724"/>
          </a:xfrm>
        </p:grpSpPr>
        <p:sp>
          <p:nvSpPr>
            <p:cNvPr id="21" name="부분 원형 20">
              <a:extLst>
                <a:ext uri="{FF2B5EF4-FFF2-40B4-BE49-F238E27FC236}">
                  <a16:creationId xmlns:a16="http://schemas.microsoft.com/office/drawing/2014/main" id="{124653E2-F43B-639C-CBB8-6387FA49EAAC}"/>
                </a:ext>
              </a:extLst>
            </p:cNvPr>
            <p:cNvSpPr/>
            <p:nvPr/>
          </p:nvSpPr>
          <p:spPr>
            <a:xfrm flipV="1">
              <a:off x="3141045" y="4682110"/>
              <a:ext cx="4409724" cy="4409724"/>
            </a:xfrm>
            <a:prstGeom prst="pie">
              <a:avLst>
                <a:gd name="adj1" fmla="val 0"/>
                <a:gd name="adj2" fmla="val 107392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B877D3F3-0E82-8BBA-932F-5E1343266E8D}"/>
                </a:ext>
              </a:extLst>
            </p:cNvPr>
            <p:cNvSpPr/>
            <p:nvPr/>
          </p:nvSpPr>
          <p:spPr>
            <a:xfrm>
              <a:off x="2564310" y="5925001"/>
              <a:ext cx="1242899" cy="1242899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3B18AB0-7A45-2E7B-30C4-9E5E54F9908A}"/>
                </a:ext>
              </a:extLst>
            </p:cNvPr>
            <p:cNvSpPr/>
            <p:nvPr/>
          </p:nvSpPr>
          <p:spPr>
            <a:xfrm>
              <a:off x="3644384" y="5925001"/>
              <a:ext cx="1242899" cy="1242899"/>
            </a:xfrm>
            <a:prstGeom prst="ellipse">
              <a:avLst/>
            </a:prstGeom>
            <a:solidFill>
              <a:srgbClr val="3151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4C99BAE-C2E4-2125-69E2-024FC7D0782F}"/>
                </a:ext>
              </a:extLst>
            </p:cNvPr>
            <p:cNvSpPr/>
            <p:nvPr/>
          </p:nvSpPr>
          <p:spPr>
            <a:xfrm>
              <a:off x="4724458" y="5925001"/>
              <a:ext cx="1242899" cy="1242899"/>
            </a:xfrm>
            <a:prstGeom prst="ellipse">
              <a:avLst/>
            </a:prstGeom>
            <a:solidFill>
              <a:srgbClr val="97B9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8B39BC0-816E-EE72-CCA6-56ADB754F9F4}"/>
                </a:ext>
              </a:extLst>
            </p:cNvPr>
            <p:cNvSpPr/>
            <p:nvPr/>
          </p:nvSpPr>
          <p:spPr>
            <a:xfrm>
              <a:off x="5804532" y="5925001"/>
              <a:ext cx="1242899" cy="1242899"/>
            </a:xfrm>
            <a:prstGeom prst="ellipse">
              <a:avLst/>
            </a:prstGeom>
            <a:solidFill>
              <a:srgbClr val="FCD2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0A8F6949-37A0-8A2F-412D-94211AA59256}"/>
                </a:ext>
              </a:extLst>
            </p:cNvPr>
            <p:cNvSpPr/>
            <p:nvPr/>
          </p:nvSpPr>
          <p:spPr>
            <a:xfrm>
              <a:off x="6884605" y="5925001"/>
              <a:ext cx="1242899" cy="1242899"/>
            </a:xfrm>
            <a:prstGeom prst="ellipse">
              <a:avLst/>
            </a:prstGeom>
            <a:solidFill>
              <a:srgbClr val="F785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CBBE7AD9-E769-2CD1-2F8A-664AFEE46F92}"/>
                </a:ext>
              </a:extLst>
            </p:cNvPr>
            <p:cNvGrpSpPr/>
            <p:nvPr/>
          </p:nvGrpSpPr>
          <p:grpSpPr>
            <a:xfrm>
              <a:off x="3432132" y="6234025"/>
              <a:ext cx="566488" cy="623975"/>
              <a:chOff x="3432132" y="6234025"/>
              <a:chExt cx="566488" cy="711816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55828CA0-D233-9FCA-2D76-54C46BD34921}"/>
                  </a:ext>
                </a:extLst>
              </p:cNvPr>
              <p:cNvSpPr/>
              <p:nvPr/>
            </p:nvSpPr>
            <p:spPr>
              <a:xfrm>
                <a:off x="3530427" y="6234025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61C7B4E8-5812-CB2C-619C-95803A7EA816}"/>
                  </a:ext>
                </a:extLst>
              </p:cNvPr>
              <p:cNvSpPr/>
              <p:nvPr/>
            </p:nvSpPr>
            <p:spPr>
              <a:xfrm>
                <a:off x="3432132" y="6376988"/>
                <a:ext cx="499269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B1E2352-EBC6-A9C8-BB57-8A1E74064648}"/>
                  </a:ext>
                </a:extLst>
              </p:cNvPr>
              <p:cNvSpPr/>
              <p:nvPr/>
            </p:nvSpPr>
            <p:spPr>
              <a:xfrm>
                <a:off x="3530428" y="6802878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5444C8E1-0D30-761B-777B-D1D086860D4B}"/>
                  </a:ext>
                </a:extLst>
              </p:cNvPr>
              <p:cNvSpPr/>
              <p:nvPr/>
            </p:nvSpPr>
            <p:spPr>
              <a:xfrm>
                <a:off x="3602831" y="6661415"/>
                <a:ext cx="328570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E227FA09-B734-E61F-46D0-5F3BBAF545A7}"/>
                  </a:ext>
                </a:extLst>
              </p:cNvPr>
              <p:cNvSpPr/>
              <p:nvPr/>
            </p:nvSpPr>
            <p:spPr>
              <a:xfrm>
                <a:off x="3530427" y="6519202"/>
                <a:ext cx="422448" cy="142963"/>
              </a:xfrm>
              <a:prstGeom prst="roundRect">
                <a:avLst>
                  <a:gd name="adj" fmla="val 50000"/>
                </a:avLst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35A75CEA-A59C-F0E5-85AF-BFCD86C90F79}"/>
                  </a:ext>
                </a:extLst>
              </p:cNvPr>
              <p:cNvSpPr/>
              <p:nvPr/>
            </p:nvSpPr>
            <p:spPr>
              <a:xfrm>
                <a:off x="3832875" y="6802878"/>
                <a:ext cx="165745" cy="142963"/>
              </a:xfrm>
              <a:prstGeom prst="roundRect">
                <a:avLst>
                  <a:gd name="adj" fmla="val 50000"/>
                </a:avLst>
              </a:prstGeom>
              <a:solidFill>
                <a:srgbClr val="2A2A2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0270361-F103-48A7-DBFA-336101F04985}"/>
                </a:ext>
              </a:extLst>
            </p:cNvPr>
            <p:cNvGrpSpPr/>
            <p:nvPr/>
          </p:nvGrpSpPr>
          <p:grpSpPr>
            <a:xfrm>
              <a:off x="4594840" y="6234025"/>
              <a:ext cx="507594" cy="623975"/>
              <a:chOff x="3530427" y="6234025"/>
              <a:chExt cx="507594" cy="711816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5A56BED8-5402-8099-1F98-F496EF83D2E9}"/>
                  </a:ext>
                </a:extLst>
              </p:cNvPr>
              <p:cNvSpPr/>
              <p:nvPr/>
            </p:nvSpPr>
            <p:spPr>
              <a:xfrm>
                <a:off x="3530427" y="6234025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17C16124-51CF-9C17-01BA-6C9F2299DBCB}"/>
                  </a:ext>
                </a:extLst>
              </p:cNvPr>
              <p:cNvSpPr/>
              <p:nvPr/>
            </p:nvSpPr>
            <p:spPr>
              <a:xfrm>
                <a:off x="3546089" y="6376988"/>
                <a:ext cx="49193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DF05F4A2-EC3D-5BF5-27C2-EF7339832302}"/>
                  </a:ext>
                </a:extLst>
              </p:cNvPr>
              <p:cNvSpPr/>
              <p:nvPr/>
            </p:nvSpPr>
            <p:spPr>
              <a:xfrm>
                <a:off x="3530428" y="6802878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46252D45-6CD7-9F4B-03A6-584D486B33E0}"/>
                  </a:ext>
                </a:extLst>
              </p:cNvPr>
              <p:cNvSpPr/>
              <p:nvPr/>
            </p:nvSpPr>
            <p:spPr>
              <a:xfrm>
                <a:off x="3602830" y="6661415"/>
                <a:ext cx="328571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22DF04AD-3FD2-8470-1FE6-4E8CE85AE372}"/>
                  </a:ext>
                </a:extLst>
              </p:cNvPr>
              <p:cNvSpPr/>
              <p:nvPr/>
            </p:nvSpPr>
            <p:spPr>
              <a:xfrm>
                <a:off x="3530427" y="6519202"/>
                <a:ext cx="422448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F137996-518A-0A92-AD89-42B4E0409F87}"/>
                  </a:ext>
                </a:extLst>
              </p:cNvPr>
              <p:cNvSpPr/>
              <p:nvPr/>
            </p:nvSpPr>
            <p:spPr>
              <a:xfrm>
                <a:off x="3832875" y="6802878"/>
                <a:ext cx="165745" cy="142963"/>
              </a:xfrm>
              <a:prstGeom prst="roundRect">
                <a:avLst>
                  <a:gd name="adj" fmla="val 50000"/>
                </a:avLst>
              </a:prstGeom>
              <a:solidFill>
                <a:srgbClr val="3151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FE7D6597-455B-B099-8C92-64B61C107EC9}"/>
                </a:ext>
              </a:extLst>
            </p:cNvPr>
            <p:cNvGrpSpPr/>
            <p:nvPr/>
          </p:nvGrpSpPr>
          <p:grpSpPr>
            <a:xfrm>
              <a:off x="5705740" y="6234025"/>
              <a:ext cx="507594" cy="623975"/>
              <a:chOff x="3530427" y="6234025"/>
              <a:chExt cx="507594" cy="711816"/>
            </a:xfrm>
          </p:grpSpPr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C545D580-24A4-EB64-F8D8-A66B64E80FDD}"/>
                  </a:ext>
                </a:extLst>
              </p:cNvPr>
              <p:cNvSpPr/>
              <p:nvPr/>
            </p:nvSpPr>
            <p:spPr>
              <a:xfrm>
                <a:off x="3530427" y="6234025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47D655B-60F4-041B-DD9B-CDC0DF510486}"/>
                  </a:ext>
                </a:extLst>
              </p:cNvPr>
              <p:cNvSpPr/>
              <p:nvPr/>
            </p:nvSpPr>
            <p:spPr>
              <a:xfrm>
                <a:off x="3546089" y="6376988"/>
                <a:ext cx="49193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CD2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5362D5D-569A-FD14-D793-18CC6C2F8339}"/>
                  </a:ext>
                </a:extLst>
              </p:cNvPr>
              <p:cNvSpPr/>
              <p:nvPr/>
            </p:nvSpPr>
            <p:spPr>
              <a:xfrm>
                <a:off x="3530428" y="6802878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88354EC2-5564-3D82-D608-9A3FA8C9EDD6}"/>
                  </a:ext>
                </a:extLst>
              </p:cNvPr>
              <p:cNvSpPr/>
              <p:nvPr/>
            </p:nvSpPr>
            <p:spPr>
              <a:xfrm>
                <a:off x="3602830" y="6661415"/>
                <a:ext cx="328571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CD2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5C95BEAA-9EAF-73C1-4E0B-46E356BD926A}"/>
                  </a:ext>
                </a:extLst>
              </p:cNvPr>
              <p:cNvSpPr/>
              <p:nvPr/>
            </p:nvSpPr>
            <p:spPr>
              <a:xfrm>
                <a:off x="3530427" y="6519202"/>
                <a:ext cx="422448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A75D876-52F2-3447-536F-E323A0EE4D5B}"/>
                  </a:ext>
                </a:extLst>
              </p:cNvPr>
              <p:cNvSpPr/>
              <p:nvPr/>
            </p:nvSpPr>
            <p:spPr>
              <a:xfrm>
                <a:off x="3832875" y="6802878"/>
                <a:ext cx="165745" cy="142963"/>
              </a:xfrm>
              <a:prstGeom prst="roundRect">
                <a:avLst>
                  <a:gd name="adj" fmla="val 50000"/>
                </a:avLst>
              </a:prstGeom>
              <a:solidFill>
                <a:srgbClr val="97B9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76AFE34-1C57-B3E1-857E-7EA0E46EFF13}"/>
                </a:ext>
              </a:extLst>
            </p:cNvPr>
            <p:cNvGrpSpPr/>
            <p:nvPr/>
          </p:nvGrpSpPr>
          <p:grpSpPr>
            <a:xfrm>
              <a:off x="6760296" y="6234025"/>
              <a:ext cx="507594" cy="623975"/>
              <a:chOff x="3530427" y="6234025"/>
              <a:chExt cx="507594" cy="711816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CE2B9015-E66C-47BA-4015-BF6CB9A5CDF8}"/>
                  </a:ext>
                </a:extLst>
              </p:cNvPr>
              <p:cNvSpPr/>
              <p:nvPr/>
            </p:nvSpPr>
            <p:spPr>
              <a:xfrm>
                <a:off x="3530427" y="6234025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CD2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FD436059-99A6-F6C8-5043-B1829FAA3E48}"/>
                  </a:ext>
                </a:extLst>
              </p:cNvPr>
              <p:cNvSpPr/>
              <p:nvPr/>
            </p:nvSpPr>
            <p:spPr>
              <a:xfrm>
                <a:off x="3546089" y="6376988"/>
                <a:ext cx="49193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5A14301C-F529-10B8-499F-C5BF99740716}"/>
                  </a:ext>
                </a:extLst>
              </p:cNvPr>
              <p:cNvSpPr/>
              <p:nvPr/>
            </p:nvSpPr>
            <p:spPr>
              <a:xfrm>
                <a:off x="3530428" y="6802878"/>
                <a:ext cx="276782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CD2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사각형: 둥근 모서리 57">
                <a:extLst>
                  <a:ext uri="{FF2B5EF4-FFF2-40B4-BE49-F238E27FC236}">
                    <a16:creationId xmlns:a16="http://schemas.microsoft.com/office/drawing/2014/main" id="{152499FF-2B35-6E3D-F632-5224FD446922}"/>
                  </a:ext>
                </a:extLst>
              </p:cNvPr>
              <p:cNvSpPr/>
              <p:nvPr/>
            </p:nvSpPr>
            <p:spPr>
              <a:xfrm>
                <a:off x="3602830" y="6661415"/>
                <a:ext cx="328571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7853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9F3C8D45-67C8-B9C6-0904-62E440BF1D28}"/>
                  </a:ext>
                </a:extLst>
              </p:cNvPr>
              <p:cNvSpPr/>
              <p:nvPr/>
            </p:nvSpPr>
            <p:spPr>
              <a:xfrm>
                <a:off x="3530427" y="6519202"/>
                <a:ext cx="422448" cy="142963"/>
              </a:xfrm>
              <a:prstGeom prst="roundRect">
                <a:avLst>
                  <a:gd name="adj" fmla="val 50000"/>
                </a:avLst>
              </a:prstGeom>
              <a:solidFill>
                <a:srgbClr val="FCD2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5B90B56-85DF-5BFF-D123-1502EA88FF37}"/>
                </a:ext>
              </a:extLst>
            </p:cNvPr>
            <p:cNvSpPr/>
            <p:nvPr/>
          </p:nvSpPr>
          <p:spPr>
            <a:xfrm>
              <a:off x="4592562" y="4945857"/>
              <a:ext cx="1506690" cy="6049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spc="-80" dirty="0">
                  <a:solidFill>
                    <a:schemeClr val="tx1"/>
                  </a:solidFill>
                  <a:latin typeface="페이퍼로지 7 Bold" pitchFamily="2" charset="-127"/>
                  <a:ea typeface="페이퍼로지 7 Bold" pitchFamily="2" charset="-127"/>
                </a:rPr>
                <a:t>VISION</a:t>
              </a:r>
              <a:endParaRPr lang="ko-KR" altLang="en-US" sz="2400" spc="-8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5237CF39-0639-78D9-5F9F-635274172D26}"/>
                </a:ext>
              </a:extLst>
            </p:cNvPr>
            <p:cNvSpPr/>
            <p:nvPr/>
          </p:nvSpPr>
          <p:spPr>
            <a:xfrm>
              <a:off x="3807209" y="5590074"/>
              <a:ext cx="3077396" cy="2409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rgbClr val="9A8B80"/>
                  </a:solidFill>
                  <a:latin typeface="페이퍼로지 4 Regular" pitchFamily="2" charset="-127"/>
                  <a:ea typeface="페이퍼로지 4 Regular" pitchFamily="2" charset="-127"/>
                </a:rPr>
                <a:t>DEEP-DISH </a:t>
              </a:r>
              <a:r>
                <a:rPr lang="ko-KR" altLang="en-US" sz="1400" spc="-80" dirty="0">
                  <a:solidFill>
                    <a:srgbClr val="9A8B80"/>
                  </a:solidFill>
                  <a:latin typeface="페이퍼로지 4 Regular" pitchFamily="2" charset="-127"/>
                  <a:ea typeface="페이퍼로지 4 Regular" pitchFamily="2" charset="-127"/>
                </a:rPr>
                <a:t>시스템 발전 로드맵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A4F1D4E-2D38-7976-98D3-A18357D70AF1}"/>
                </a:ext>
              </a:extLst>
            </p:cNvPr>
            <p:cNvSpPr/>
            <p:nvPr/>
          </p:nvSpPr>
          <p:spPr>
            <a:xfrm>
              <a:off x="2671408" y="6117388"/>
              <a:ext cx="974487" cy="847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데이터 파이프라인 확장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9C685AEC-701A-DEEE-160A-E9E2F2653CEB}"/>
                </a:ext>
              </a:extLst>
            </p:cNvPr>
            <p:cNvSpPr/>
            <p:nvPr/>
          </p:nvSpPr>
          <p:spPr>
            <a:xfrm>
              <a:off x="3781686" y="6117388"/>
              <a:ext cx="974487" cy="847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예측 분석 </a:t>
              </a:r>
              <a:endParaRPr lang="en-US" altLang="ko-KR" sz="14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심화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F7002AF-77F8-B869-C4A2-75B8BF580F1F}"/>
                </a:ext>
              </a:extLst>
            </p:cNvPr>
            <p:cNvSpPr/>
            <p:nvPr/>
          </p:nvSpPr>
          <p:spPr>
            <a:xfrm>
              <a:off x="4860342" y="6117388"/>
              <a:ext cx="974487" cy="847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NLP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기반 </a:t>
              </a:r>
              <a:endParaRPr lang="en-US" altLang="ko-KR" sz="1400" spc="-80" dirty="0">
                <a:solidFill>
                  <a:srgbClr val="2A2A2A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통찰력 강화</a:t>
              </a: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54D49848-F44D-DD3F-C516-79E3B0F5261F}"/>
                </a:ext>
              </a:extLst>
            </p:cNvPr>
            <p:cNvSpPr/>
            <p:nvPr/>
          </p:nvSpPr>
          <p:spPr>
            <a:xfrm>
              <a:off x="5955411" y="6117388"/>
              <a:ext cx="974487" cy="847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API </a:t>
              </a:r>
              <a:r>
                <a:rPr lang="ko-KR" altLang="en-US" sz="1400" spc="-80" dirty="0">
                  <a:solidFill>
                    <a:srgbClr val="2A2A2A"/>
                  </a:solidFill>
                  <a:latin typeface="페이퍼로지 4 Regular" pitchFamily="2" charset="-127"/>
                  <a:ea typeface="페이퍼로지 4 Regular" pitchFamily="2" charset="-127"/>
                </a:rPr>
                <a:t>개발 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CA208C9-1CF5-5F32-0C06-BF2F698AAFDD}"/>
                </a:ext>
              </a:extLst>
            </p:cNvPr>
            <p:cNvSpPr/>
            <p:nvPr/>
          </p:nvSpPr>
          <p:spPr>
            <a:xfrm>
              <a:off x="7042145" y="6117388"/>
              <a:ext cx="974487" cy="8471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개인화된</a:t>
              </a:r>
              <a:endParaRPr lang="en-US" altLang="ko-KR" sz="1400" spc="-80" dirty="0">
                <a:solidFill>
                  <a:schemeClr val="bg1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  <a:p>
              <a:pPr algn="ctr"/>
              <a:r>
                <a:rPr lang="ko-KR" altLang="en-US" sz="1400" spc="-80" dirty="0">
                  <a:solidFill>
                    <a:schemeClr val="bg1"/>
                  </a:solidFill>
                  <a:latin typeface="페이퍼로지 4 Regular" pitchFamily="2" charset="-127"/>
                  <a:ea typeface="페이퍼로지 4 Regular" pitchFamily="2" charset="-127"/>
                </a:rPr>
                <a:t>인사이트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6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1717-7122-DF5E-34B5-F64E8A7E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289C8E-B701-AABB-49B7-FA6CCD1480BC}"/>
              </a:ext>
            </a:extLst>
          </p:cNvPr>
          <p:cNvSpPr/>
          <p:nvPr/>
        </p:nvSpPr>
        <p:spPr>
          <a:xfrm>
            <a:off x="-11871" y="0"/>
            <a:ext cx="10703683" cy="7559675"/>
          </a:xfrm>
          <a:prstGeom prst="rect">
            <a:avLst/>
          </a:prstGeom>
          <a:solidFill>
            <a:srgbClr val="F785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ko-KR" sz="72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7D8E4-25E5-DC46-8E0C-C2FCBB4BD05A}"/>
              </a:ext>
            </a:extLst>
          </p:cNvPr>
          <p:cNvSpPr/>
          <p:nvPr/>
        </p:nvSpPr>
        <p:spPr>
          <a:xfrm>
            <a:off x="2525678" y="2906746"/>
            <a:ext cx="5642043" cy="1673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0">
                <a:latin typeface="페이퍼로지 6 SemiBold" pitchFamily="2" charset="-127"/>
                <a:ea typeface="페이퍼로지 6 SemiBold" pitchFamily="2" charset="-127"/>
              </a:rPr>
              <a:t>감사합니다</a:t>
            </a:r>
            <a:r>
              <a:rPr lang="en-US" altLang="ko-KR" sz="8000">
                <a:latin typeface="페이퍼로지 6 SemiBold" pitchFamily="2" charset="-127"/>
                <a:ea typeface="페이퍼로지 6 SemiBold" pitchFamily="2" charset="-127"/>
              </a:rPr>
              <a:t>.</a:t>
            </a:r>
            <a:endParaRPr lang="en-US" altLang="ko-KR" sz="80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775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5|1.4|1.2|1|2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.1|1.3|2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3362</TotalTime>
  <Words>3076</Words>
  <Application>Microsoft Office PowerPoint</Application>
  <PresentationFormat>사용자 지정</PresentationFormat>
  <Paragraphs>840</Paragraphs>
  <Slides>46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맑은 고딕</vt:lpstr>
      <vt:lpstr>페이퍼로지 4 Regular</vt:lpstr>
      <vt:lpstr>페이퍼로지 5 Medium</vt:lpstr>
      <vt:lpstr>페이퍼로지 6 SemiBold</vt:lpstr>
      <vt:lpstr>페이퍼로지 7 Bold</vt:lpstr>
      <vt:lpstr>페이퍼로지 9 Black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미 성</dc:creator>
  <cp:lastModifiedBy>Admin</cp:lastModifiedBy>
  <cp:revision>312</cp:revision>
  <dcterms:created xsi:type="dcterms:W3CDTF">2025-07-05T12:58:14Z</dcterms:created>
  <dcterms:modified xsi:type="dcterms:W3CDTF">2025-07-28T05:16:05Z</dcterms:modified>
</cp:coreProperties>
</file>